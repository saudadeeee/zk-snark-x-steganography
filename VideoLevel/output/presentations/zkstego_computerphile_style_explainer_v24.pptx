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3" r:id="rId24"/>
    <p:sldId id="268" r:id="rId14"/>
    <p:sldId id="269" r:id="rId15"/>
    <p:sldId id="270" r:id="rId16"/>
    <p:sldId id="274" r:id="rId25"/>
    <p:sldId id="271"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  <Relationship Id="rId24" Type="http://schemas.openxmlformats.org/officeDocument/2006/relationships/slide" Target="slides/slide18.xml"/>
  <Relationship Id="rId25" Type="http://schemas.openxmlformats.org/officeDocument/2006/relationships/slide" Target="slides/slide1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1 (Bức tranh tổng thể); README.md (How it works, Status).</a:t>
            </a:r>
          </a:p>
          <a:p>
            <a:endParaRPr/>
          </a:p>
          <a:p>
            <a:r>
              <a:t>THUẬT NGỮ VÀ Ý NGHĨA</a:t>
            </a:r>
          </a:p>
          <a:p>
            <a:r>
              <a:t>ZK-SNARK là proof ngắn cho phép kiểm chứng một mệnh đề mà không lộ witness; hệ thống dùng Groth16 trên BN254. Video steganography là giấu dữ liệu trong video. H.264 là chuẩn nén video; CAVLC là entropy coding của profile Baseline, nơi native tìm kênh nhúng.</a:t>
            </a:r>
          </a:p>
          <a:p>
            <a:endParaRPr/>
          </a:p>
          <a:p>
            <a:r>
              <a:t>ẢNH HƯỞNG TỚI HỆ THỐNG</a:t>
            </a:r>
          </a:p>
          <a:p>
            <a:r>
              <a:t>Deck đi theo đúng đường dữ liệu của mã nguồn hiện tại: digest video + message → proof camera Groth16 → payload → khung kênh v3 (không MAC) → lật dấu trailing-one trong IDR theo lịch có khóa → trích mù → tính lại digest → verify Groth16 với root sổ đăng ký camera. Chỉ còn một lõi media là native C++; nhánh Python cũ đã gỡ ngày 03/10/2026.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1 (bức tranh tổng thể), mục 10 (proof camera) và mục 11 (luồng đầu-cuối); README.md (How it works); src/camera_proof.py (build_payload, verify_payload); src/native_blind_contract.py.</a:t>
            </a:r>
          </a:p>
          <a:p>
            <a:endParaRPr/>
          </a:p>
          <a:p>
            <a:r>
              <a:t>THUẬT NGỮ VÀ Ý NGHĨA</a:t>
            </a:r>
          </a:p>
          <a:p>
            <a:r>
              <a:t>Camera proof (src/camera_proof.py, src/zk_proof.py, circuits/camera_video.circom): camera giữ secret s, khóa công khai pk = Poseidon(s) nằm trong sổ đăng ký Merkle; proof Groth16 nén còn 129 byte. Digest = SHA-256 trên RBSP của mọi NAL, chỉ xóa các bit dấu carrier theo khóa giấu tin; binding = SHA256(domain ‖ mode ‖ digest ‖ SHA256(message)). Payload = [0x01][mode][len 2B][message][proof 129B]. Khung kênh v3 = [0x03][len 2B][payload], không MAC, được làm trắng bằng keystream. Trích mù = đọc lại không cần video gốc.</a:t>
            </a:r>
          </a:p>
          <a:p>
            <a:endParaRPr/>
          </a:p>
          <a:p>
            <a:r>
              <a:t>ẢNH HƯỞNG TỚI HỆ THỐNG</a:t>
            </a:r>
          </a:p>
          <a:p>
            <a:r>
              <a:t>Proof được tạo trước khi nhúng, trên digest của cover; vì nhúng chỉ đổi bit carrier nên digest của stego bằng digest của cover. Bên nhận không cần secret camera: trích payload bằng khóa giấu tin, tính lại digest của file nhận được rồi verify Groth16 với root tin cậy. Ba lớp tách biệt: media (stream hợp lệ), kênh giấu tin (khóa chọn vị trí, không tự xác thực), proof (lớp duy nhất xác thực payload).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5 và mục 7.3 (tác động lên ảnh).</a:t>
            </a:r>
          </a:p>
          <a:p>
            <a:endParaRPr/>
          </a:p>
          <a:p>
            <a:r>
              <a:t>THUẬT NGỮ VÀ Ý NGHĨA</a:t>
            </a:r>
          </a:p>
          <a:p>
            <a:r>
              <a:t>Cover video là video H.264 gốc dùng làm vật mang. Bitstream là chuỗi bit mã hóa của video. Residual là phần sai khác sau dự đoán; coefficient là giá trị sau biến đổi và lượng tử hóa. Trailing-one là hệ số ±1 ở cuối thứ tự quét.</a:t>
            </a:r>
          </a:p>
          <a:p>
            <a:endParaRPr/>
          </a:p>
          <a:p>
            <a:r>
              <a:t>ẢNH HƯỞNG TỚI HỆ THỐNG</a:t>
            </a:r>
          </a:p>
          <a:p>
            <a:r>
              <a:t>Hệ thống không sửa pixel mà lật dấu một số trailing-one. Mỗi lần lật đổi hệ số ±1 thành ∓1, tạo sai khác nhỏ có thể lan qua dự đoán intra và deblocking; demo đo PSNR Y/U/V và in bản đồ |ΔY| để quan sát, không dùng làm cổng chặn.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2.1 (lệnh FFmpeg) và mục 17; native/src/cavlc_stream.cpp (kiểm tra SPS/PPS/slice); demo/README.md.</a:t>
            </a:r>
          </a:p>
          <a:p>
            <a:endParaRPr/>
          </a:p>
          <a:p>
            <a:r>
              <a:t>THUẬT NGỮ VÀ Ý NGHĨA</a:t>
            </a:r>
          </a:p>
          <a:p>
            <a:r>
              <a:t>Annex-B là chuỗi NAL thô có start code. MP4, MOV, MKV là container, phải xuất ra Annex-B trước. Demo encode bằng libx264 -profile:v baseline, cabac=0, slices=1, -bf 0. Parser chỉ nhận entropy CAVLC (entropy_coding_mode_flag = 0), progressive, 4:2:0, một slice/frame bắt đầu ở MB 0, không I_PCM.</a:t>
            </a:r>
          </a:p>
          <a:p>
            <a:endParaRPr/>
          </a:p>
          <a:p>
            <a:r>
              <a:t>ẢNH HƯỞNG TỚI HỆ THỐNG</a:t>
            </a:r>
          </a:p>
          <a:p>
            <a:r>
              <a:t>Sai định dạng thì parser từ chối thay vì đọc lệch. CABAC không có bit dấu độc lập như CAVLC nên nằm ngoài phạm vi. P-frame vẫn được chấp nhận trong GOP &gt; 1 nhưng không mang dữ liệu; chỉ IDR có ứng viên.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3 (start code, NAL header, EBSP/RBSP, slice header). Dải hex trên slide là ví dụ giải thích; demo in bảng NAL thật của source.h264.</a:t>
            </a:r>
          </a:p>
          <a:p>
            <a:endParaRPr/>
          </a:p>
          <a:p>
            <a:r>
              <a:t>THUẬT NGỮ VÀ Ý NGHĨA</a:t>
            </a:r>
          </a:p>
          <a:p>
            <a:r>
              <a:t>Start code 00 00 01 hoặc 00 00 00 01 đánh dấu NAL mới. NAL header gồm forbidden bit, nal_ref_idc và nal_unit_type; 0x65 là IDR (type 5). EBSP là payload có emulation-prevention byte 0x03, RBSP là bản đã bỏ các byte đó; mọi offset bit của parser tính trên RBSP.</a:t>
            </a:r>
          </a:p>
          <a:p>
            <a:endParaRPr/>
          </a:p>
          <a:p>
            <a:r>
              <a:t>ẢNH HƯỞNG TỚI HỆ THỐNG</a:t>
            </a:r>
          </a:p>
          <a:p>
            <a:r>
              <a:t>Native phải tách đúng NAL và slice header trước khi tới residual. Header không bao giờ là vị trí nhúng. Demo đối chiếu vị trí bắt đầu slice data của native với trace_headers của FFmpeg.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4 (slice, macroblock, block). Minh họa là hình giải thích, không phải ảnh hệ thống thật.</a:t>
            </a:r>
          </a:p>
          <a:p>
            <a:endParaRPr/>
          </a:p>
          <a:p>
            <a:r>
              <a:t>THUẬT NGỮ VÀ Ý NGHĨA</a:t>
            </a:r>
          </a:p>
          <a:p>
            <a:r>
              <a:t>IDR frame là ảnh giải mã tức thời, không tham chiếu ảnh trước. Macroblock 16×16 là đơn vị mã hóa. Residual được chia thành các loại block LumaDC, Luma4x4, ChromaDC, ChromaAC; mỗi block là một tập coefficient.</a:t>
            </a:r>
          </a:p>
          <a:p>
            <a:endParaRPr/>
          </a:p>
          <a:p>
            <a:r>
              <a:t>ẢNH HƯỞNG TỚI HỆ THỐNG</a:t>
            </a:r>
          </a:p>
          <a:p>
            <a:r>
              <a:t>Dung lượng không tỉ lệ với thời lượng video mà bằng số block có trailing-one trong các IDR. Ví dụ clip demo 8 frame CIF, QP 22, GOP 1 có 3 660 ứng viên. Số này đo được bằng zkstego_inspect --segments.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4.2 và mục 5 (Intra4x4/Intra16x16, biến đổi, lượng tử). Minh họa là hình giải thích.</a:t>
            </a:r>
          </a:p>
          <a:p>
            <a:endParaRPr/>
          </a:p>
          <a:p>
            <a:r>
              <a:t>THUẬT NGỮ VÀ Ý NGHĨA</a:t>
            </a:r>
          </a:p>
          <a:p>
            <a:r>
              <a:t>Intra prediction ước lượng block từ mẫu lân cận đã tái tạo. Biến đổi nguyên 4×4 đưa residual sang coefficient; lượng tử hóa làm nhiều coefficient về 0. CAVLC nén các coefficient còn lại với bảng chọn theo ngữ cảnh nC.</a:t>
            </a:r>
          </a:p>
          <a:p>
            <a:endParaRPr/>
          </a:p>
          <a:p>
            <a:r>
              <a:t>ẢNH HƯỞNG TỚI HỆ THỐNG</a:t>
            </a:r>
          </a:p>
          <a:p>
            <a:r>
              <a:t>Native không đụng tới mode dự đoán, CBP hay QP. Nó chỉ lật bit dấu, nên mọi trường cú pháp khác giữ nguyên và decoder vẫn đi đúng cấu trúc của macroblock.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5.5 (ví dụ thật đi hết một khối). Minh họa pixel-to-coeff do AI tạo để giải thích trực quan.</a:t>
            </a:r>
          </a:p>
          <a:p>
            <a:endParaRPr/>
          </a:p>
          <a:p>
            <a:r>
              <a:t>THUẬT NGỮ VÀ Ý NGHĨA</a:t>
            </a:r>
          </a:p>
          <a:p>
            <a:r>
              <a:t>Pixel là giá trị hiển thị. Prediction tạo bản ước lượng. Residual = gốc − dự đoán. Coefficient 4×4 là residual sau biến đổi và lượng tử. CAVLC mã hóa các coefficient khác 0.</a:t>
            </a:r>
          </a:p>
          <a:p>
            <a:endParaRPr/>
          </a:p>
          <a:p>
            <a:r>
              <a:t>ẢNH HƯỞNG TỚI HỆ THỐNG</a:t>
            </a:r>
          </a:p>
          <a:p>
            <a:r>
              <a:t>Payload không chạm vào pixel. Ví dụ thật trong demo: hệ số −1 đổi thành +1 làm residual một hàng đổi từ [1,2,4,5] thành [5,4,2,1]; demo kiểm từng mẫu khớp ảnh FFmpeg -skip_loop_filter 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native/include/zkstego/cavlc_stream.hpp và native/src/cavlc_stream.cpp: decode_baseline_i_idr_slice, collect_cavlc_trailing_one_sign_candidates, select_keyed_cavlc_sign_candidates; native/tools/inspect.cpp (zkstego_inspect); doc/he_thong_hoat_dong.md, mục 11.3.</a:t>
            </a:r>
          </a:p>
          <a:p>
            <a:endParaRPr/>
          </a:p>
          <a:p>
            <a:r>
              <a:t>THUẬT NGỮ VÀ Ý NGHĨA</a:t>
            </a:r>
          </a:p>
          <a:p>
            <a:r>
              <a:t>Parse tách NAL, bỏ EPB và đọc slice. Decode đọc coeff_token, dấu, level, total_zeros, run_before. Record lưu một ứng viên mỗi block với định danh nal:mb:cat:blk:bitoff. Patch lật đúng bit dấu được lịch chọn. zkstego_inspect xuất JSON NAL/slice/ứng viên; --summary, --macroblock NAL MB và --segments MAX_BITS để soi chi tiết.</a:t>
            </a:r>
          </a:p>
          <a:p>
            <a:endParaRPr/>
          </a:p>
          <a:p>
            <a:r>
              <a:t>ẢNH HƯỞNG TỚI HỆ THỐNG</a:t>
            </a:r>
          </a:p>
          <a:p>
            <a:r>
              <a:t>Offset được ghi ngay lúc decode nên writer sửa đúng bit, không đoán lại. Vì lật dấu không đổi cấu trúc, bên nhận parse stego cũng ra đúng danh sách ứng viên đó: đây là nền tảng của trích mù.</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6 (mã hóa entropy CAVLC, ví dụ bit 34640). Minh họa cavlc-ribbon do AI tạo để giải thích trực quan.</a:t>
            </a:r>
          </a:p>
          <a:p>
            <a:endParaRPr/>
          </a:p>
          <a:p>
            <a:r>
              <a:t>THUẬT NGỮ VÀ Ý NGHĨA</a:t>
            </a:r>
          </a:p>
          <a:p>
            <a:r>
              <a:t>coeff_token mã hóa (TotalCoeff, TrailingOnes). trailing_ones_sign_flag: 0 → +1, 1 → −1, tối đa ba cờ mỗi block. level là các coefficient còn lại. total_zeros là số 0 trước hệ số cuối; run_before phân bổ các số 0 đó.</a:t>
            </a:r>
          </a:p>
          <a:p>
            <a:endParaRPr/>
          </a:p>
          <a:p>
            <a:r>
              <a:t>ẢNH HƯỞNG TỚI HỆ THỐNG</a:t>
            </a:r>
          </a:p>
          <a:p>
            <a:r>
              <a:t>Chỉ cờ dấu T1 là 1 bit cố định, đổi giá trị không đổi độ dài. Native dùng cờ dấu của trailing-one đầu tiên trong mỗi block làm ứng viên duy nhất của block đó.</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7 (kênh nhúng) và mục 8 (lịch có khóa); native: collect_cavlc_trailing_one_sign_candidates, score_keyed_cavlc_sign_candidate, select_keyed_cavlc_sign_candidates; src/native_blind_contract.py (segment_schedule).</a:t>
            </a:r>
          </a:p>
          <a:p>
            <a:endParaRPr/>
          </a:p>
          <a:p>
            <a:r>
              <a:t>THUẬT NGỮ VÀ Ý NGHĨA</a:t>
            </a:r>
          </a:p>
          <a:p>
            <a:r>
              <a:t>Ứng viên = dấu trailing-one đầu tiên của mọi block LumaDC, Luma4x4, ChromaDC, ChromaAC trong slice IDR. score = HMAC-SHA256(schedule_key, "nal:mb:cat:blk:bitoff"); sắp xếp tăng dần theo (score, định danh); mỗi đoạn SPS+PPS+IDR mang tối đa max-bits-per-IDR bit (mặc định 64).</a:t>
            </a:r>
          </a:p>
          <a:p>
            <a:endParaRPr/>
          </a:p>
          <a:p>
            <a:r>
              <a:t>ẢNH HƯỞNG TỚI HỆ THỐNG</a:t>
            </a:r>
          </a:p>
          <a:p>
            <a:r>
              <a:t>Không có bộ lọc vị trí hay quality gate: lật dấu an toàn theo cấu tạo vì độ dài mã, TotalCoeff, TrailingOnes, nC và mọi cú pháp sau giữ nguyên. Tính decode được xác nhận bằng strict decode FFmpeg trong test và demo. Bên nhận phải dùng cùng khóa giấu tin và cùng max-bits-per-IDR, nếu không lịch lệch.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6 (ví dụ bit nhúng), mục 8 (bit nhúng 0 → dấu +, 1 → dấu −) và mục 9.1 (làm trắng). Minh họa là hình giải thích.</a:t>
            </a:r>
          </a:p>
          <a:p>
            <a:endParaRPr/>
          </a:p>
          <a:p>
            <a:r>
              <a:t>THUẬT NGỮ VÀ Ý NGHĨA</a:t>
            </a:r>
          </a:p>
          <a:p>
            <a:r>
              <a:t>Cờ dấu: 0 = +1, 1 = −1. Bit khung f_i là bit thứ i của khung kênh v3 (MSB trước). Bit keystream k_i lấy từ HMAC(whitening_key, bộ đếm). Bit nhúng e_i = f_i XOR k_i được ghi vào ứng viên có thứ hạng i trong lịch.</a:t>
            </a:r>
          </a:p>
          <a:p>
            <a:endParaRPr/>
          </a:p>
          <a:p>
            <a:r>
              <a:t>ẢNH HƯỞNG TỚI HỆ THỐNG</a:t>
            </a:r>
          </a:p>
          <a:p>
            <a:r>
              <a:t>Hình minh họa e_i = 0: dấu đích là +, nên −1 đổi thành +1 (cờ 1 → 0). Nếu dấu hiện tại đã đúng thì không lật. Magnitude luôn giữ nguyên. Embed và extract dùng cùng quy ước, cùng keystream, nếu không payload sai dù video vẫn decode.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3.2 (EBSP/RBSP) và mục 16 (kiểm thử); native/src/cavlc_stream.cpp (writer theo đoạn); src/runtest/test_native_cli_fixture.py; demo/terminal_demo.py. Minh họa là hình giải thích.</a:t>
            </a:r>
          </a:p>
          <a:p>
            <a:endParaRPr/>
          </a:p>
          <a:p>
            <a:r>
              <a:t>THUẬT NGỮ VÀ Ý NGHĨA</a:t>
            </a:r>
          </a:p>
          <a:p>
            <a:r>
              <a:t>Writer lật bit tại offset RBSP đã ghi rồi đóng gói lại NAL, tính lại emulation-prevention byte. Strict decode là giải mã FFmpeg với kiểm lỗi chặt. PSNR là chỉ số đo sai khác giữa source.h264 và stego.h264.</a:t>
            </a:r>
          </a:p>
          <a:p>
            <a:endParaRPr/>
          </a:p>
          <a:p>
            <a:r>
              <a:t>ẢNH HƯỞNG TỚI HỆ THỐNG</a:t>
            </a:r>
          </a:p>
          <a:p>
            <a:r>
              <a:t>Đường nhúng không có quality gate. Bằng chứng đúng đắn đến từ test và demo: strict decode, trích mù ra đúng payload, sai khóa bị từ chối, output CLI trùng từng byte với job HTTP. PSNR chỉ được đo và in ra, không quyết định nhận hay loại.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9.2 (trích xuất mù và thông báo lỗi) và mục 11.2 (nhận); README.md (Native CLI); zkstego_blind_bits extract-stream-auth. Minh họa là hình giải thích.</a:t>
            </a:r>
          </a:p>
          <a:p>
            <a:endParaRPr/>
          </a:p>
          <a:p>
            <a:r>
              <a:t>THUẬT NGỮ VÀ Ý NGHĨA</a:t>
            </a:r>
          </a:p>
          <a:p>
            <a:r>
              <a:t>Trích mù: bên nhận không cần video gốc hay file phụ. Các bước: parse IDR, liệt kê ứng viên, sinh lại khóa con và lịch từ khóa giấu tin, đọc bit, bỏ làm trắng 24 bit đầu để kiểm version 0x03 và độ dài, đọc đủ khung và bỏ làm trắng → payload.</a:t>
            </a:r>
          </a:p>
          <a:p>
            <a:endParaRPr/>
          </a:p>
          <a:p>
            <a:r>
              <a:t>ẢNH HƯỞNG TỚI HỆ THỐNG</a:t>
            </a:r>
          </a:p>
          <a:p>
            <a:r>
              <a:t>Mọi lỗi (version sai, độ dài vượt giới hạn, thiếu dung lượng, hết video) thoát mã 2 và không trả payload. Khóa sai lọt qua cả version lẫn độ dài với xác suất cỡ 1/256 × giới hạn/65 536; phần còn sót bị Groth16 từ chối. Payload tìm được chưa được xác thực ("verified": false) cho tới khi job verify chạy Groth16. Khóa chỉ đi qua stdin, không qua tham số dòng lệnh.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10 (10.1–10.6: sổ đăng ký, binding, mạch, payload, Groth16, phạm vi); circuits/camera_video.circom; src/camera_proof.py (build_payload, verify_payload); src/zk_proof.py (CameraProofBridge, bytes_to_proof, pack_payload); src/zk_setup.py; benchmark/NEW_BENCHMARKS.md (Recorded run). Minh họa là hình giải thích.</a:t>
            </a:r>
          </a:p>
          <a:p>
            <a:endParaRPr/>
          </a:p>
          <a:p>
            <a:r>
              <a:t>THUẬT NGỮ VÀ Ý NGHĨA</a:t>
            </a:r>
          </a:p>
          <a:p>
            <a:r>
              <a:t>Mạch camera_video.circom: private = secret s, siblings[16], pathIndices[16]; public = root, bindingHi, bindingLo. Ràng buộc pk = Poseidon(s), đường Merkle từ pk tới root, bindingHi/bindingLo được bình phương để nằm trong R1CS; 8 737 constraint, 3 public input. binding = SHA256("zkstego/proof-binding/v1" ‖ mode ‖ digest ‖ SHA256(message)), tách thành hai nửa 128 bit. Payload = [0x01][mode][len 2B][message][proof 129B]; message 68 byte → payload 201 byte → 1 632 bit khung → 26 IDR. snarkjs groth16 verify chỉ được chấp nhận khi exit 0 và in OK!. Setup: py -3.12 -m src.zk_setup (Phase 1 Hermez công khai, 2 lượt đóng góp Phase 2 + beacon cục bộ).</a:t>
            </a:r>
          </a:p>
          <a:p>
            <a:endParaRPr/>
          </a:p>
          <a:p>
            <a:r>
              <a:t>ẢNH HƯỞNG TỚI HỆ THỐNG</a:t>
            </a:r>
          </a:p>
          <a:p>
            <a:r>
              <a:t>Verify bắt buộc: proof hỏng hoặc sai → không trả message. Verifier cần khóa giấu tin (để trích và định vị carrier), root sổ đăng ký và verification key; không cần secret camera và không biết camera nào. Đo 04/10/2026: Groth16 prove 1.5–1.8 s (mạch SHA-256 cũ 3.5–4.4 s), verify 0.9–1.0 s, E2E verify kể cả digest stego 1.45 s; PLONK trên cùng mạch prove ~22 s. Giới hạn: Phase 2 là nghi thức demo trên một máy; proof không chứng minh camera thật sự quay cảnh đó.</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12 (dịch vụ HTTP/WebSocket); README.md (HTTP / WebSocket service); src/api/native_handlers.py (make_proof_verify_handler, create_native_app); src/api/app.py.</a:t>
            </a:r>
          </a:p>
          <a:p>
            <a:endParaRPr/>
          </a:p>
          <a:p>
            <a:r>
              <a:t>THUẬT NGỮ VÀ Ý NGHĨA</a:t>
            </a:r>
          </a:p>
          <a:p>
            <a:r>
              <a:t>Job HTTP: POST /api/v1/jobs/embed, /extract, /verify; trạng thái queued, running, succeeded, rejected, failed; artifact tải một lần, hết hạn sau 10 phút. Job verify: trích mù → unpack → digest của file tải lên → Groth16 verify với root của ZK_STEGO_CAMERA_REGISTRY; succeeded kèm message và video_bound chỉ khi proof đúng, ngược lại rejected (payload_not_found, malformed_proof_payload, video_binding_required, video_digest_unavailable, proof_invalid); thiếu sổ đăng ký, khóa hoặc Node.js → failed. Job extract và payload live mang "verified": false. WebSocket /api/v1/stream nhận chunk Annex-B và dùng cùng giao thức theo đoạn IDR.</a:t>
            </a:r>
          </a:p>
          <a:p>
            <a:endParaRPr/>
          </a:p>
          <a:p>
            <a:r>
              <a:t>ẢNH HƯỞNG TỚI HỆ THỐNG</a:t>
            </a:r>
          </a:p>
          <a:p>
            <a:r>
              <a:t>Bearer token bắt buộc, tối thiểu 32 ký tự, kiểm trước khi đọc body; 10 lần sai/60 s → 429. Hàng đợi có giới hạn, native gọi không qua shell, có timeout, khóa đi qua stdin. Native vẫn không gọi prover trong vòng lặp camera: proof tạo trước. Luồng live chỉ gắn được message (mode 1) nên job verify từ chối trừ khi đặt ZK_STEGO_ALLOW_MESSAGE_ONLY_PROOFS=1.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README.md (Status, Known limits); doc/he_thong_hoat_dong.md, mục 16 (kiểm thử) và mục 17 (giới hạn); benchmark/NEW_BENCHMARKS.md (Recorded run 04/10/2026); doc/completion_plan.md; future_plan.md.</a:t>
            </a:r>
          </a:p>
          <a:p>
            <a:endParaRPr/>
          </a:p>
          <a:p>
            <a:r>
              <a:t>THUẬT NGỮ VÀ Ý NGHĨA</a:t>
            </a:r>
          </a:p>
          <a:p>
            <a:r>
              <a:t>Đã xác nhận: Annex-B H.264 Baseline CAVLC, IDR, một slice/frame, giao thức v3, proof camera gắn video, Groth16 bắt buộc, strict decode; run_all.py đạt 142/142 qua 12 phase ngày 04/10/2026 trên máy Windows (bằng chứng chức năng). Số đo 04/10/2026 (i7-12700H): media 27/27 (9 clip × 3 độ phân giải), E2E 5/5, tấn công 11/11; Groth16 prove 1.5–1.8 s, verify 0.9–1.0 s; PLONK prove ~22 s; proof 129 B; PSNR-Y thấp nhất mỗi ca 44.03–58.68 dB; |z| ≤ 0.22; kích thước stego bằng cover. Chưa khẳng định: CABAC, P/B làm vật mang, mọi camera/độ phân giải, realtime 30 FPS.</a:t>
            </a:r>
          </a:p>
          <a:p>
            <a:endParaRPr/>
          </a:p>
          <a:p>
            <a:r>
              <a:t>ẢNH HƯỞNG TỚI HỆ THỐNG</a:t>
            </a:r>
          </a:p>
          <a:p>
            <a:r>
              <a:t>Realtime chưa đạt: E2E camera thật đo 7.608 FPS so với cổng 30 FPS, là số đo giao thức v1 trước bản tăng tốc native 02/10/2026 và chưa đo lại; chưa có kết quả trên thiết bị edge. Giới hạn còn mở: luồng live chỉ gắn message; Phase 2 là nghi thức demo trên một máy (Phase 1 Hermez công khai, 2 lượt đóng góp + beacon cục bộ); proof không chứng minh camera quay cảnh thật; digest phụ thuộc khóa giấu tin. Chi phí chính là parse IDR (video-digest đọc lại 26 IDR carrier), không phải Groth16.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8 (HKDF, lịch có khóa) và mục 9.1 (khung v3, vì sao bỏ thẻ HMAC); src/native_blind_contract.py (derive_channel_keys, pack_frame, unpack_frame, whiten_frame); native/src/cavlc_stream.cpp.</a:t>
            </a:r>
          </a:p>
          <a:p>
            <a:endParaRPr/>
          </a:p>
          <a:p>
            <a:r>
              <a:t>THUẬT NGỮ VÀ Ý NGHĨA</a:t>
            </a:r>
          </a:p>
          <a:p>
            <a:r>
              <a:t>HKDF-SHA256 (RFC 5869): PRK = HMAC-SHA256("zkstego-cavlc-v2-salt", khóa giấu tin); schedule_key và whitening_key là HKDF-Expand với nhãn zkstego/cavlc/v2/schedule và zkstego/cavlc/v2/whitening (nhãn giữ nguyên nên lịch và dòng làm trắng không đổi). Khung v3 = [version 0x03][len 2B big-endian][payload], không có MAC. Làm trắng: e_i = f_i XOR k_i với k = HMAC(whitening_key, bộ đếm).</a:t>
            </a:r>
          </a:p>
          <a:p>
            <a:endParaRPr/>
          </a:p>
          <a:p>
            <a:r>
              <a:t>ẢNH HƯỞNG TỚI HỆ THỐNG</a:t>
            </a:r>
          </a:p>
          <a:p>
            <a:r>
              <a:t>Bản v2 cũ mang thêm thẻ HMAC 16 byte; khi Groth16 verify đã bắt buộc thì thẻ này trùng việc (sửa message → proof sai, sửa proof → proof không hợp lệ), nên v3 bỏ nó và tiết kiệm 128 bit (2 IDR ở 64 bit/IDR). Sai khóa → byte version sau khi bỏ làm trắng gần như ngẫu nhiên → từ chối ngay ở bước kiểm version/độ dài. Kênh không còn tự phát hiện bit payload bị sửa: việc đó thuộc về Groth16, nên extract trả "verified": false. Lộ một khóa con không lộ khóa giấu tin hay khóa con còn lại. v3 không đọc được stego v2 và ngược lại.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a:t>
            </a:r>
          </a:p>
          <a:p>
            <a:r>
              <a:t>doc/he_thong_hoat_dong.md, mục 10.1 (sổ đăng ký camera), mục 10.2 (hash video và binding) và mục 17; src/camera_registry.py; src/video_binding.py; zkstego_blind_bits video-digest; benchmark/NEW_BENCHMARKS.md (Recorded run, attacks); benchmark/results/e2e_new.json.</a:t>
            </a:r>
          </a:p>
          <a:p>
            <a:endParaRPr/>
          </a:p>
          <a:p>
            <a:r>
              <a:t>THUẬT NGỮ VÀ Ý NGHĨA</a:t>
            </a:r>
          </a:p>
          <a:p>
            <a:r>
              <a:t>Sổ đăng ký: cây Merkle nhị phân độ sâu 16 (tối đa 65 536 camera), nút Poseidon(trái, phải), lá trống = 0, lá i = pk_i = Poseidon(s_i); verifier chỉ tin root. Carrier: đúng các vị trí dấu mà lịch theo khóa giấu tin ghi khung vào. Digest = SHA256("zkstego/video-digest/v1" ‖ frame_bits ‖ cap ‖ với mọi NAL: độ dài ‖ header ‖ RBSP đã bỏ EPB, CHỈ các bit carrier đặt về 0). Lệnh native video-digest nhận khóa qua stdin. Replay = chép payload sang video khác.</a:t>
            </a:r>
          </a:p>
          <a:p>
            <a:endParaRPr/>
          </a:p>
          <a:p>
            <a:r>
              <a:t>ẢNH HƯỞNG TỚI HỆ THỐNG</a:t>
            </a:r>
          </a:p>
          <a:p>
            <a:r>
              <a:t>Nhúng chỉ đổi bit carrier nên digest cover = digest stego; mọi sửa khác (video khác, cắt hay thêm frame, sửa frame sau, lật dấu ngoài carrier, mã hóa lại) làm digest đổi → binding đổi → Groth16 từ chối. Lật bit carrier giữ digest nhưng đổi payload → proof hỏng hoặc sai. Ma trận 11 ca ngày 04/10/2026 đúng kỳ vọng 11/11: sai khóa, bỏ một IDR, mã hóa lại không tìm thấy khung; lật dấu carrier → malformed hoặc proof_invalid; lật dấu ngoài carrier, sửa frame sau, cắt video, đổi message, camera ngoài sổ đăng ký, replay sang video khác → proof_invalid; chỉ video gốc không sửa được chấp nhận. Mạch cũ chưa gắn video nên replay từng được chấp nhận. Giới hạn: digest phụ thuộc khóa giấu tin; luồng live chỉ gắn message (mode 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20FBC9-F815-4DDD-9404-D11134353E57}"/>
              </a:ext>
            </a:extLst>
          </p:cNvPr>
          <p:cNvSpPr>
            <a:spLocks noGrp="1"/>
          </p:cNvSpPr>
          <p:nvPr/>
        </p:nvSpPr>
        <p:spPr>
          <a:xfrm>
            <a:off x="459866" y="504062"/>
            <a:ext cx="10147174" cy="4205097"/>
          </a:xfrm>
          <a:prstGeom prst="rect">
            <a:avLst/>
          </a:prstGeom>
          <a:noFill/>
          <a:ln w="0">
            <a:noFill/>
          </a:ln>
        </p:spPr>
        <p:txBody>
          <a:bodyPr>
            <a:normAutofit fontScale="95307"/>
          </a:bodyPr>
          <a:lstStyle/>
          <a:p>
            <a:pPr>
              <a:defRPr sz="3750" b="1">
                <a:solidFill>
                  <a:srgbClr val="0B1B35"/>
                </a:solidFill>
                <a:latin typeface="Arial"/>
                <a:ea typeface="Arial"/>
                <a:cs typeface="Arial"/>
              </a:defRPr>
            </a:pPr>
            <a:r>
              <a:rPr lang="en-US" sz="4800" b="1" dirty="0">
                <a:solidFill>
                  <a:srgbClr val="0B1B35"/>
                </a:solidFill>
                <a:latin typeface="Arial"/>
                <a:ea typeface="Arial"/>
                <a:cs typeface="Arial"/>
              </a:rPr>
              <a:t>ZK-SNARK ×</a:t>
            </a:r>
          </a:p>
          <a:p>
            <a:pPr>
              <a:defRPr sz="3750" b="1">
                <a:solidFill>
                  <a:srgbClr val="0B1B35"/>
                </a:solidFill>
                <a:latin typeface="Arial"/>
                <a:ea typeface="Arial"/>
                <a:cs typeface="Arial"/>
              </a:defRPr>
            </a:pPr>
            <a:r>
              <a:rPr sz="4800" b="1" dirty="0">
                <a:solidFill>
                  <a:srgbClr val="0B1B35"/>
                </a:solidFill>
                <a:latin typeface="Arial"/>
                <a:ea typeface="Arial"/>
                <a:cs typeface="Arial"/>
              </a:rPr>
              <a:t>Video Steganography</a:t>
            </a:r>
          </a:p>
        </p:txBody>
      </p:sp>
    </p:spTree>
    <p:extLst>
      <p:ext uri="{BB962C8B-B14F-4D97-AF65-F5344CB8AC3E}">
        <p14:creationId xmlns:p14="http://schemas.microsoft.com/office/powerpoint/2010/main" val="236413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2DF5A579-BA4F-4204-A67C-018CE69BAE96}"/>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Sơ đồ hệ thống hiện tại</a:t>
            </a:r>
          </a:p>
        </p:txBody>
      </p:sp>
      <p:sp>
        <p:nvSpPr>
          <p:cNvPr id="2" name="Rectangle 1">
            <a:extLst>
              <a:ext uri="{FF2B5EF4-FFF2-40B4-BE49-F238E27FC236}">
                <a16:creationId xmlns:a16="http://schemas.microsoft.com/office/drawing/2014/main" id="{BA7D311E-CB64-48F2-943B-4FA4B828ED9B}"/>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Camera trong sổ đăng ký tạo proof gắn video + message, đóng vào khung v3. Native lật bit dấu theo lịch do khóa quyết định.</a:t>
            </a:r>
          </a:p>
        </p:txBody>
      </p:sp>
      <p:sp>
        <p:nvSpPr>
          <p:cNvPr id="3" name="Straight Connector 2">
            <a:extLst>
              <a:ext uri="{FF2B5EF4-FFF2-40B4-BE49-F238E27FC236}">
                <a16:creationId xmlns:a16="http://schemas.microsoft.com/office/drawing/2014/main" id="{C2677577-5813-4DFE-B6E1-C3570F5245E2}"/>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C612DE0B-F8A7-45CB-B744-23F2FE4C8C59}"/>
              </a:ext>
            </a:extLst>
          </p:cNvPr>
          <p:cNvSpPr>
            <a:spLocks noGrp="1"/>
          </p:cNvSpPr>
          <p:nvPr/>
        </p:nvSpPr>
        <p:spPr>
          <a:xfrm>
            <a:off x="400050" y="2333625"/>
            <a:ext cx="1885950" cy="1581150"/>
          </a:xfrm>
          <a:prstGeom prst="roundRect">
            <a:avLst>
              <a:gd name="adj" fmla="val 4819"/>
            </a:avLst>
          </a:prstGeom>
          <a:solidFill>
            <a:srgbClr val="FFFFFF"/>
          </a:solidFill>
          <a:ln w="19050">
            <a:solidFill>
              <a:srgbClr val="7555D9"/>
            </a:solidFill>
          </a:ln>
        </p:spPr>
        <p:txBody>
          <a:bodyPr/>
          <a:lstStyle/>
          <a:p>
            <a:endParaRPr lang="en-US"/>
          </a:p>
        </p:txBody>
      </p:sp>
      <p:sp>
        <p:nvSpPr>
          <p:cNvPr id="5" name="Rectangle 4">
            <a:extLst>
              <a:ext uri="{FF2B5EF4-FFF2-40B4-BE49-F238E27FC236}">
                <a16:creationId xmlns:a16="http://schemas.microsoft.com/office/drawing/2014/main" id="{81B39D04-834E-4432-BA43-636A75C8E44A}"/>
              </a:ext>
            </a:extLst>
          </p:cNvPr>
          <p:cNvSpPr>
            <a:spLocks noGrp="1"/>
          </p:cNvSpPr>
          <p:nvPr/>
        </p:nvSpPr>
        <p:spPr>
          <a:xfrm>
            <a:off x="400050" y="2333625"/>
            <a:ext cx="1885950" cy="95250"/>
          </a:xfrm>
          <a:prstGeom prst="rect">
            <a:avLst/>
          </a:prstGeom>
          <a:solidFill>
            <a:srgbClr val="7555D9"/>
          </a:solidFill>
          <a:ln w="0">
            <a:solidFill>
              <a:srgbClr val="7555D9"/>
            </a:solidFill>
          </a:ln>
        </p:spPr>
        <p:txBody>
          <a:bodyPr/>
          <a:lstStyle/>
          <a:p>
            <a:endParaRPr lang="en-US"/>
          </a:p>
        </p:txBody>
      </p:sp>
      <p:sp>
        <p:nvSpPr>
          <p:cNvPr id="6" name="Rectangle 5">
            <a:extLst>
              <a:ext uri="{FF2B5EF4-FFF2-40B4-BE49-F238E27FC236}">
                <a16:creationId xmlns:a16="http://schemas.microsoft.com/office/drawing/2014/main" id="{B384B09D-C449-4F7B-AA9B-5CAD7ABB8079}"/>
              </a:ext>
            </a:extLst>
          </p:cNvPr>
          <p:cNvSpPr>
            <a:spLocks noGrp="1"/>
          </p:cNvSpPr>
          <p:nvPr/>
        </p:nvSpPr>
        <p:spPr>
          <a:xfrm>
            <a:off x="552450" y="2647950"/>
            <a:ext cx="1581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1. Camera proof</a:t>
            </a:r>
          </a:p>
        </p:txBody>
      </p:sp>
      <p:sp>
        <p:nvSpPr>
          <p:cNvPr id="7" name="Rectangle 6">
            <a:extLst>
              <a:ext uri="{FF2B5EF4-FFF2-40B4-BE49-F238E27FC236}">
                <a16:creationId xmlns:a16="http://schemas.microsoft.com/office/drawing/2014/main" id="{7AB0ED5A-0A17-4932-A135-4E94385C7D0D}"/>
              </a:ext>
            </a:extLst>
          </p:cNvPr>
          <p:cNvSpPr>
            <a:spLocks noGrp="1"/>
          </p:cNvSpPr>
          <p:nvPr/>
        </p:nvSpPr>
        <p:spPr>
          <a:xfrm>
            <a:off x="552450" y="3133725"/>
            <a:ext cx="1581150" cy="457200"/>
          </a:xfrm>
          <a:prstGeom prst="rect">
            <a:avLst/>
          </a:prstGeom>
          <a:noFill/>
          <a:ln w="0">
            <a:noFill/>
          </a:ln>
        </p:spPr>
        <p:txBody>
          <a:bodyPr>
            <a:normAutofit fontScale="84211"/>
          </a:bodyPr>
          <a:lstStyle/>
          <a:p>
            <a:pPr>
              <a:defRPr sz="1425">
                <a:solidFill>
                  <a:srgbClr val="5A6780"/>
                </a:solidFill>
                <a:latin typeface="Arial"/>
                <a:ea typeface="Arial"/>
                <a:cs typeface="Arial"/>
              </a:defRPr>
            </a:pPr>
            <a:r>
              <a:rPr sz="1425">
                <a:solidFill>
                  <a:srgbClr val="5A6780"/>
                </a:solidFill>
                <a:latin typeface="Arial"/>
                <a:ea typeface="Arial"/>
                <a:cs typeface="Arial"/>
              </a:rPr>
              <a:t>digest + message</a:t>
            </a:r>
          </a:p>
          <a:p>
            <a:pPr>
              <a:defRPr sz="1425">
                <a:solidFill>
                  <a:srgbClr val="5A6780"/>
                </a:solidFill>
                <a:latin typeface="Arial"/>
                <a:ea typeface="Arial"/>
                <a:cs typeface="Arial"/>
              </a:defRPr>
            </a:pPr>
            <a:r>
              <a:rPr sz="1425">
                <a:solidFill>
                  <a:srgbClr val="5A6780"/>
                </a:solidFill>
                <a:latin typeface="Arial"/>
                <a:ea typeface="Arial"/>
                <a:cs typeface="Arial"/>
              </a:rPr>
              <a:t>→ proof 129 B</a:t>
            </a:r>
          </a:p>
        </p:txBody>
      </p:sp>
      <p:sp>
        <p:nvSpPr>
          <p:cNvPr id="8" name="Rectangle 7">
            <a:extLst>
              <a:ext uri="{FF2B5EF4-FFF2-40B4-BE49-F238E27FC236}">
                <a16:creationId xmlns:a16="http://schemas.microsoft.com/office/drawing/2014/main" id="{2CE03D12-BFBB-4018-AA7F-2DA308958626}"/>
              </a:ext>
            </a:extLst>
          </p:cNvPr>
          <p:cNvSpPr>
            <a:spLocks noGrp="1"/>
          </p:cNvSpPr>
          <p:nvPr/>
        </p:nvSpPr>
        <p:spPr>
          <a:xfrm>
            <a:off x="2295525" y="2876550"/>
            <a:ext cx="361950" cy="400050"/>
          </a:xfrm>
          <a:prstGeom prst="rect">
            <a:avLst/>
          </a:prstGeom>
          <a:noFill/>
          <a:ln w="0">
            <a:noFill/>
          </a:ln>
        </p:spPr>
        <p:txBody>
          <a:bodyPr>
            <a:normAutofit fontScale="50661"/>
          </a:bodyPr>
          <a:lstStyle/>
          <a:p>
            <a:pPr>
              <a:defRPr sz="2775" b="1">
                <a:solidFill>
                  <a:srgbClr val="7555D9"/>
                </a:solidFill>
                <a:latin typeface="Arial"/>
                <a:ea typeface="Arial"/>
                <a:cs typeface="Arial"/>
              </a:defRPr>
            </a:pPr>
            <a:r>
              <a:rPr sz="2775" b="1">
                <a:solidFill>
                  <a:srgbClr val="7555D9"/>
                </a:solidFill>
                <a:latin typeface="Arial"/>
                <a:ea typeface="Arial"/>
                <a:cs typeface="Arial"/>
              </a:rPr>
              <a:t>→</a:t>
            </a:r>
          </a:p>
        </p:txBody>
      </p:sp>
      <p:sp>
        <p:nvSpPr>
          <p:cNvPr id="9" name="Rectangle: Rounded Corners 8">
            <a:extLst>
              <a:ext uri="{FF2B5EF4-FFF2-40B4-BE49-F238E27FC236}">
                <a16:creationId xmlns:a16="http://schemas.microsoft.com/office/drawing/2014/main" id="{845B2BBD-9298-4CD4-B2B9-11F3DE280130}"/>
              </a:ext>
            </a:extLst>
          </p:cNvPr>
          <p:cNvSpPr>
            <a:spLocks noGrp="1"/>
          </p:cNvSpPr>
          <p:nvPr/>
        </p:nvSpPr>
        <p:spPr>
          <a:xfrm>
            <a:off x="2676525" y="2333625"/>
            <a:ext cx="1885950" cy="1581150"/>
          </a:xfrm>
          <a:prstGeom prst="roundRect">
            <a:avLst>
              <a:gd name="adj" fmla="val 4819"/>
            </a:avLst>
          </a:prstGeom>
          <a:solidFill>
            <a:srgbClr val="FFFFFF"/>
          </a:solidFill>
          <a:ln w="19050">
            <a:solidFill>
              <a:srgbClr val="16A4C7"/>
            </a:solidFill>
          </a:ln>
        </p:spPr>
        <p:txBody>
          <a:bodyPr/>
          <a:lstStyle/>
          <a:p>
            <a:endParaRPr lang="en-US"/>
          </a:p>
        </p:txBody>
      </p:sp>
      <p:sp>
        <p:nvSpPr>
          <p:cNvPr id="10" name="Rectangle 9">
            <a:extLst>
              <a:ext uri="{FF2B5EF4-FFF2-40B4-BE49-F238E27FC236}">
                <a16:creationId xmlns:a16="http://schemas.microsoft.com/office/drawing/2014/main" id="{2A4C2EFA-2998-4A44-9751-AB19CC2908F5}"/>
              </a:ext>
            </a:extLst>
          </p:cNvPr>
          <p:cNvSpPr>
            <a:spLocks noGrp="1"/>
          </p:cNvSpPr>
          <p:nvPr/>
        </p:nvSpPr>
        <p:spPr>
          <a:xfrm>
            <a:off x="2676525" y="2333625"/>
            <a:ext cx="1885950" cy="95250"/>
          </a:xfrm>
          <a:prstGeom prst="rect">
            <a:avLst/>
          </a:prstGeom>
          <a:solidFill>
            <a:srgbClr val="16A4C7"/>
          </a:solidFill>
          <a:ln w="0">
            <a:solidFill>
              <a:srgbClr val="16A4C7"/>
            </a:solidFill>
          </a:ln>
        </p:spPr>
        <p:txBody>
          <a:bodyPr/>
          <a:lstStyle/>
          <a:p>
            <a:endParaRPr lang="en-US"/>
          </a:p>
        </p:txBody>
      </p:sp>
      <p:sp>
        <p:nvSpPr>
          <p:cNvPr id="11" name="Rectangle 10">
            <a:extLst>
              <a:ext uri="{FF2B5EF4-FFF2-40B4-BE49-F238E27FC236}">
                <a16:creationId xmlns:a16="http://schemas.microsoft.com/office/drawing/2014/main" id="{040D57AB-1A83-4F9A-998A-CB3EA45A09A4}"/>
              </a:ext>
            </a:extLst>
          </p:cNvPr>
          <p:cNvSpPr>
            <a:spLocks noGrp="1"/>
          </p:cNvSpPr>
          <p:nvPr/>
        </p:nvSpPr>
        <p:spPr>
          <a:xfrm>
            <a:off x="2828925" y="2647950"/>
            <a:ext cx="1581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2. Khung kênh v3</a:t>
            </a:r>
          </a:p>
        </p:txBody>
      </p:sp>
      <p:sp>
        <p:nvSpPr>
          <p:cNvPr id="12" name="Rectangle 11">
            <a:extLst>
              <a:ext uri="{FF2B5EF4-FFF2-40B4-BE49-F238E27FC236}">
                <a16:creationId xmlns:a16="http://schemas.microsoft.com/office/drawing/2014/main" id="{B50F26C5-6ED9-40E3-B8F6-3CA5D2FB5139}"/>
              </a:ext>
            </a:extLst>
          </p:cNvPr>
          <p:cNvSpPr>
            <a:spLocks noGrp="1"/>
          </p:cNvSpPr>
          <p:nvPr/>
        </p:nvSpPr>
        <p:spPr>
          <a:xfrm>
            <a:off x="2828925" y="3133725"/>
            <a:ext cx="1581150" cy="457200"/>
          </a:xfrm>
          <a:prstGeom prst="rect">
            <a:avLst/>
          </a:prstGeom>
          <a:noFill/>
          <a:ln w="0">
            <a:noFill/>
          </a:ln>
        </p:spPr>
        <p:txBody>
          <a:bodyPr>
            <a:normAutofit fontScale="84211"/>
          </a:bodyPr>
          <a:lstStyle/>
          <a:p>
            <a:pPr>
              <a:defRPr sz="1425">
                <a:solidFill>
                  <a:srgbClr val="5A6780"/>
                </a:solidFill>
                <a:latin typeface="Arial"/>
                <a:ea typeface="Arial"/>
                <a:cs typeface="Arial"/>
              </a:defRPr>
            </a:pPr>
            <a:r>
              <a:rPr sz="1425">
                <a:solidFill>
                  <a:srgbClr val="5A6780"/>
                </a:solidFill>
                <a:latin typeface="Arial"/>
                <a:ea typeface="Arial"/>
                <a:cs typeface="Arial"/>
              </a:rPr>
              <a:t>payload → khung v3</a:t>
            </a:r>
          </a:p>
          <a:p>
            <a:pPr>
              <a:defRPr sz="1425">
                <a:solidFill>
                  <a:srgbClr val="5A6780"/>
                </a:solidFill>
                <a:latin typeface="Arial"/>
                <a:ea typeface="Arial"/>
                <a:cs typeface="Arial"/>
              </a:defRPr>
            </a:pPr>
            <a:r>
              <a:rPr sz="1425">
                <a:solidFill>
                  <a:srgbClr val="5A6780"/>
                </a:solidFill>
                <a:latin typeface="Arial"/>
                <a:ea typeface="Arial"/>
                <a:cs typeface="Arial"/>
              </a:rPr>
              <a:t>làm trắng, bỏ MAC</a:t>
            </a:r>
          </a:p>
        </p:txBody>
      </p:sp>
      <p:sp>
        <p:nvSpPr>
          <p:cNvPr id="13" name="Rectangle 12">
            <a:extLst>
              <a:ext uri="{FF2B5EF4-FFF2-40B4-BE49-F238E27FC236}">
                <a16:creationId xmlns:a16="http://schemas.microsoft.com/office/drawing/2014/main" id="{F753F94C-4C47-4A0C-A26C-77F07C0310AD}"/>
              </a:ext>
            </a:extLst>
          </p:cNvPr>
          <p:cNvSpPr>
            <a:spLocks noGrp="1"/>
          </p:cNvSpPr>
          <p:nvPr/>
        </p:nvSpPr>
        <p:spPr>
          <a:xfrm>
            <a:off x="4572000" y="2876550"/>
            <a:ext cx="361950" cy="400050"/>
          </a:xfrm>
          <a:prstGeom prst="rect">
            <a:avLst/>
          </a:prstGeom>
          <a:noFill/>
          <a:ln w="0">
            <a:noFill/>
          </a:ln>
        </p:spPr>
        <p:txBody>
          <a:bodyPr>
            <a:normAutofit fontScale="50661"/>
          </a:bodyPr>
          <a:lstStyle/>
          <a:p>
            <a:pPr>
              <a:defRPr sz="2775" b="1">
                <a:solidFill>
                  <a:srgbClr val="16A4C7"/>
                </a:solidFill>
                <a:latin typeface="Arial"/>
                <a:ea typeface="Arial"/>
                <a:cs typeface="Arial"/>
              </a:defRPr>
            </a:pPr>
            <a:r>
              <a:rPr sz="2775" b="1">
                <a:solidFill>
                  <a:srgbClr val="16A4C7"/>
                </a:solidFill>
                <a:latin typeface="Arial"/>
                <a:ea typeface="Arial"/>
                <a:cs typeface="Arial"/>
              </a:rPr>
              <a:t>→</a:t>
            </a:r>
          </a:p>
        </p:txBody>
      </p:sp>
      <p:sp>
        <p:nvSpPr>
          <p:cNvPr id="14" name="Rectangle: Rounded Corners 13">
            <a:extLst>
              <a:ext uri="{FF2B5EF4-FFF2-40B4-BE49-F238E27FC236}">
                <a16:creationId xmlns:a16="http://schemas.microsoft.com/office/drawing/2014/main" id="{8A5A11F0-4869-4906-83D1-F72DE38DED16}"/>
              </a:ext>
            </a:extLst>
          </p:cNvPr>
          <p:cNvSpPr>
            <a:spLocks noGrp="1"/>
          </p:cNvSpPr>
          <p:nvPr/>
        </p:nvSpPr>
        <p:spPr>
          <a:xfrm>
            <a:off x="4953000" y="2333625"/>
            <a:ext cx="1885950" cy="1581150"/>
          </a:xfrm>
          <a:prstGeom prst="roundRect">
            <a:avLst>
              <a:gd name="adj" fmla="val 4819"/>
            </a:avLst>
          </a:prstGeom>
          <a:solidFill>
            <a:srgbClr val="FFFFFF"/>
          </a:solidFill>
          <a:ln w="19050">
            <a:solidFill>
              <a:srgbClr val="F2994A"/>
            </a:solidFill>
          </a:ln>
        </p:spPr>
        <p:txBody>
          <a:bodyPr/>
          <a:lstStyle/>
          <a:p>
            <a:endParaRPr lang="en-US"/>
          </a:p>
        </p:txBody>
      </p:sp>
      <p:sp>
        <p:nvSpPr>
          <p:cNvPr id="15" name="Rectangle 14">
            <a:extLst>
              <a:ext uri="{FF2B5EF4-FFF2-40B4-BE49-F238E27FC236}">
                <a16:creationId xmlns:a16="http://schemas.microsoft.com/office/drawing/2014/main" id="{E0852C9D-FE3D-4A88-BF6D-9D8E4CC383F0}"/>
              </a:ext>
            </a:extLst>
          </p:cNvPr>
          <p:cNvSpPr>
            <a:spLocks noGrp="1"/>
          </p:cNvSpPr>
          <p:nvPr/>
        </p:nvSpPr>
        <p:spPr>
          <a:xfrm>
            <a:off x="4953000" y="2333625"/>
            <a:ext cx="1885950" cy="95250"/>
          </a:xfrm>
          <a:prstGeom prst="rect">
            <a:avLst/>
          </a:prstGeom>
          <a:solidFill>
            <a:srgbClr val="F2994A"/>
          </a:solidFill>
          <a:ln w="0">
            <a:solidFill>
              <a:srgbClr val="F2994A"/>
            </a:solidFill>
          </a:ln>
        </p:spPr>
        <p:txBody>
          <a:bodyPr/>
          <a:lstStyle/>
          <a:p>
            <a:endParaRPr lang="en-US"/>
          </a:p>
        </p:txBody>
      </p:sp>
      <p:sp>
        <p:nvSpPr>
          <p:cNvPr id="16" name="Rectangle 15">
            <a:extLst>
              <a:ext uri="{FF2B5EF4-FFF2-40B4-BE49-F238E27FC236}">
                <a16:creationId xmlns:a16="http://schemas.microsoft.com/office/drawing/2014/main" id="{F1F9F784-9988-4479-93F6-6ACB03C39E30}"/>
              </a:ext>
            </a:extLst>
          </p:cNvPr>
          <p:cNvSpPr>
            <a:spLocks noGrp="1"/>
          </p:cNvSpPr>
          <p:nvPr/>
        </p:nvSpPr>
        <p:spPr>
          <a:xfrm>
            <a:off x="5105400" y="2647950"/>
            <a:ext cx="1581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3. Native CAVLC</a:t>
            </a:r>
          </a:p>
        </p:txBody>
      </p:sp>
      <p:sp>
        <p:nvSpPr>
          <p:cNvPr id="17" name="Rectangle 16">
            <a:extLst>
              <a:ext uri="{FF2B5EF4-FFF2-40B4-BE49-F238E27FC236}">
                <a16:creationId xmlns:a16="http://schemas.microsoft.com/office/drawing/2014/main" id="{E37A6EA7-16AB-447F-8934-402EF651C2B7}"/>
              </a:ext>
            </a:extLst>
          </p:cNvPr>
          <p:cNvSpPr>
            <a:spLocks noGrp="1"/>
          </p:cNvSpPr>
          <p:nvPr/>
        </p:nvSpPr>
        <p:spPr>
          <a:xfrm>
            <a:off x="5105400" y="3133725"/>
            <a:ext cx="1581150" cy="457200"/>
          </a:xfrm>
          <a:prstGeom prst="rect">
            <a:avLst/>
          </a:prstGeom>
          <a:noFill/>
          <a:ln w="0">
            <a:noFill/>
          </a:ln>
        </p:spPr>
        <p:txBody>
          <a:bodyPr>
            <a:normAutofit fontScale="84211"/>
          </a:bodyPr>
          <a:lstStyle/>
          <a:p>
            <a:pPr>
              <a:defRPr sz="1425">
                <a:solidFill>
                  <a:srgbClr val="5A6780"/>
                </a:solidFill>
                <a:latin typeface="Arial"/>
                <a:ea typeface="Arial"/>
                <a:cs typeface="Arial"/>
              </a:defRPr>
            </a:pPr>
            <a:r>
              <a:rPr sz="1425">
                <a:solidFill>
                  <a:srgbClr val="5A6780"/>
                </a:solidFill>
                <a:latin typeface="Arial"/>
                <a:ea typeface="Arial"/>
                <a:cs typeface="Arial"/>
              </a:rPr>
              <a:t>lịch HMAC (khóa)</a:t>
            </a:r>
          </a:p>
          <a:p>
            <a:pPr>
              <a:defRPr sz="1425">
                <a:solidFill>
                  <a:srgbClr val="5A6780"/>
                </a:solidFill>
                <a:latin typeface="Arial"/>
                <a:ea typeface="Arial"/>
                <a:cs typeface="Arial"/>
              </a:defRPr>
            </a:pPr>
            <a:r>
              <a:rPr sz="1425">
                <a:solidFill>
                  <a:srgbClr val="5A6780"/>
                </a:solidFill>
                <a:latin typeface="Arial"/>
                <a:ea typeface="Arial"/>
                <a:cs typeface="Arial"/>
              </a:rPr>
              <a:t>chọn dấu T1</a:t>
            </a:r>
          </a:p>
        </p:txBody>
      </p:sp>
      <p:sp>
        <p:nvSpPr>
          <p:cNvPr id="18" name="Rectangle 17">
            <a:extLst>
              <a:ext uri="{FF2B5EF4-FFF2-40B4-BE49-F238E27FC236}">
                <a16:creationId xmlns:a16="http://schemas.microsoft.com/office/drawing/2014/main" id="{F7829447-F279-4A45-A630-BFBC38193D3F}"/>
              </a:ext>
            </a:extLst>
          </p:cNvPr>
          <p:cNvSpPr>
            <a:spLocks noGrp="1"/>
          </p:cNvSpPr>
          <p:nvPr/>
        </p:nvSpPr>
        <p:spPr>
          <a:xfrm>
            <a:off x="6848475" y="2876550"/>
            <a:ext cx="361950" cy="400050"/>
          </a:xfrm>
          <a:prstGeom prst="rect">
            <a:avLst/>
          </a:prstGeom>
          <a:noFill/>
          <a:ln w="0">
            <a:noFill/>
          </a:ln>
        </p:spPr>
        <p:txBody>
          <a:bodyPr>
            <a:normAutofit fontScale="50661"/>
          </a:bodyPr>
          <a:lstStyle/>
          <a:p>
            <a:pPr>
              <a:defRPr sz="2775" b="1">
                <a:solidFill>
                  <a:srgbClr val="F2994A"/>
                </a:solidFill>
                <a:latin typeface="Arial"/>
                <a:ea typeface="Arial"/>
                <a:cs typeface="Arial"/>
              </a:defRPr>
            </a:pPr>
            <a:r>
              <a:rPr sz="2775" b="1">
                <a:solidFill>
                  <a:srgbClr val="F2994A"/>
                </a:solidFill>
                <a:latin typeface="Arial"/>
                <a:ea typeface="Arial"/>
                <a:cs typeface="Arial"/>
              </a:rPr>
              <a:t>→</a:t>
            </a:r>
          </a:p>
        </p:txBody>
      </p:sp>
      <p:sp>
        <p:nvSpPr>
          <p:cNvPr id="19" name="Rectangle: Rounded Corners 18">
            <a:extLst>
              <a:ext uri="{FF2B5EF4-FFF2-40B4-BE49-F238E27FC236}">
                <a16:creationId xmlns:a16="http://schemas.microsoft.com/office/drawing/2014/main" id="{38A83D9A-F6CA-4797-A971-636B65169ADE}"/>
              </a:ext>
            </a:extLst>
          </p:cNvPr>
          <p:cNvSpPr>
            <a:spLocks noGrp="1"/>
          </p:cNvSpPr>
          <p:nvPr/>
        </p:nvSpPr>
        <p:spPr>
          <a:xfrm>
            <a:off x="7229475" y="2333625"/>
            <a:ext cx="1885950" cy="1581150"/>
          </a:xfrm>
          <a:prstGeom prst="roundRect">
            <a:avLst>
              <a:gd name="adj" fmla="val 4819"/>
            </a:avLst>
          </a:prstGeom>
          <a:solidFill>
            <a:srgbClr val="FFFFFF"/>
          </a:solidFill>
          <a:ln w="19050">
            <a:solidFill>
              <a:srgbClr val="2667D8"/>
            </a:solidFill>
          </a:ln>
        </p:spPr>
        <p:txBody>
          <a:bodyPr/>
          <a:lstStyle/>
          <a:p>
            <a:endParaRPr lang="en-US"/>
          </a:p>
        </p:txBody>
      </p:sp>
      <p:sp>
        <p:nvSpPr>
          <p:cNvPr id="20" name="Rectangle 19">
            <a:extLst>
              <a:ext uri="{FF2B5EF4-FFF2-40B4-BE49-F238E27FC236}">
                <a16:creationId xmlns:a16="http://schemas.microsoft.com/office/drawing/2014/main" id="{E138B7C8-7ED3-40D2-A67C-9CD167A65B89}"/>
              </a:ext>
            </a:extLst>
          </p:cNvPr>
          <p:cNvSpPr>
            <a:spLocks noGrp="1"/>
          </p:cNvSpPr>
          <p:nvPr/>
        </p:nvSpPr>
        <p:spPr>
          <a:xfrm>
            <a:off x="7229475" y="2333625"/>
            <a:ext cx="1885950" cy="95250"/>
          </a:xfrm>
          <a:prstGeom prst="rect">
            <a:avLst/>
          </a:prstGeom>
          <a:solidFill>
            <a:srgbClr val="2667D8"/>
          </a:solidFill>
          <a:ln w="0">
            <a:solidFill>
              <a:srgbClr val="2667D8"/>
            </a:solidFill>
          </a:ln>
        </p:spPr>
        <p:txBody>
          <a:bodyPr/>
          <a:lstStyle/>
          <a:p>
            <a:endParaRPr lang="en-US"/>
          </a:p>
        </p:txBody>
      </p:sp>
      <p:sp>
        <p:nvSpPr>
          <p:cNvPr id="21" name="Rectangle 20">
            <a:extLst>
              <a:ext uri="{FF2B5EF4-FFF2-40B4-BE49-F238E27FC236}">
                <a16:creationId xmlns:a16="http://schemas.microsoft.com/office/drawing/2014/main" id="{99057843-B793-4739-8A0F-20333C75BF82}"/>
              </a:ext>
            </a:extLst>
          </p:cNvPr>
          <p:cNvSpPr>
            <a:spLocks noGrp="1"/>
          </p:cNvSpPr>
          <p:nvPr/>
        </p:nvSpPr>
        <p:spPr>
          <a:xfrm>
            <a:off x="7381875" y="2647950"/>
            <a:ext cx="1581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4. Stego H.264</a:t>
            </a:r>
          </a:p>
        </p:txBody>
      </p:sp>
      <p:sp>
        <p:nvSpPr>
          <p:cNvPr id="22" name="Rectangle 21">
            <a:extLst>
              <a:ext uri="{FF2B5EF4-FFF2-40B4-BE49-F238E27FC236}">
                <a16:creationId xmlns:a16="http://schemas.microsoft.com/office/drawing/2014/main" id="{E80474C9-39B0-4EE5-ABE4-9E232013A886}"/>
              </a:ext>
            </a:extLst>
          </p:cNvPr>
          <p:cNvSpPr>
            <a:spLocks noGrp="1"/>
          </p:cNvSpPr>
          <p:nvPr/>
        </p:nvSpPr>
        <p:spPr>
          <a:xfrm>
            <a:off x="7381875" y="3133725"/>
            <a:ext cx="1581150" cy="457200"/>
          </a:xfrm>
          <a:prstGeom prst="rect">
            <a:avLst/>
          </a:prstGeom>
          <a:noFill/>
          <a:ln w="0">
            <a:noFill/>
          </a:ln>
        </p:spPr>
        <p:txBody>
          <a:bodyPr>
            <a:normAutofit fontScale="84211"/>
          </a:bodyPr>
          <a:lstStyle/>
          <a:p>
            <a:pPr>
              <a:defRPr sz="1425">
                <a:solidFill>
                  <a:srgbClr val="5A6780"/>
                </a:solidFill>
                <a:latin typeface="Arial"/>
                <a:ea typeface="Arial"/>
                <a:cs typeface="Arial"/>
              </a:defRPr>
            </a:pPr>
            <a:r>
              <a:rPr sz="1425">
                <a:solidFill>
                  <a:srgbClr val="5A6780"/>
                </a:solidFill>
                <a:latin typeface="Arial"/>
                <a:ea typeface="Arial"/>
                <a:cs typeface="Arial"/>
              </a:rPr>
              <a:t>lật bit dấu, video</a:t>
            </a:r>
          </a:p>
          <a:p>
            <a:pPr>
              <a:defRPr sz="1425">
                <a:solidFill>
                  <a:srgbClr val="5A6780"/>
                </a:solidFill>
                <a:latin typeface="Arial"/>
                <a:ea typeface="Arial"/>
                <a:cs typeface="Arial"/>
              </a:defRPr>
            </a:pPr>
            <a:r>
              <a:rPr sz="1425">
                <a:solidFill>
                  <a:srgbClr val="5A6780"/>
                </a:solidFill>
                <a:latin typeface="Arial"/>
                <a:ea typeface="Arial"/>
                <a:cs typeface="Arial"/>
              </a:rPr>
              <a:t>vẫn decode được</a:t>
            </a:r>
          </a:p>
        </p:txBody>
      </p:sp>
      <p:sp>
        <p:nvSpPr>
          <p:cNvPr id="23" name="Rectangle 22">
            <a:extLst>
              <a:ext uri="{FF2B5EF4-FFF2-40B4-BE49-F238E27FC236}">
                <a16:creationId xmlns:a16="http://schemas.microsoft.com/office/drawing/2014/main" id="{793EE663-2963-47F5-9BE9-7A0EBAB85801}"/>
              </a:ext>
            </a:extLst>
          </p:cNvPr>
          <p:cNvSpPr>
            <a:spLocks noGrp="1"/>
          </p:cNvSpPr>
          <p:nvPr/>
        </p:nvSpPr>
        <p:spPr>
          <a:xfrm>
            <a:off x="9124950" y="2876550"/>
            <a:ext cx="361950" cy="400050"/>
          </a:xfrm>
          <a:prstGeom prst="rect">
            <a:avLst/>
          </a:prstGeom>
          <a:noFill/>
          <a:ln w="0">
            <a:noFill/>
          </a:ln>
        </p:spPr>
        <p:txBody>
          <a:bodyPr>
            <a:normAutofit fontScale="50661"/>
          </a:bodyPr>
          <a:lstStyle/>
          <a:p>
            <a:pPr>
              <a:defRPr sz="2775" b="1">
                <a:solidFill>
                  <a:srgbClr val="2667D8"/>
                </a:solidFill>
                <a:latin typeface="Arial"/>
                <a:ea typeface="Arial"/>
                <a:cs typeface="Arial"/>
              </a:defRPr>
            </a:pPr>
            <a:r>
              <a:rPr sz="2775" b="1">
                <a:solidFill>
                  <a:srgbClr val="2667D8"/>
                </a:solidFill>
                <a:latin typeface="Arial"/>
                <a:ea typeface="Arial"/>
                <a:cs typeface="Arial"/>
              </a:rPr>
              <a:t>→</a:t>
            </a:r>
          </a:p>
        </p:txBody>
      </p:sp>
      <p:sp>
        <p:nvSpPr>
          <p:cNvPr id="24" name="Rectangle: Rounded Corners 23">
            <a:extLst>
              <a:ext uri="{FF2B5EF4-FFF2-40B4-BE49-F238E27FC236}">
                <a16:creationId xmlns:a16="http://schemas.microsoft.com/office/drawing/2014/main" id="{26431A5C-6753-4F89-A920-F4761C355F2E}"/>
              </a:ext>
            </a:extLst>
          </p:cNvPr>
          <p:cNvSpPr>
            <a:spLocks noGrp="1"/>
          </p:cNvSpPr>
          <p:nvPr/>
        </p:nvSpPr>
        <p:spPr>
          <a:xfrm>
            <a:off x="9505950" y="2333625"/>
            <a:ext cx="1885950" cy="1581150"/>
          </a:xfrm>
          <a:prstGeom prst="roundRect">
            <a:avLst>
              <a:gd name="adj" fmla="val 4819"/>
            </a:avLst>
          </a:prstGeom>
          <a:solidFill>
            <a:srgbClr val="FFFFFF"/>
          </a:solidFill>
          <a:ln w="19050">
            <a:solidFill>
              <a:srgbClr val="25A36F"/>
            </a:solidFill>
          </a:ln>
        </p:spPr>
        <p:txBody>
          <a:bodyPr/>
          <a:lstStyle/>
          <a:p>
            <a:endParaRPr lang="en-US"/>
          </a:p>
        </p:txBody>
      </p:sp>
      <p:sp>
        <p:nvSpPr>
          <p:cNvPr id="25" name="Rectangle 24">
            <a:extLst>
              <a:ext uri="{FF2B5EF4-FFF2-40B4-BE49-F238E27FC236}">
                <a16:creationId xmlns:a16="http://schemas.microsoft.com/office/drawing/2014/main" id="{B9933E11-ECEC-480D-B6F2-1C1B2EFA17D8}"/>
              </a:ext>
            </a:extLst>
          </p:cNvPr>
          <p:cNvSpPr>
            <a:spLocks noGrp="1"/>
          </p:cNvSpPr>
          <p:nvPr/>
        </p:nvSpPr>
        <p:spPr>
          <a:xfrm>
            <a:off x="9505950" y="2333625"/>
            <a:ext cx="1885950" cy="95250"/>
          </a:xfrm>
          <a:prstGeom prst="rect">
            <a:avLst/>
          </a:prstGeom>
          <a:solidFill>
            <a:srgbClr val="25A36F"/>
          </a:solidFill>
          <a:ln w="0">
            <a:solidFill>
              <a:srgbClr val="25A36F"/>
            </a:solidFill>
          </a:ln>
        </p:spPr>
        <p:txBody>
          <a:bodyPr/>
          <a:lstStyle/>
          <a:p>
            <a:endParaRPr lang="en-US"/>
          </a:p>
        </p:txBody>
      </p:sp>
      <p:sp>
        <p:nvSpPr>
          <p:cNvPr id="26" name="Rectangle 25">
            <a:extLst>
              <a:ext uri="{FF2B5EF4-FFF2-40B4-BE49-F238E27FC236}">
                <a16:creationId xmlns:a16="http://schemas.microsoft.com/office/drawing/2014/main" id="{2B5083C2-4B8A-4820-87F2-AA058C3B4822}"/>
              </a:ext>
            </a:extLst>
          </p:cNvPr>
          <p:cNvSpPr>
            <a:spLocks noGrp="1"/>
          </p:cNvSpPr>
          <p:nvPr/>
        </p:nvSpPr>
        <p:spPr>
          <a:xfrm>
            <a:off x="9658350" y="2647950"/>
            <a:ext cx="1581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5. Trích mù + verify</a:t>
            </a:r>
          </a:p>
        </p:txBody>
      </p:sp>
      <p:sp>
        <p:nvSpPr>
          <p:cNvPr id="27" name="Rectangle 26">
            <a:extLst>
              <a:ext uri="{FF2B5EF4-FFF2-40B4-BE49-F238E27FC236}">
                <a16:creationId xmlns:a16="http://schemas.microsoft.com/office/drawing/2014/main" id="{851E2FA1-A7D8-44C8-8922-74FA96720FB9}"/>
              </a:ext>
            </a:extLst>
          </p:cNvPr>
          <p:cNvSpPr>
            <a:spLocks noGrp="1"/>
          </p:cNvSpPr>
          <p:nvPr/>
        </p:nvSpPr>
        <p:spPr>
          <a:xfrm>
            <a:off x="9658350" y="3133725"/>
            <a:ext cx="1581150" cy="457200"/>
          </a:xfrm>
          <a:prstGeom prst="rect">
            <a:avLst/>
          </a:prstGeom>
          <a:noFill/>
          <a:ln w="0">
            <a:noFill/>
          </a:ln>
        </p:spPr>
        <p:txBody>
          <a:bodyPr>
            <a:normAutofit fontScale="84211"/>
          </a:bodyPr>
          <a:lstStyle/>
          <a:p>
            <a:pPr>
              <a:defRPr sz="1425">
                <a:solidFill>
                  <a:srgbClr val="5A6780"/>
                </a:solidFill>
                <a:latin typeface="Arial"/>
                <a:ea typeface="Arial"/>
                <a:cs typeface="Arial"/>
              </a:defRPr>
            </a:pPr>
            <a:r>
              <a:rPr sz="1425">
                <a:solidFill>
                  <a:srgbClr val="5A6780"/>
                </a:solidFill>
                <a:latin typeface="Arial"/>
                <a:ea typeface="Arial"/>
                <a:cs typeface="Arial"/>
              </a:rPr>
              <a:t>digest stego, rồi</a:t>
            </a:r>
          </a:p>
          <a:p>
            <a:pPr>
              <a:defRPr sz="1425">
                <a:solidFill>
                  <a:srgbClr val="5A6780"/>
                </a:solidFill>
                <a:latin typeface="Arial"/>
                <a:ea typeface="Arial"/>
                <a:cs typeface="Arial"/>
              </a:defRPr>
            </a:pPr>
            <a:r>
              <a:rPr sz="1425">
                <a:solidFill>
                  <a:srgbClr val="5A6780"/>
                </a:solidFill>
                <a:latin typeface="Arial"/>
                <a:ea typeface="Arial"/>
                <a:cs typeface="Arial"/>
              </a:rPr>
              <a:t>Groth16 với root</a:t>
            </a:r>
          </a:p>
        </p:txBody>
      </p:sp>
      <p:sp>
        <p:nvSpPr>
          <p:cNvPr id="28" name="Rectangle 27">
            <a:extLst>
              <a:ext uri="{FF2B5EF4-FFF2-40B4-BE49-F238E27FC236}">
                <a16:creationId xmlns:a16="http://schemas.microsoft.com/office/drawing/2014/main" id="{9081C7EB-4524-496C-9866-C90563A0223A}"/>
              </a:ext>
            </a:extLst>
          </p:cNvPr>
          <p:cNvSpPr>
            <a:spLocks noGrp="1"/>
          </p:cNvSpPr>
          <p:nvPr/>
        </p:nvSpPr>
        <p:spPr>
          <a:xfrm>
            <a:off x="876300" y="4095750"/>
            <a:ext cx="104394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2 — Proof gắn với digest video + message; bên nhận trích mù, tính lại digest rồi verify Groth16 với root sổ đăng ký.</a:t>
            </a:r>
          </a:p>
        </p:txBody>
      </p:sp>
      <p:sp>
        <p:nvSpPr>
          <p:cNvPr id="35" name="Pipeline Text"/>
          <p:cNvSpPr>
            <a:spLocks noGrp="1"/>
          </p:cNvSpPr>
          <p:nvPr/>
        </p:nvSpPr>
        <p:spPr>
          <a:xfrm>
            <a:off x="566928" y="4572000"/>
            <a:ext cx="10881360" cy="1371600"/>
          </a:xfrm>
          <a:prstGeom prst="rect">
            <a:avLst/>
          </a:prstGeom>
          <a:noFill/>
          <a:ln w="0">
            <a:noFill/>
          </a:ln>
        </p:spPr>
        <p:txBody>
          <a:bodyPr>
            <a:normAutofit/>
          </a:bodyPr>
          <a:lstStyle/>
          <a:p>
            <a:pPr>
              <a:defRPr sz="1200">
                <a:solidFill>
                  <a:srgbClr val="5A6780"/>
                </a:solidFill>
                <a:latin typeface="Arial"/>
                <a:ea typeface="Arial"/>
                <a:cs typeface="Arial"/>
              </a:defRPr>
            </a:pPr>
            <a:r>
              <a:rPr sz="1200" b="1">
                <a:solidFill>
                  <a:srgbClr val="5A6780"/>
                </a:solidFill>
                <a:latin typeface="Arial"/>
                <a:ea typeface="Arial"/>
                <a:cs typeface="Arial"/>
              </a:rPr>
              <a:t xml:space="preserve">Gửi:  </a:t>
            </a:r>
            <a:r>
              <a:rPr sz="1200">
                <a:solidFill>
                  <a:srgbClr val="5A6780"/>
                </a:solidFill>
                <a:latin typeface="Arial"/>
                <a:ea typeface="Arial"/>
                <a:cs typeface="Arial"/>
              </a:rPr>
              <a:t>camera (secret s + đường Merkle) + digest cover + message → binding → proof 129 B → payload [0x01][mode][len 2B][message][proof] → khung [0x03][len 2B][payload] → XOR keystream → lịch HMAC mỗi IDR → lật dấu → stego.h264</a:t>
            </a:r>
          </a:p>
          <a:p>
            <a:pPr>
              <a:defRPr sz="1200">
                <a:solidFill>
                  <a:srgbClr val="5A6780"/>
                </a:solidFill>
                <a:latin typeface="Arial"/>
                <a:ea typeface="Arial"/>
                <a:cs typeface="Arial"/>
              </a:defRPr>
            </a:pPr>
            <a:r>
              <a:rPr sz="1200" b="1">
                <a:solidFill>
                  <a:srgbClr val="5A6780"/>
                </a:solidFill>
                <a:latin typeface="Arial"/>
                <a:ea typeface="Arial"/>
                <a:cs typeface="Arial"/>
              </a:rPr>
              <a:t xml:space="preserve">Nhận:  </a:t>
            </a:r>
            <a:r>
              <a:rPr sz="1200">
                <a:solidFill>
                  <a:srgbClr val="5A6780"/>
                </a:solidFill>
                <a:latin typeface="Arial"/>
                <a:ea typeface="Arial"/>
                <a:cs typeface="Arial"/>
              </a:rPr>
              <a:t>cùng khóa → cùng lịch → đọc bit → bỏ làm trắng → kiểm version 0x03 / độ dài → unpack → digest stego (= digest cover) → binding → Groth16 verify với root → message</a:t>
            </a:r>
          </a:p>
        </p:txBody>
      </p:sp>
      <p:sp>
        <p:nvSpPr>
          <p:cNvPr id="32" name="Rectangle 31">
            <a:extLst>
              <a:ext uri="{FF2B5EF4-FFF2-40B4-BE49-F238E27FC236}">
                <a16:creationId xmlns:a16="http://schemas.microsoft.com/office/drawing/2014/main" id="{EB010490-86EB-478F-A848-BCB1944780D4}"/>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33" name="Rectangle 32">
            <a:extLst>
              <a:ext uri="{FF2B5EF4-FFF2-40B4-BE49-F238E27FC236}">
                <a16:creationId xmlns:a16="http://schemas.microsoft.com/office/drawing/2014/main" id="{C4D16E39-3424-4BC9-8F54-7822C900FF59}"/>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02</a:t>
            </a:r>
          </a:p>
        </p:txBody>
      </p:sp>
    </p:spTree>
    <p:extLst>
      <p:ext uri="{BB962C8B-B14F-4D97-AF65-F5344CB8AC3E}">
        <p14:creationId xmlns:p14="http://schemas.microsoft.com/office/powerpoint/2010/main" val="8007382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576FE96F-6680-4C97-AC59-6A46D82412E0}"/>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Cover video là gì?</a:t>
            </a:r>
          </a:p>
        </p:txBody>
      </p:sp>
      <p:sp>
        <p:nvSpPr>
          <p:cNvPr id="2" name="Rectangle 1">
            <a:extLst>
              <a:ext uri="{FF2B5EF4-FFF2-40B4-BE49-F238E27FC236}">
                <a16:creationId xmlns:a16="http://schemas.microsoft.com/office/drawing/2014/main" id="{5733BF26-B6D7-43A7-941C-774D6A4437CA}"/>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Đó là video gốc dùng làm vật mang. Người xem vẫn xem được video sau khi hệ thống lật một số bit dấu.</a:t>
            </a:r>
          </a:p>
        </p:txBody>
      </p:sp>
      <p:sp>
        <p:nvSpPr>
          <p:cNvPr id="3" name="Straight Connector 2">
            <a:extLst>
              <a:ext uri="{FF2B5EF4-FFF2-40B4-BE49-F238E27FC236}">
                <a16:creationId xmlns:a16="http://schemas.microsoft.com/office/drawing/2014/main" id="{C469F9CB-3C47-4493-BC1D-042E311808F1}"/>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7" name="Picture 16"/>
          <p:cNvPicPr>
            <a:picLocks noChangeAspect="1"/>
          </p:cNvPicPr>
          <p:nvPr/>
        </p:nvPicPr>
        <p:blipFill>
          <a:blip r:embed="rId3"/>
          <a:stretch/>
        </p:blipFill>
        <p:spPr>
          <a:xfrm>
            <a:off x="4955171" y="1676400"/>
            <a:ext cx="6177383" cy="3476625"/>
          </a:xfrm>
          <a:prstGeom prst="rect">
            <a:avLst/>
          </a:prstGeom>
        </p:spPr>
      </p:pic>
      <p:sp>
        <p:nvSpPr>
          <p:cNvPr id="5" name="Rectangle 4">
            <a:extLst>
              <a:ext uri="{FF2B5EF4-FFF2-40B4-BE49-F238E27FC236}">
                <a16:creationId xmlns:a16="http://schemas.microsoft.com/office/drawing/2014/main" id="{39C59A90-10D4-411B-AD1B-784E78526226}"/>
              </a:ext>
            </a:extLst>
          </p:cNvPr>
          <p:cNvSpPr>
            <a:spLocks noGrp="1"/>
          </p:cNvSpPr>
          <p:nvPr/>
        </p:nvSpPr>
        <p:spPr>
          <a:xfrm>
            <a:off x="4867275" y="4267200"/>
            <a:ext cx="6715125" cy="228600"/>
          </a:xfrm>
          <a:prstGeom prst="rect">
            <a:avLst/>
          </a:prstGeom>
          <a:noFill/>
          <a:ln w="0">
            <a:noFill/>
          </a:ln>
        </p:spPr>
        <p:txBody>
          <a:bodyPr>
            <a:normAutofit fontScale="78088" lnSpcReduction="10000"/>
          </a:bodyPr>
          <a:lstStyle/>
          <a:p>
            <a:pPr>
              <a:defRPr sz="1275" i="1">
                <a:solidFill>
                  <a:srgbClr val="63728A"/>
                </a:solidFill>
                <a:latin typeface="Arial"/>
                <a:ea typeface="Arial"/>
                <a:cs typeface="Arial"/>
              </a:defRPr>
            </a:pPr>
            <a:r>
              <a:rPr sz="1275" i="1" dirty="0" err="1">
                <a:solidFill>
                  <a:srgbClr val="63728A"/>
                </a:solidFill>
                <a:latin typeface="Arial"/>
                <a:ea typeface="Arial"/>
                <a:cs typeface="Arial"/>
              </a:rPr>
              <a:t>Hình</a:t>
            </a:r>
            <a:r>
              <a:rPr sz="1275" i="1" dirty="0">
                <a:solidFill>
                  <a:srgbClr val="63728A"/>
                </a:solidFill>
                <a:latin typeface="Arial"/>
                <a:ea typeface="Arial"/>
                <a:cs typeface="Arial"/>
              </a:rPr>
              <a:t> 3 — </a:t>
            </a:r>
            <a:r>
              <a:rPr sz="1275" i="1" dirty="0" err="1">
                <a:solidFill>
                  <a:srgbClr val="63728A"/>
                </a:solidFill>
                <a:latin typeface="Arial"/>
                <a:ea typeface="Arial"/>
                <a:cs typeface="Arial"/>
              </a:rPr>
              <a:t>Ví</a:t>
            </a:r>
            <a:r>
              <a:rPr sz="1275" i="1" dirty="0">
                <a:solidFill>
                  <a:srgbClr val="63728A"/>
                </a:solidFill>
                <a:latin typeface="Arial"/>
                <a:ea typeface="Arial"/>
                <a:cs typeface="Arial"/>
              </a:rPr>
              <a:t> </a:t>
            </a:r>
            <a:r>
              <a:rPr sz="1275" i="1" dirty="0" err="1">
                <a:solidFill>
                  <a:srgbClr val="63728A"/>
                </a:solidFill>
                <a:latin typeface="Arial"/>
                <a:ea typeface="Arial"/>
                <a:cs typeface="Arial"/>
              </a:rPr>
              <a:t>dụ</a:t>
            </a:r>
            <a:r>
              <a:rPr sz="1275" i="1" dirty="0">
                <a:solidFill>
                  <a:srgbClr val="63728A"/>
                </a:solidFill>
                <a:latin typeface="Arial"/>
                <a:ea typeface="Arial"/>
                <a:cs typeface="Arial"/>
              </a:rPr>
              <a:t>: cover video </a:t>
            </a:r>
            <a:r>
              <a:rPr sz="1275" i="1" dirty="0" err="1">
                <a:solidFill>
                  <a:srgbClr val="63728A"/>
                </a:solidFill>
                <a:latin typeface="Arial"/>
                <a:ea typeface="Arial"/>
                <a:cs typeface="Arial"/>
              </a:rPr>
              <a:t>được</a:t>
            </a:r>
            <a:r>
              <a:rPr sz="1275" i="1" dirty="0">
                <a:solidFill>
                  <a:srgbClr val="63728A"/>
                </a:solidFill>
                <a:latin typeface="Arial"/>
                <a:ea typeface="Arial"/>
                <a:cs typeface="Arial"/>
              </a:rPr>
              <a:t> </a:t>
            </a:r>
            <a:r>
              <a:rPr sz="1275" i="1" dirty="0" err="1">
                <a:solidFill>
                  <a:srgbClr val="63728A"/>
                </a:solidFill>
                <a:latin typeface="Arial"/>
                <a:ea typeface="Arial"/>
                <a:cs typeface="Arial"/>
              </a:rPr>
              <a:t>phóng</a:t>
            </a:r>
            <a:r>
              <a:rPr sz="1275" i="1" dirty="0">
                <a:solidFill>
                  <a:srgbClr val="63728A"/>
                </a:solidFill>
                <a:latin typeface="Arial"/>
                <a:ea typeface="Arial"/>
                <a:cs typeface="Arial"/>
              </a:rPr>
              <a:t> to </a:t>
            </a:r>
            <a:r>
              <a:rPr sz="1275" i="1" dirty="0" err="1">
                <a:solidFill>
                  <a:srgbClr val="63728A"/>
                </a:solidFill>
                <a:latin typeface="Arial"/>
                <a:ea typeface="Arial"/>
                <a:cs typeface="Arial"/>
              </a:rPr>
              <a:t>dần</a:t>
            </a:r>
            <a:r>
              <a:rPr sz="1275" i="1" dirty="0">
                <a:solidFill>
                  <a:srgbClr val="63728A"/>
                </a:solidFill>
                <a:latin typeface="Arial"/>
                <a:ea typeface="Arial"/>
                <a:cs typeface="Arial"/>
              </a:rPr>
              <a:t> </a:t>
            </a:r>
            <a:r>
              <a:rPr sz="1275" i="1" dirty="0" err="1">
                <a:solidFill>
                  <a:srgbClr val="63728A"/>
                </a:solidFill>
                <a:latin typeface="Arial"/>
                <a:ea typeface="Arial"/>
                <a:cs typeface="Arial"/>
              </a:rPr>
              <a:t>từ</a:t>
            </a:r>
            <a:r>
              <a:rPr sz="1275" i="1" dirty="0">
                <a:solidFill>
                  <a:srgbClr val="63728A"/>
                </a:solidFill>
                <a:latin typeface="Arial"/>
                <a:ea typeface="Arial"/>
                <a:cs typeface="Arial"/>
              </a:rPr>
              <a:t> frame </a:t>
            </a:r>
            <a:r>
              <a:rPr sz="1275" i="1" dirty="0" err="1">
                <a:solidFill>
                  <a:srgbClr val="63728A"/>
                </a:solidFill>
                <a:latin typeface="Arial"/>
                <a:ea typeface="Arial"/>
                <a:cs typeface="Arial"/>
              </a:rPr>
              <a:t>đến</a:t>
            </a:r>
            <a:r>
              <a:rPr sz="1275" i="1" dirty="0">
                <a:solidFill>
                  <a:srgbClr val="63728A"/>
                </a:solidFill>
                <a:latin typeface="Arial"/>
                <a:ea typeface="Arial"/>
                <a:cs typeface="Arial"/>
              </a:rPr>
              <a:t> coefficient, </a:t>
            </a:r>
            <a:r>
              <a:rPr sz="1275" i="1" dirty="0" err="1">
                <a:solidFill>
                  <a:srgbClr val="63728A"/>
                </a:solidFill>
                <a:latin typeface="Arial"/>
                <a:ea typeface="Arial"/>
                <a:cs typeface="Arial"/>
              </a:rPr>
              <a:t>không</a:t>
            </a:r>
            <a:r>
              <a:rPr sz="1275" i="1" dirty="0">
                <a:solidFill>
                  <a:srgbClr val="63728A"/>
                </a:solidFill>
                <a:latin typeface="Arial"/>
                <a:ea typeface="Arial"/>
                <a:cs typeface="Arial"/>
              </a:rPr>
              <a:t> </a:t>
            </a:r>
            <a:r>
              <a:rPr sz="1275" i="1" dirty="0" err="1">
                <a:solidFill>
                  <a:srgbClr val="63728A"/>
                </a:solidFill>
                <a:latin typeface="Arial"/>
                <a:ea typeface="Arial"/>
                <a:cs typeface="Arial"/>
              </a:rPr>
              <a:t>chỉnh</a:t>
            </a:r>
            <a:r>
              <a:rPr sz="1275" i="1" dirty="0">
                <a:solidFill>
                  <a:srgbClr val="63728A"/>
                </a:solidFill>
                <a:latin typeface="Arial"/>
                <a:ea typeface="Arial"/>
                <a:cs typeface="Arial"/>
              </a:rPr>
              <a:t> pixel </a:t>
            </a:r>
            <a:r>
              <a:rPr sz="1275" i="1" dirty="0" err="1">
                <a:solidFill>
                  <a:srgbClr val="63728A"/>
                </a:solidFill>
                <a:latin typeface="Arial"/>
                <a:ea typeface="Arial"/>
                <a:cs typeface="Arial"/>
              </a:rPr>
              <a:t>trực</a:t>
            </a:r>
            <a:r>
              <a:rPr sz="1275" i="1" dirty="0">
                <a:solidFill>
                  <a:srgbClr val="63728A"/>
                </a:solidFill>
                <a:latin typeface="Arial"/>
                <a:ea typeface="Arial"/>
                <a:cs typeface="Arial"/>
              </a:rPr>
              <a:t> </a:t>
            </a:r>
            <a:r>
              <a:rPr sz="1275" i="1" dirty="0" err="1">
                <a:solidFill>
                  <a:srgbClr val="63728A"/>
                </a:solidFill>
                <a:latin typeface="Arial"/>
                <a:ea typeface="Arial"/>
                <a:cs typeface="Arial"/>
              </a:rPr>
              <a:t>tiếp</a:t>
            </a:r>
            <a:r>
              <a:rPr sz="1275" i="1" dirty="0">
                <a:solidFill>
                  <a:srgbClr val="63728A"/>
                </a:solidFill>
                <a:latin typeface="Arial"/>
                <a:ea typeface="Arial"/>
                <a:cs typeface="Arial"/>
              </a:rPr>
              <a:t>.</a:t>
            </a:r>
          </a:p>
        </p:txBody>
      </p:sp>
      <p:sp>
        <p:nvSpPr>
          <p:cNvPr id="6" name="Rectangle 5">
            <a:extLst>
              <a:ext uri="{FF2B5EF4-FFF2-40B4-BE49-F238E27FC236}">
                <a16:creationId xmlns:a16="http://schemas.microsoft.com/office/drawing/2014/main" id="{F9662F9E-6F61-4293-88C6-BA402860343C}"/>
              </a:ext>
            </a:extLst>
          </p:cNvPr>
          <p:cNvSpPr>
            <a:spLocks noGrp="1"/>
          </p:cNvSpPr>
          <p:nvPr/>
        </p:nvSpPr>
        <p:spPr>
          <a:xfrm>
            <a:off x="609600" y="1771650"/>
            <a:ext cx="3619500" cy="342900"/>
          </a:xfrm>
          <a:prstGeom prst="rect">
            <a:avLst/>
          </a:prstGeom>
          <a:noFill/>
          <a:ln w="0">
            <a:noFill/>
          </a:ln>
        </p:spPr>
        <p:txBody>
          <a:bodyPr>
            <a:normAutofit fontScale="64706"/>
          </a:bodyPr>
          <a:lstStyle/>
          <a:p>
            <a:pPr>
              <a:defRPr sz="2550" b="1">
                <a:solidFill>
                  <a:srgbClr val="2667D8"/>
                </a:solidFill>
                <a:latin typeface="Arial"/>
                <a:ea typeface="Arial"/>
                <a:cs typeface="Arial"/>
              </a:defRPr>
            </a:pPr>
            <a:r>
              <a:rPr sz="2550" b="1">
                <a:solidFill>
                  <a:srgbClr val="2667D8"/>
                </a:solidFill>
                <a:latin typeface="Arial"/>
                <a:ea typeface="Arial"/>
                <a:cs typeface="Arial"/>
              </a:rPr>
              <a:t>Cover video</a:t>
            </a:r>
          </a:p>
        </p:txBody>
      </p:sp>
      <p:sp>
        <p:nvSpPr>
          <p:cNvPr id="7" name="Rectangle 6">
            <a:extLst>
              <a:ext uri="{FF2B5EF4-FFF2-40B4-BE49-F238E27FC236}">
                <a16:creationId xmlns:a16="http://schemas.microsoft.com/office/drawing/2014/main" id="{2AE646F9-2223-4A36-B8BD-42AF0557A37B}"/>
              </a:ext>
            </a:extLst>
          </p:cNvPr>
          <p:cNvSpPr>
            <a:spLocks noGrp="1"/>
          </p:cNvSpPr>
          <p:nvPr/>
        </p:nvSpPr>
        <p:spPr>
          <a:xfrm>
            <a:off x="609600" y="2343150"/>
            <a:ext cx="3714750" cy="295275"/>
          </a:xfrm>
          <a:prstGeom prst="rect">
            <a:avLst/>
          </a:prstGeom>
          <a:noFill/>
          <a:ln w="0">
            <a:noFill/>
          </a:ln>
        </p:spPr>
        <p:txBody>
          <a:bodyPr>
            <a:normAutofit fontScale="71333"/>
          </a:bodyPr>
          <a:lstStyle/>
          <a:p>
            <a:pPr>
              <a:defRPr sz="1875" b="1">
                <a:solidFill>
                  <a:srgbClr val="10213D"/>
                </a:solidFill>
                <a:latin typeface="Arial"/>
                <a:ea typeface="Arial"/>
                <a:cs typeface="Arial"/>
              </a:defRPr>
            </a:pPr>
            <a:r>
              <a:rPr sz="1875" b="1">
                <a:solidFill>
                  <a:srgbClr val="10213D"/>
                </a:solidFill>
                <a:latin typeface="Arial"/>
                <a:ea typeface="Arial"/>
                <a:cs typeface="Arial"/>
              </a:rPr>
              <a:t>Là video H.264 gốc dùng làm vật mang.</a:t>
            </a:r>
          </a:p>
        </p:txBody>
      </p:sp>
      <p:sp>
        <p:nvSpPr>
          <p:cNvPr id="8" name="Rectangle 7">
            <a:extLst>
              <a:ext uri="{FF2B5EF4-FFF2-40B4-BE49-F238E27FC236}">
                <a16:creationId xmlns:a16="http://schemas.microsoft.com/office/drawing/2014/main" id="{72A5845F-CB47-45C1-95E4-115A6F826539}"/>
              </a:ext>
            </a:extLst>
          </p:cNvPr>
          <p:cNvSpPr>
            <a:spLocks noGrp="1"/>
          </p:cNvSpPr>
          <p:nvPr/>
        </p:nvSpPr>
        <p:spPr>
          <a:xfrm>
            <a:off x="609600" y="2895600"/>
            <a:ext cx="3667125" cy="1047750"/>
          </a:xfrm>
          <a:prstGeom prst="rect">
            <a:avLst/>
          </a:prstGeom>
          <a:noFill/>
          <a:ln w="0">
            <a:noFill/>
          </a:ln>
        </p:spPr>
        <p:txBody>
          <a:bodyPr>
            <a:normAutofit fontScale="90942"/>
          </a:bodyPr>
          <a:lstStyle/>
          <a:p>
            <a:pPr>
              <a:defRPr sz="1725">
                <a:solidFill>
                  <a:srgbClr val="5A6780"/>
                </a:solidFill>
                <a:latin typeface="Arial"/>
                <a:ea typeface="Arial"/>
                <a:cs typeface="Arial"/>
              </a:defRPr>
            </a:pPr>
            <a:r>
              <a:rPr sz="1725">
                <a:solidFill>
                  <a:srgbClr val="5A6780"/>
                </a:solidFill>
                <a:latin typeface="Arial"/>
                <a:ea typeface="Arial"/>
                <a:cs typeface="Arial"/>
              </a:rPr>
              <a:t>Người xem vẫn thấy video bình thường. Hệ thống chỉ lật dấu của vài coefficient ±1; stream vẫn hợp lệ.</a:t>
            </a:r>
          </a:p>
        </p:txBody>
      </p:sp>
      <p:sp>
        <p:nvSpPr>
          <p:cNvPr id="9" name="Rectangle: Rounded Corners 8">
            <a:extLst>
              <a:ext uri="{FF2B5EF4-FFF2-40B4-BE49-F238E27FC236}">
                <a16:creationId xmlns:a16="http://schemas.microsoft.com/office/drawing/2014/main" id="{CA326DEA-1501-4A07-91FD-AB2909D1DB1E}"/>
              </a:ext>
            </a:extLst>
          </p:cNvPr>
          <p:cNvSpPr>
            <a:spLocks noGrp="1"/>
          </p:cNvSpPr>
          <p:nvPr/>
        </p:nvSpPr>
        <p:spPr>
          <a:xfrm>
            <a:off x="609600" y="4295775"/>
            <a:ext cx="3762375" cy="990600"/>
          </a:xfrm>
          <a:prstGeom prst="roundRect">
            <a:avLst>
              <a:gd name="adj" fmla="val 7692"/>
            </a:avLst>
          </a:prstGeom>
          <a:solidFill>
            <a:srgbClr val="EAF5FF"/>
          </a:solidFill>
          <a:ln w="9525">
            <a:solidFill>
              <a:srgbClr val="B7D8F5"/>
            </a:solidFill>
          </a:ln>
        </p:spPr>
        <p:txBody>
          <a:bodyPr/>
          <a:lstStyle/>
          <a:p>
            <a:endParaRPr lang="en-US"/>
          </a:p>
        </p:txBody>
      </p:sp>
      <p:sp>
        <p:nvSpPr>
          <p:cNvPr id="10" name="Rectangle 9">
            <a:extLst>
              <a:ext uri="{FF2B5EF4-FFF2-40B4-BE49-F238E27FC236}">
                <a16:creationId xmlns:a16="http://schemas.microsoft.com/office/drawing/2014/main" id="{E9514B41-42A3-4AC6-8800-AC13B897D8F6}"/>
              </a:ext>
            </a:extLst>
          </p:cNvPr>
          <p:cNvSpPr>
            <a:spLocks noGrp="1"/>
          </p:cNvSpPr>
          <p:nvPr/>
        </p:nvSpPr>
        <p:spPr>
          <a:xfrm>
            <a:off x="838200" y="4495800"/>
            <a:ext cx="2857500" cy="247650"/>
          </a:xfrm>
          <a:prstGeom prst="rect">
            <a:avLst/>
          </a:prstGeom>
          <a:noFill/>
          <a:ln w="0">
            <a:noFill/>
          </a:ln>
        </p:spPr>
        <p:txBody>
          <a:bodyPr>
            <a:normAutofit fontScale="64444" lnSpcReduction="10000"/>
          </a:bodyPr>
          <a:lstStyle/>
          <a:p>
            <a:pPr>
              <a:defRPr sz="1800" b="1">
                <a:solidFill>
                  <a:srgbClr val="2667D8"/>
                </a:solidFill>
                <a:latin typeface="Arial"/>
                <a:ea typeface="Arial"/>
                <a:cs typeface="Arial"/>
              </a:defRPr>
            </a:pPr>
            <a:r>
              <a:rPr sz="1800" b="1" dirty="0" err="1">
                <a:solidFill>
                  <a:srgbClr val="2667D8"/>
                </a:solidFill>
                <a:latin typeface="Arial"/>
                <a:ea typeface="Arial"/>
                <a:cs typeface="Arial"/>
              </a:rPr>
              <a:t>Đầu</a:t>
            </a:r>
            <a:r>
              <a:rPr sz="1800" b="1" dirty="0">
                <a:solidFill>
                  <a:srgbClr val="2667D8"/>
                </a:solidFill>
                <a:latin typeface="Arial"/>
                <a:ea typeface="Arial"/>
                <a:cs typeface="Arial"/>
              </a:rPr>
              <a:t> </a:t>
            </a:r>
            <a:r>
              <a:rPr sz="1800" b="1" dirty="0" err="1">
                <a:solidFill>
                  <a:srgbClr val="2667D8"/>
                </a:solidFill>
                <a:latin typeface="Arial"/>
                <a:ea typeface="Arial"/>
                <a:cs typeface="Arial"/>
              </a:rPr>
              <a:t>ra</a:t>
            </a:r>
            <a:r>
              <a:rPr sz="1800" b="1" dirty="0">
                <a:solidFill>
                  <a:srgbClr val="2667D8"/>
                </a:solidFill>
                <a:latin typeface="Arial"/>
                <a:ea typeface="Arial"/>
                <a:cs typeface="Arial"/>
              </a:rPr>
              <a:t>: stego.h264</a:t>
            </a:r>
          </a:p>
        </p:txBody>
      </p:sp>
      <p:sp>
        <p:nvSpPr>
          <p:cNvPr id="12" name="Rectangle 11">
            <a:extLst>
              <a:ext uri="{FF2B5EF4-FFF2-40B4-BE49-F238E27FC236}">
                <a16:creationId xmlns:a16="http://schemas.microsoft.com/office/drawing/2014/main" id="{988DE2CD-6527-42D4-97EC-842ADF526443}"/>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3" name="Rectangle 12">
            <a:extLst>
              <a:ext uri="{FF2B5EF4-FFF2-40B4-BE49-F238E27FC236}">
                <a16:creationId xmlns:a16="http://schemas.microsoft.com/office/drawing/2014/main" id="{EE63C10F-A7C2-4F99-95A2-12B5DDC270B5}"/>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03</a:t>
            </a:r>
          </a:p>
        </p:txBody>
      </p:sp>
    </p:spTree>
    <p:extLst>
      <p:ext uri="{BB962C8B-B14F-4D97-AF65-F5344CB8AC3E}">
        <p14:creationId xmlns:p14="http://schemas.microsoft.com/office/powerpoint/2010/main" val="16866305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A8BB2B3B-05A5-4598-A1CE-9CABDB8AAD9F}"/>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Định dạng input mà Native CAVLC nhận</a:t>
            </a:r>
          </a:p>
        </p:txBody>
      </p:sp>
      <p:sp>
        <p:nvSpPr>
          <p:cNvPr id="2" name="Rectangle 1">
            <a:extLst>
              <a:ext uri="{FF2B5EF4-FFF2-40B4-BE49-F238E27FC236}">
                <a16:creationId xmlns:a16="http://schemas.microsoft.com/office/drawing/2014/main" id="{17185304-C581-4012-84D5-EBC4986FA526}"/>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Native path đọc elementary stream H.264 Annex-B. Container như MP4 không đi thẳng vào parser.</a:t>
            </a:r>
          </a:p>
        </p:txBody>
      </p:sp>
      <p:sp>
        <p:nvSpPr>
          <p:cNvPr id="3" name="Straight Connector 2">
            <a:extLst>
              <a:ext uri="{FF2B5EF4-FFF2-40B4-BE49-F238E27FC236}">
                <a16:creationId xmlns:a16="http://schemas.microsoft.com/office/drawing/2014/main" id="{6977752A-320D-423B-91A8-287F31174896}"/>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DE53ED49-7193-4314-978E-94723A7B676A}"/>
              </a:ext>
            </a:extLst>
          </p:cNvPr>
          <p:cNvSpPr>
            <a:spLocks noGrp="1"/>
          </p:cNvSpPr>
          <p:nvPr/>
        </p:nvSpPr>
        <p:spPr>
          <a:xfrm>
            <a:off x="509587" y="1495425"/>
            <a:ext cx="11201400" cy="3352800"/>
          </a:xfrm>
          <a:prstGeom prst="roundRect">
            <a:avLst>
              <a:gd name="adj" fmla="val 2273"/>
            </a:avLst>
          </a:prstGeom>
          <a:solidFill>
            <a:srgbClr val="FFFFFF"/>
          </a:solidFill>
          <a:ln w="9525">
            <a:solidFill>
              <a:srgbClr val="D6DFEB"/>
            </a:solidFill>
          </a:ln>
        </p:spPr>
        <p:txBody>
          <a:bodyPr/>
          <a:lstStyle/>
          <a:p>
            <a:endParaRPr lang="en-US"/>
          </a:p>
        </p:txBody>
      </p:sp>
      <p:sp>
        <p:nvSpPr>
          <p:cNvPr id="5" name="Rectangle 4">
            <a:extLst>
              <a:ext uri="{FF2B5EF4-FFF2-40B4-BE49-F238E27FC236}">
                <a16:creationId xmlns:a16="http://schemas.microsoft.com/office/drawing/2014/main" id="{A283B172-CA85-400A-8240-1FDB1D31B8F2}"/>
              </a:ext>
            </a:extLst>
          </p:cNvPr>
          <p:cNvSpPr>
            <a:spLocks noGrp="1"/>
          </p:cNvSpPr>
          <p:nvPr/>
        </p:nvSpPr>
        <p:spPr>
          <a:xfrm>
            <a:off x="781050" y="1809750"/>
            <a:ext cx="25717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Đầu vào</a:t>
            </a:r>
          </a:p>
        </p:txBody>
      </p:sp>
      <p:sp>
        <p:nvSpPr>
          <p:cNvPr id="6" name="Rectangle 5">
            <a:extLst>
              <a:ext uri="{FF2B5EF4-FFF2-40B4-BE49-F238E27FC236}">
                <a16:creationId xmlns:a16="http://schemas.microsoft.com/office/drawing/2014/main" id="{ABD274DC-05D6-40CE-A837-42B21264ABA7}"/>
              </a:ext>
            </a:extLst>
          </p:cNvPr>
          <p:cNvSpPr>
            <a:spLocks noGrp="1"/>
          </p:cNvSpPr>
          <p:nvPr/>
        </p:nvSpPr>
        <p:spPr>
          <a:xfrm>
            <a:off x="3714750" y="1809750"/>
            <a:ext cx="20002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Trạng thái</a:t>
            </a:r>
          </a:p>
        </p:txBody>
      </p:sp>
      <p:sp>
        <p:nvSpPr>
          <p:cNvPr id="7" name="Rectangle 6">
            <a:extLst>
              <a:ext uri="{FF2B5EF4-FFF2-40B4-BE49-F238E27FC236}">
                <a16:creationId xmlns:a16="http://schemas.microsoft.com/office/drawing/2014/main" id="{16E33814-A8A9-4140-BD60-8A5199888BDA}"/>
              </a:ext>
            </a:extLst>
          </p:cNvPr>
          <p:cNvSpPr>
            <a:spLocks noGrp="1"/>
          </p:cNvSpPr>
          <p:nvPr/>
        </p:nvSpPr>
        <p:spPr>
          <a:xfrm>
            <a:off x="6048375" y="1809750"/>
            <a:ext cx="48577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Native làm gì?</a:t>
            </a:r>
          </a:p>
        </p:txBody>
      </p:sp>
      <p:sp>
        <p:nvSpPr>
          <p:cNvPr id="8" name="Straight Connector 7">
            <a:extLst>
              <a:ext uri="{FF2B5EF4-FFF2-40B4-BE49-F238E27FC236}">
                <a16:creationId xmlns:a16="http://schemas.microsoft.com/office/drawing/2014/main" id="{2F56268C-C771-4B67-A544-F9B3E4D03560}"/>
              </a:ext>
            </a:extLst>
          </p:cNvPr>
          <p:cNvSpPr>
            <a:spLocks noGrp="1"/>
          </p:cNvSpPr>
          <p:nvPr/>
        </p:nvSpPr>
        <p:spPr>
          <a:xfrm>
            <a:off x="742950" y="2143125"/>
            <a:ext cx="10706100" cy="0"/>
          </a:xfrm>
          <a:prstGeom prst="line">
            <a:avLst/>
          </a:prstGeom>
          <a:noFill/>
          <a:ln w="9525">
            <a:solidFill>
              <a:srgbClr val="D6DFEB"/>
            </a:solidFill>
          </a:ln>
        </p:spPr>
        <p:txBody>
          <a:bodyPr/>
          <a:lstStyle/>
          <a:p>
            <a:endParaRPr lang="en-US"/>
          </a:p>
        </p:txBody>
      </p:sp>
      <p:sp>
        <p:nvSpPr>
          <p:cNvPr id="9" name="Rectangle 8">
            <a:extLst>
              <a:ext uri="{FF2B5EF4-FFF2-40B4-BE49-F238E27FC236}">
                <a16:creationId xmlns:a16="http://schemas.microsoft.com/office/drawing/2014/main" id="{18B424B8-DB06-490E-8681-14E8F567A67B}"/>
              </a:ext>
            </a:extLst>
          </p:cNvPr>
          <p:cNvSpPr>
            <a:spLocks noGrp="1"/>
          </p:cNvSpPr>
          <p:nvPr/>
        </p:nvSpPr>
        <p:spPr>
          <a:xfrm>
            <a:off x="781050" y="2314575"/>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.h264 / Annex-B</a:t>
            </a:r>
          </a:p>
        </p:txBody>
      </p:sp>
      <p:sp>
        <p:nvSpPr>
          <p:cNvPr id="10" name="Rectangle 9">
            <a:extLst>
              <a:ext uri="{FF2B5EF4-FFF2-40B4-BE49-F238E27FC236}">
                <a16:creationId xmlns:a16="http://schemas.microsoft.com/office/drawing/2014/main" id="{561CDB8D-84BB-49A1-AA8F-E4AA4E5053A4}"/>
              </a:ext>
            </a:extLst>
          </p:cNvPr>
          <p:cNvSpPr>
            <a:spLocks noGrp="1"/>
          </p:cNvSpPr>
          <p:nvPr/>
        </p:nvSpPr>
        <p:spPr>
          <a:xfrm>
            <a:off x="3714750" y="2314575"/>
            <a:ext cx="2000250" cy="266700"/>
          </a:xfrm>
          <a:prstGeom prst="rect">
            <a:avLst/>
          </a:prstGeom>
          <a:noFill/>
          <a:ln w="0">
            <a:noFill/>
          </a:ln>
        </p:spPr>
        <p:txBody>
          <a:bodyPr>
            <a:normAutofit fontScale="76667"/>
          </a:bodyPr>
          <a:lstStyle/>
          <a:p>
            <a:pPr>
              <a:defRPr sz="1500" b="1">
                <a:solidFill>
                  <a:srgbClr val="25A36F"/>
                </a:solidFill>
                <a:latin typeface="Arial"/>
                <a:ea typeface="Arial"/>
                <a:cs typeface="Arial"/>
              </a:defRPr>
            </a:pPr>
            <a:r>
              <a:rPr sz="1500" b="1">
                <a:solidFill>
                  <a:srgbClr val="25A36F"/>
                </a:solidFill>
                <a:latin typeface="Arial"/>
                <a:ea typeface="Arial"/>
                <a:cs typeface="Arial"/>
              </a:rPr>
              <a:t>Nhận trực tiếp</a:t>
            </a:r>
          </a:p>
        </p:txBody>
      </p:sp>
      <p:sp>
        <p:nvSpPr>
          <p:cNvPr id="11" name="Rectangle 10">
            <a:extLst>
              <a:ext uri="{FF2B5EF4-FFF2-40B4-BE49-F238E27FC236}">
                <a16:creationId xmlns:a16="http://schemas.microsoft.com/office/drawing/2014/main" id="{FF1748BF-AEE6-4A98-A66E-D90FEC0EEF87}"/>
              </a:ext>
            </a:extLst>
          </p:cNvPr>
          <p:cNvSpPr>
            <a:spLocks noGrp="1"/>
          </p:cNvSpPr>
          <p:nvPr/>
        </p:nvSpPr>
        <p:spPr>
          <a:xfrm>
            <a:off x="6048375" y="2314575"/>
            <a:ext cx="5095875" cy="371475"/>
          </a:xfrm>
          <a:prstGeom prst="rect">
            <a:avLst/>
          </a:prstGeom>
          <a:noFill/>
          <a:ln w="0">
            <a:noFill/>
          </a:ln>
        </p:spPr>
        <p:txBody>
          <a:bodyPr>
            <a:normAutofit/>
          </a:bodyPr>
          <a:lstStyle/>
          <a:p>
            <a:pPr>
              <a:defRPr sz="1500">
                <a:solidFill>
                  <a:srgbClr val="5A6780"/>
                </a:solidFill>
                <a:latin typeface="Arial"/>
                <a:ea typeface="Arial"/>
                <a:cs typeface="Arial"/>
              </a:defRPr>
            </a:pPr>
            <a:r>
              <a:rPr sz="1500">
                <a:solidFill>
                  <a:srgbClr val="5A6780"/>
                </a:solidFill>
                <a:latin typeface="Arial"/>
                <a:ea typeface="Arial"/>
                <a:cs typeface="Arial"/>
              </a:rPr>
              <a:t>Cần start code 00 00 01 hoặc 00 00 00 01</a:t>
            </a:r>
          </a:p>
        </p:txBody>
      </p:sp>
      <p:sp>
        <p:nvSpPr>
          <p:cNvPr id="12" name="Straight Connector 11">
            <a:extLst>
              <a:ext uri="{FF2B5EF4-FFF2-40B4-BE49-F238E27FC236}">
                <a16:creationId xmlns:a16="http://schemas.microsoft.com/office/drawing/2014/main" id="{7FBE73AB-F431-40FA-BD98-C7E92A35F783}"/>
              </a:ext>
            </a:extLst>
          </p:cNvPr>
          <p:cNvSpPr>
            <a:spLocks noGrp="1"/>
          </p:cNvSpPr>
          <p:nvPr/>
        </p:nvSpPr>
        <p:spPr>
          <a:xfrm>
            <a:off x="742950" y="2781300"/>
            <a:ext cx="10706100" cy="0"/>
          </a:xfrm>
          <a:prstGeom prst="line">
            <a:avLst/>
          </a:prstGeom>
          <a:noFill/>
          <a:ln w="9525">
            <a:solidFill>
              <a:srgbClr val="E8EDF4"/>
            </a:solidFill>
          </a:ln>
        </p:spPr>
        <p:txBody>
          <a:bodyPr/>
          <a:lstStyle/>
          <a:p>
            <a:endParaRPr lang="en-US"/>
          </a:p>
        </p:txBody>
      </p:sp>
      <p:sp>
        <p:nvSpPr>
          <p:cNvPr id="13" name="Rectangle 12">
            <a:extLst>
              <a:ext uri="{FF2B5EF4-FFF2-40B4-BE49-F238E27FC236}">
                <a16:creationId xmlns:a16="http://schemas.microsoft.com/office/drawing/2014/main" id="{9AB7D901-0825-4EE7-A5D3-CC821AD01C71}"/>
              </a:ext>
            </a:extLst>
          </p:cNvPr>
          <p:cNvSpPr>
            <a:spLocks noGrp="1"/>
          </p:cNvSpPr>
          <p:nvPr/>
        </p:nvSpPr>
        <p:spPr>
          <a:xfrm>
            <a:off x="781050" y="2952750"/>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H.264 binary chunks</a:t>
            </a:r>
          </a:p>
        </p:txBody>
      </p:sp>
      <p:sp>
        <p:nvSpPr>
          <p:cNvPr id="14" name="Rectangle 13">
            <a:extLst>
              <a:ext uri="{FF2B5EF4-FFF2-40B4-BE49-F238E27FC236}">
                <a16:creationId xmlns:a16="http://schemas.microsoft.com/office/drawing/2014/main" id="{9EA4AFA3-AE97-43DC-9989-74621F13FDBF}"/>
              </a:ext>
            </a:extLst>
          </p:cNvPr>
          <p:cNvSpPr>
            <a:spLocks noGrp="1"/>
          </p:cNvSpPr>
          <p:nvPr/>
        </p:nvSpPr>
        <p:spPr>
          <a:xfrm>
            <a:off x="3714750" y="2952750"/>
            <a:ext cx="2000250" cy="266700"/>
          </a:xfrm>
          <a:prstGeom prst="rect">
            <a:avLst/>
          </a:prstGeom>
          <a:noFill/>
          <a:ln w="0">
            <a:noFill/>
          </a:ln>
        </p:spPr>
        <p:txBody>
          <a:bodyPr>
            <a:normAutofit fontScale="76667"/>
          </a:bodyPr>
          <a:lstStyle/>
          <a:p>
            <a:pPr>
              <a:defRPr sz="1500" b="1">
                <a:solidFill>
                  <a:srgbClr val="25A36F"/>
                </a:solidFill>
                <a:latin typeface="Arial"/>
                <a:ea typeface="Arial"/>
                <a:cs typeface="Arial"/>
              </a:defRPr>
            </a:pPr>
            <a:r>
              <a:rPr sz="1500" b="1">
                <a:solidFill>
                  <a:srgbClr val="25A36F"/>
                </a:solidFill>
                <a:latin typeface="Arial"/>
                <a:ea typeface="Arial"/>
                <a:cs typeface="Arial"/>
              </a:rPr>
              <a:t>Nhận trực tiếp</a:t>
            </a:r>
          </a:p>
        </p:txBody>
      </p:sp>
      <p:sp>
        <p:nvSpPr>
          <p:cNvPr id="15" name="Rectangle 14">
            <a:extLst>
              <a:ext uri="{FF2B5EF4-FFF2-40B4-BE49-F238E27FC236}">
                <a16:creationId xmlns:a16="http://schemas.microsoft.com/office/drawing/2014/main" id="{4B34A15A-B5BC-4B4E-9C15-09A6F300534E}"/>
              </a:ext>
            </a:extLst>
          </p:cNvPr>
          <p:cNvSpPr>
            <a:spLocks noGrp="1"/>
          </p:cNvSpPr>
          <p:nvPr/>
        </p:nvSpPr>
        <p:spPr>
          <a:xfrm>
            <a:off x="6048375" y="2952750"/>
            <a:ext cx="5095875" cy="371475"/>
          </a:xfrm>
          <a:prstGeom prst="rect">
            <a:avLst/>
          </a:prstGeom>
          <a:noFill/>
          <a:ln w="0">
            <a:noFill/>
          </a:ln>
        </p:spPr>
        <p:txBody>
          <a:bodyPr>
            <a:normAutofit/>
          </a:bodyPr>
          <a:lstStyle/>
          <a:p>
            <a:pPr>
              <a:defRPr sz="1500">
                <a:solidFill>
                  <a:srgbClr val="5A6780"/>
                </a:solidFill>
                <a:latin typeface="Arial"/>
                <a:ea typeface="Arial"/>
                <a:cs typeface="Arial"/>
              </a:defRPr>
            </a:pPr>
            <a:r>
              <a:rPr sz="1500">
                <a:solidFill>
                  <a:srgbClr val="5A6780"/>
                </a:solidFill>
                <a:latin typeface="Arial"/>
                <a:ea typeface="Arial"/>
                <a:cs typeface="Arial"/>
              </a:rPr>
              <a:t>Đường WebSocket, adapter đưa chunk vào stdin native</a:t>
            </a:r>
          </a:p>
        </p:txBody>
      </p:sp>
      <p:sp>
        <p:nvSpPr>
          <p:cNvPr id="16" name="Straight Connector 15">
            <a:extLst>
              <a:ext uri="{FF2B5EF4-FFF2-40B4-BE49-F238E27FC236}">
                <a16:creationId xmlns:a16="http://schemas.microsoft.com/office/drawing/2014/main" id="{6125129E-215F-4399-B840-F469DB9AA295}"/>
              </a:ext>
            </a:extLst>
          </p:cNvPr>
          <p:cNvSpPr>
            <a:spLocks noGrp="1"/>
          </p:cNvSpPr>
          <p:nvPr/>
        </p:nvSpPr>
        <p:spPr>
          <a:xfrm>
            <a:off x="742950" y="3419475"/>
            <a:ext cx="10706100" cy="0"/>
          </a:xfrm>
          <a:prstGeom prst="line">
            <a:avLst/>
          </a:prstGeom>
          <a:noFill/>
          <a:ln w="9525">
            <a:solidFill>
              <a:srgbClr val="E8EDF4"/>
            </a:solidFill>
          </a:ln>
        </p:spPr>
        <p:txBody>
          <a:bodyPr/>
          <a:lstStyle/>
          <a:p>
            <a:endParaRPr lang="en-US"/>
          </a:p>
        </p:txBody>
      </p:sp>
      <p:sp>
        <p:nvSpPr>
          <p:cNvPr id="17" name="Rectangle 16">
            <a:extLst>
              <a:ext uri="{FF2B5EF4-FFF2-40B4-BE49-F238E27FC236}">
                <a16:creationId xmlns:a16="http://schemas.microsoft.com/office/drawing/2014/main" id="{09CF18E1-71C5-4ABA-BF15-5D7A2349FE0E}"/>
              </a:ext>
            </a:extLst>
          </p:cNvPr>
          <p:cNvSpPr>
            <a:spLocks noGrp="1"/>
          </p:cNvSpPr>
          <p:nvPr/>
        </p:nvSpPr>
        <p:spPr>
          <a:xfrm>
            <a:off x="781050" y="3590925"/>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.mp4 · .mov · .mkv</a:t>
            </a:r>
          </a:p>
        </p:txBody>
      </p:sp>
      <p:sp>
        <p:nvSpPr>
          <p:cNvPr id="18" name="Rectangle 17">
            <a:extLst>
              <a:ext uri="{FF2B5EF4-FFF2-40B4-BE49-F238E27FC236}">
                <a16:creationId xmlns:a16="http://schemas.microsoft.com/office/drawing/2014/main" id="{6B93EF7F-D159-4D1C-BC83-01024F2F56E4}"/>
              </a:ext>
            </a:extLst>
          </p:cNvPr>
          <p:cNvSpPr>
            <a:spLocks noGrp="1"/>
          </p:cNvSpPr>
          <p:nvPr/>
        </p:nvSpPr>
        <p:spPr>
          <a:xfrm>
            <a:off x="3714750" y="3590925"/>
            <a:ext cx="2000250" cy="266700"/>
          </a:xfrm>
          <a:prstGeom prst="rect">
            <a:avLst/>
          </a:prstGeom>
          <a:noFill/>
          <a:ln w="0">
            <a:noFill/>
          </a:ln>
        </p:spPr>
        <p:txBody>
          <a:bodyPr>
            <a:normAutofit fontScale="76667"/>
          </a:bodyPr>
          <a:lstStyle/>
          <a:p>
            <a:pPr>
              <a:defRPr sz="1500" b="1">
                <a:solidFill>
                  <a:srgbClr val="F2994A"/>
                </a:solidFill>
                <a:latin typeface="Arial"/>
                <a:ea typeface="Arial"/>
                <a:cs typeface="Arial"/>
              </a:defRPr>
            </a:pPr>
            <a:r>
              <a:rPr sz="1500" b="1">
                <a:solidFill>
                  <a:srgbClr val="F2994A"/>
                </a:solidFill>
                <a:latin typeface="Arial"/>
                <a:ea typeface="Arial"/>
                <a:cs typeface="Arial"/>
              </a:rPr>
              <a:t>Cần chuyển đổi</a:t>
            </a:r>
          </a:p>
        </p:txBody>
      </p:sp>
      <p:sp>
        <p:nvSpPr>
          <p:cNvPr id="19" name="Rectangle 18">
            <a:extLst>
              <a:ext uri="{FF2B5EF4-FFF2-40B4-BE49-F238E27FC236}">
                <a16:creationId xmlns:a16="http://schemas.microsoft.com/office/drawing/2014/main" id="{87CEFDB5-43D0-4231-B7F5-BEEB820E7037}"/>
              </a:ext>
            </a:extLst>
          </p:cNvPr>
          <p:cNvSpPr>
            <a:spLocks noGrp="1"/>
          </p:cNvSpPr>
          <p:nvPr/>
        </p:nvSpPr>
        <p:spPr>
          <a:xfrm>
            <a:off x="6048375" y="3495675"/>
            <a:ext cx="5095875" cy="371475"/>
          </a:xfrm>
          <a:prstGeom prst="rect">
            <a:avLst/>
          </a:prstGeom>
          <a:noFill/>
          <a:ln w="0">
            <a:noFill/>
          </a:ln>
        </p:spPr>
        <p:txBody>
          <a:bodyPr>
            <a:normAutofit fontScale="90607"/>
          </a:bodyPr>
          <a:lstStyle/>
          <a:p>
            <a:pPr>
              <a:defRPr sz="1500">
                <a:solidFill>
                  <a:srgbClr val="5A6780"/>
                </a:solidFill>
                <a:latin typeface="Arial"/>
                <a:ea typeface="Arial"/>
                <a:cs typeface="Arial"/>
              </a:defRPr>
            </a:pPr>
            <a:r>
              <a:rPr sz="1500" dirty="0" err="1">
                <a:solidFill>
                  <a:srgbClr val="5A6780"/>
                </a:solidFill>
                <a:latin typeface="Arial"/>
                <a:ea typeface="Arial"/>
                <a:cs typeface="Arial"/>
              </a:rPr>
              <a:t>Dùng</a:t>
            </a:r>
            <a:r>
              <a:rPr sz="1500" dirty="0">
                <a:solidFill>
                  <a:srgbClr val="5A6780"/>
                </a:solidFill>
                <a:latin typeface="Arial"/>
                <a:ea typeface="Arial"/>
                <a:cs typeface="Arial"/>
              </a:rPr>
              <a:t> </a:t>
            </a:r>
            <a:r>
              <a:rPr sz="1500" dirty="0" err="1">
                <a:solidFill>
                  <a:srgbClr val="5A6780"/>
                </a:solidFill>
                <a:latin typeface="Arial"/>
                <a:ea typeface="Arial"/>
                <a:cs typeface="Arial"/>
              </a:rPr>
              <a:t>FFmpeg</a:t>
            </a:r>
            <a:r>
              <a:rPr sz="1500" dirty="0">
                <a:solidFill>
                  <a:srgbClr val="5A6780"/>
                </a:solidFill>
                <a:latin typeface="Arial"/>
                <a:ea typeface="Arial"/>
                <a:cs typeface="Arial"/>
              </a:rPr>
              <a:t> </a:t>
            </a:r>
            <a:r>
              <a:rPr sz="1500" dirty="0" err="1">
                <a:solidFill>
                  <a:srgbClr val="5A6780"/>
                </a:solidFill>
                <a:latin typeface="Arial"/>
                <a:ea typeface="Arial"/>
                <a:cs typeface="Arial"/>
              </a:rPr>
              <a:t>để</a:t>
            </a:r>
            <a:r>
              <a:rPr sz="1500" dirty="0">
                <a:solidFill>
                  <a:srgbClr val="5A6780"/>
                </a:solidFill>
                <a:latin typeface="Arial"/>
                <a:ea typeface="Arial"/>
                <a:cs typeface="Arial"/>
              </a:rPr>
              <a:t> </a:t>
            </a:r>
            <a:r>
              <a:rPr sz="1500" dirty="0" err="1">
                <a:solidFill>
                  <a:srgbClr val="5A6780"/>
                </a:solidFill>
                <a:latin typeface="Arial"/>
                <a:ea typeface="Arial"/>
                <a:cs typeface="Arial"/>
              </a:rPr>
              <a:t>xuất</a:t>
            </a:r>
            <a:r>
              <a:rPr sz="1500" dirty="0">
                <a:solidFill>
                  <a:srgbClr val="5A6780"/>
                </a:solidFill>
                <a:latin typeface="Arial"/>
                <a:ea typeface="Arial"/>
                <a:cs typeface="Arial"/>
              </a:rPr>
              <a:t> raw H.264 Annex-B </a:t>
            </a:r>
            <a:r>
              <a:rPr sz="1500" dirty="0" err="1">
                <a:solidFill>
                  <a:srgbClr val="5A6780"/>
                </a:solidFill>
                <a:latin typeface="Arial"/>
                <a:ea typeface="Arial"/>
                <a:cs typeface="Arial"/>
              </a:rPr>
              <a:t>trước</a:t>
            </a:r>
            <a:r>
              <a:rPr sz="1500" dirty="0">
                <a:solidFill>
                  <a:srgbClr val="5A6780"/>
                </a:solidFill>
                <a:latin typeface="Arial"/>
                <a:ea typeface="Arial"/>
                <a:cs typeface="Arial"/>
              </a:rPr>
              <a:t> </a:t>
            </a:r>
            <a:r>
              <a:rPr sz="1500" dirty="0" err="1">
                <a:solidFill>
                  <a:srgbClr val="5A6780"/>
                </a:solidFill>
                <a:latin typeface="Arial"/>
                <a:ea typeface="Arial"/>
                <a:cs typeface="Arial"/>
              </a:rPr>
              <a:t>khi</a:t>
            </a:r>
            <a:r>
              <a:rPr sz="1500" dirty="0">
                <a:solidFill>
                  <a:srgbClr val="5A6780"/>
                </a:solidFill>
                <a:latin typeface="Arial"/>
                <a:ea typeface="Arial"/>
                <a:cs typeface="Arial"/>
              </a:rPr>
              <a:t> </a:t>
            </a:r>
            <a:r>
              <a:rPr sz="1500" dirty="0" err="1">
                <a:solidFill>
                  <a:srgbClr val="5A6780"/>
                </a:solidFill>
                <a:latin typeface="Arial"/>
                <a:ea typeface="Arial"/>
                <a:cs typeface="Arial"/>
              </a:rPr>
              <a:t>nhúng</a:t>
            </a:r>
            <a:endParaRPr sz="1500" dirty="0">
              <a:solidFill>
                <a:srgbClr val="5A6780"/>
              </a:solidFill>
              <a:latin typeface="Arial"/>
              <a:ea typeface="Arial"/>
              <a:cs typeface="Arial"/>
            </a:endParaRPr>
          </a:p>
        </p:txBody>
      </p:sp>
      <p:sp>
        <p:nvSpPr>
          <p:cNvPr id="20" name="Straight Connector 19">
            <a:extLst>
              <a:ext uri="{FF2B5EF4-FFF2-40B4-BE49-F238E27FC236}">
                <a16:creationId xmlns:a16="http://schemas.microsoft.com/office/drawing/2014/main" id="{12D26A29-FC84-4956-B5B4-752B2300A417}"/>
              </a:ext>
            </a:extLst>
          </p:cNvPr>
          <p:cNvSpPr>
            <a:spLocks noGrp="1"/>
          </p:cNvSpPr>
          <p:nvPr/>
        </p:nvSpPr>
        <p:spPr>
          <a:xfrm>
            <a:off x="742950" y="4057650"/>
            <a:ext cx="10706100" cy="0"/>
          </a:xfrm>
          <a:prstGeom prst="line">
            <a:avLst/>
          </a:prstGeom>
          <a:noFill/>
          <a:ln w="9525">
            <a:solidFill>
              <a:srgbClr val="E8EDF4"/>
            </a:solidFill>
          </a:ln>
        </p:spPr>
        <p:txBody>
          <a:bodyPr/>
          <a:lstStyle/>
          <a:p>
            <a:endParaRPr lang="en-US"/>
          </a:p>
        </p:txBody>
      </p:sp>
      <p:sp>
        <p:nvSpPr>
          <p:cNvPr id="21" name="Rectangle 20">
            <a:extLst>
              <a:ext uri="{FF2B5EF4-FFF2-40B4-BE49-F238E27FC236}">
                <a16:creationId xmlns:a16="http://schemas.microsoft.com/office/drawing/2014/main" id="{2ED401BE-28F9-4030-A178-85B12DD8978F}"/>
              </a:ext>
            </a:extLst>
          </p:cNvPr>
          <p:cNvSpPr>
            <a:spLocks noGrp="1"/>
          </p:cNvSpPr>
          <p:nvPr/>
        </p:nvSpPr>
        <p:spPr>
          <a:xfrm>
            <a:off x="781050" y="4229100"/>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.y4m</a:t>
            </a:r>
          </a:p>
        </p:txBody>
      </p:sp>
      <p:sp>
        <p:nvSpPr>
          <p:cNvPr id="22" name="Rectangle 21">
            <a:extLst>
              <a:ext uri="{FF2B5EF4-FFF2-40B4-BE49-F238E27FC236}">
                <a16:creationId xmlns:a16="http://schemas.microsoft.com/office/drawing/2014/main" id="{065198DF-3FD9-4F56-AF24-A4AD6B3F0E2C}"/>
              </a:ext>
            </a:extLst>
          </p:cNvPr>
          <p:cNvSpPr>
            <a:spLocks noGrp="1"/>
          </p:cNvSpPr>
          <p:nvPr/>
        </p:nvSpPr>
        <p:spPr>
          <a:xfrm>
            <a:off x="3714750" y="4229100"/>
            <a:ext cx="2000250" cy="266700"/>
          </a:xfrm>
          <a:prstGeom prst="rect">
            <a:avLst/>
          </a:prstGeom>
          <a:noFill/>
          <a:ln w="0">
            <a:noFill/>
          </a:ln>
        </p:spPr>
        <p:txBody>
          <a:bodyPr>
            <a:normAutofit fontScale="76667"/>
          </a:bodyPr>
          <a:lstStyle/>
          <a:p>
            <a:pPr>
              <a:defRPr sz="1500" b="1">
                <a:solidFill>
                  <a:srgbClr val="F2994A"/>
                </a:solidFill>
                <a:latin typeface="Arial"/>
                <a:ea typeface="Arial"/>
                <a:cs typeface="Arial"/>
              </a:defRPr>
            </a:pPr>
            <a:r>
              <a:rPr sz="1500" b="1">
                <a:solidFill>
                  <a:srgbClr val="F2994A"/>
                </a:solidFill>
                <a:latin typeface="Arial"/>
                <a:ea typeface="Arial"/>
                <a:cs typeface="Arial"/>
              </a:rPr>
              <a:t>Video thô (demo)</a:t>
            </a:r>
          </a:p>
        </p:txBody>
      </p:sp>
      <p:sp>
        <p:nvSpPr>
          <p:cNvPr id="23" name="Rectangle 22">
            <a:extLst>
              <a:ext uri="{FF2B5EF4-FFF2-40B4-BE49-F238E27FC236}">
                <a16:creationId xmlns:a16="http://schemas.microsoft.com/office/drawing/2014/main" id="{2B474315-BB1A-4BA9-B386-3AA0011F93B4}"/>
              </a:ext>
            </a:extLst>
          </p:cNvPr>
          <p:cNvSpPr>
            <a:spLocks noGrp="1"/>
          </p:cNvSpPr>
          <p:nvPr/>
        </p:nvSpPr>
        <p:spPr>
          <a:xfrm>
            <a:off x="6048375" y="4229100"/>
            <a:ext cx="5400675" cy="371475"/>
          </a:xfrm>
          <a:prstGeom prst="rect">
            <a:avLst/>
          </a:prstGeom>
          <a:noFill/>
          <a:ln w="0">
            <a:noFill/>
          </a:ln>
        </p:spPr>
        <p:txBody>
          <a:bodyPr>
            <a:normAutofit fontScale="98152"/>
          </a:bodyPr>
          <a:lstStyle/>
          <a:p>
            <a:pPr>
              <a:defRPr sz="1500">
                <a:solidFill>
                  <a:srgbClr val="5A6780"/>
                </a:solidFill>
                <a:latin typeface="Arial"/>
                <a:ea typeface="Arial"/>
                <a:cs typeface="Arial"/>
              </a:defRPr>
            </a:pPr>
            <a:r>
              <a:rPr sz="1500">
                <a:solidFill>
                  <a:srgbClr val="5A6780"/>
                </a:solidFill>
                <a:latin typeface="Arial"/>
                <a:ea typeface="Arial"/>
                <a:cs typeface="Arial"/>
              </a:rPr>
              <a:t>FFmpeg/libx264 encode Baseline CAVLC trước khi xử lý</a:t>
            </a:r>
          </a:p>
        </p:txBody>
      </p:sp>
      <p:sp>
        <p:nvSpPr>
          <p:cNvPr id="24" name="Rectangle 23">
            <a:extLst>
              <a:ext uri="{FF2B5EF4-FFF2-40B4-BE49-F238E27FC236}">
                <a16:creationId xmlns:a16="http://schemas.microsoft.com/office/drawing/2014/main" id="{B3CFD278-D84C-4825-AD76-1E5A3BFEBE21}"/>
              </a:ext>
            </a:extLst>
          </p:cNvPr>
          <p:cNvSpPr>
            <a:spLocks noGrp="1"/>
          </p:cNvSpPr>
          <p:nvPr/>
        </p:nvSpPr>
        <p:spPr>
          <a:xfrm>
            <a:off x="1257300" y="5019675"/>
            <a:ext cx="96774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4 — Định dạng native nhận trực tiếp và các định dạng cần chuyển sang H.264 Annex-B trước khi parse.</a:t>
            </a:r>
          </a:p>
        </p:txBody>
      </p:sp>
      <p:sp>
        <p:nvSpPr>
          <p:cNvPr id="25" name="Rectangle: Rounded Corners 24">
            <a:extLst>
              <a:ext uri="{FF2B5EF4-FFF2-40B4-BE49-F238E27FC236}">
                <a16:creationId xmlns:a16="http://schemas.microsoft.com/office/drawing/2014/main" id="{8B9CC88C-A4B4-4076-B11A-A10FDB192015}"/>
              </a:ext>
            </a:extLst>
          </p:cNvPr>
          <p:cNvSpPr>
            <a:spLocks noGrp="1"/>
          </p:cNvSpPr>
          <p:nvPr/>
        </p:nvSpPr>
        <p:spPr>
          <a:xfrm>
            <a:off x="1257300" y="5257800"/>
            <a:ext cx="9677400" cy="714375"/>
          </a:xfrm>
          <a:prstGeom prst="roundRect">
            <a:avLst>
              <a:gd name="adj" fmla="val 10667"/>
            </a:avLst>
          </a:prstGeom>
          <a:solidFill>
            <a:srgbClr val="FFF5E9"/>
          </a:solidFill>
          <a:ln w="9525">
            <a:solidFill>
              <a:srgbClr val="F7D2A5"/>
            </a:solidFill>
          </a:ln>
        </p:spPr>
        <p:txBody>
          <a:bodyPr/>
          <a:lstStyle/>
          <a:p>
            <a:endParaRPr lang="en-US"/>
          </a:p>
        </p:txBody>
      </p:sp>
      <p:sp>
        <p:nvSpPr>
          <p:cNvPr id="26" name="Rectangle 25">
            <a:extLst>
              <a:ext uri="{FF2B5EF4-FFF2-40B4-BE49-F238E27FC236}">
                <a16:creationId xmlns:a16="http://schemas.microsoft.com/office/drawing/2014/main" id="{11A95E50-3EA4-41B1-9FE2-DB8F971F53C0}"/>
              </a:ext>
            </a:extLst>
          </p:cNvPr>
          <p:cNvSpPr>
            <a:spLocks noGrp="1"/>
          </p:cNvSpPr>
          <p:nvPr/>
        </p:nvSpPr>
        <p:spPr>
          <a:xfrm>
            <a:off x="1562100" y="5448300"/>
            <a:ext cx="9096375" cy="352425"/>
          </a:xfrm>
          <a:prstGeom prst="rect">
            <a:avLst/>
          </a:prstGeom>
          <a:noFill/>
          <a:ln w="0">
            <a:noFill/>
          </a:ln>
        </p:spPr>
        <p:txBody>
          <a:bodyPr>
            <a:normAutofit fontScale="68539"/>
          </a:bodyPr>
          <a:lstStyle/>
          <a:p>
            <a:pPr>
              <a:defRPr sz="1425">
                <a:solidFill>
                  <a:srgbClr val="8A5017"/>
                </a:solidFill>
                <a:latin typeface="Arial"/>
                <a:ea typeface="Arial"/>
                <a:cs typeface="Arial"/>
              </a:defRPr>
            </a:pPr>
            <a:r>
              <a:rPr sz="1425">
                <a:solidFill>
                  <a:srgbClr val="8A5017"/>
                </a:solidFill>
                <a:latin typeface="Arial"/>
                <a:ea typeface="Arial"/>
                <a:cs typeface="Arial"/>
              </a:rPr>
              <a:t>Parser native nhận H.264 Baseline dùng CAVLC, progressive, một slice/frame; chỉ IDR mang dữ liệu. CABAC, slice groups và P/B chưa là vật mang.</a:t>
            </a:r>
          </a:p>
        </p:txBody>
      </p:sp>
      <p:sp>
        <p:nvSpPr>
          <p:cNvPr id="27" name="Rectangle 26">
            <a:extLst>
              <a:ext uri="{FF2B5EF4-FFF2-40B4-BE49-F238E27FC236}">
                <a16:creationId xmlns:a16="http://schemas.microsoft.com/office/drawing/2014/main" id="{66911EA1-AABF-4FA7-8A62-130AFFB9606F}"/>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8" name="Rectangle 27">
            <a:extLst>
              <a:ext uri="{FF2B5EF4-FFF2-40B4-BE49-F238E27FC236}">
                <a16:creationId xmlns:a16="http://schemas.microsoft.com/office/drawing/2014/main" id="{3D31E12D-ABF1-4C2E-BAB5-28D308CE9E98}"/>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04</a:t>
            </a:r>
          </a:p>
        </p:txBody>
      </p:sp>
    </p:spTree>
    <p:extLst>
      <p:ext uri="{BB962C8B-B14F-4D97-AF65-F5344CB8AC3E}">
        <p14:creationId xmlns:p14="http://schemas.microsoft.com/office/powerpoint/2010/main" val="17219080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DD1C7579-A294-4BF8-8B45-25C384FFB523}"/>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dirty="0" err="1">
                <a:solidFill>
                  <a:srgbClr val="10213D"/>
                </a:solidFill>
                <a:latin typeface="Arial"/>
                <a:ea typeface="Arial"/>
                <a:cs typeface="Arial"/>
              </a:rPr>
              <a:t>Một</a:t>
            </a:r>
            <a:r>
              <a:rPr sz="2700" b="1" dirty="0">
                <a:solidFill>
                  <a:srgbClr val="10213D"/>
                </a:solidFill>
                <a:latin typeface="Arial"/>
                <a:ea typeface="Arial"/>
                <a:cs typeface="Arial"/>
              </a:rPr>
              <a:t> NAL IDR </a:t>
            </a:r>
            <a:r>
              <a:rPr lang="vi-VN" sz="2700" b="1" dirty="0">
                <a:solidFill>
                  <a:srgbClr val="10213D"/>
                </a:solidFill>
                <a:latin typeface="Arial"/>
                <a:ea typeface="Arial"/>
                <a:cs typeface="Arial"/>
              </a:rPr>
              <a:t>tới</a:t>
            </a:r>
            <a:r>
              <a:rPr sz="2700" b="1" dirty="0">
                <a:solidFill>
                  <a:srgbClr val="10213D"/>
                </a:solidFill>
                <a:latin typeface="Arial"/>
                <a:ea typeface="Arial"/>
                <a:cs typeface="Arial"/>
              </a:rPr>
              <a:t> hex</a:t>
            </a:r>
          </a:p>
        </p:txBody>
      </p:sp>
      <p:sp>
        <p:nvSpPr>
          <p:cNvPr id="2" name="Rectangle 1">
            <a:extLst>
              <a:ext uri="{FF2B5EF4-FFF2-40B4-BE49-F238E27FC236}">
                <a16:creationId xmlns:a16="http://schemas.microsoft.com/office/drawing/2014/main" id="{C73D97E9-7504-4C8D-B93A-94F71FF2214A}"/>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dirty="0">
                <a:solidFill>
                  <a:srgbClr val="5A6780"/>
                </a:solidFill>
                <a:latin typeface="Arial"/>
                <a:ea typeface="Arial"/>
                <a:cs typeface="Arial"/>
              </a:rPr>
              <a:t>Native </a:t>
            </a:r>
            <a:r>
              <a:rPr sz="1200" dirty="0" err="1">
                <a:solidFill>
                  <a:srgbClr val="5A6780"/>
                </a:solidFill>
                <a:latin typeface="Arial"/>
                <a:ea typeface="Arial"/>
                <a:cs typeface="Arial"/>
              </a:rPr>
              <a:t>không</a:t>
            </a:r>
            <a:r>
              <a:rPr sz="1200" dirty="0">
                <a:solidFill>
                  <a:srgbClr val="5A6780"/>
                </a:solidFill>
                <a:latin typeface="Arial"/>
                <a:ea typeface="Arial"/>
                <a:cs typeface="Arial"/>
              </a:rPr>
              <a:t> </a:t>
            </a:r>
            <a:r>
              <a:rPr sz="1200" dirty="0" err="1">
                <a:solidFill>
                  <a:srgbClr val="5A6780"/>
                </a:solidFill>
                <a:latin typeface="Arial"/>
                <a:ea typeface="Arial"/>
                <a:cs typeface="Arial"/>
              </a:rPr>
              <a:t>nhìn</a:t>
            </a:r>
            <a:r>
              <a:rPr sz="1200" dirty="0">
                <a:solidFill>
                  <a:srgbClr val="5A6780"/>
                </a:solidFill>
                <a:latin typeface="Arial"/>
                <a:ea typeface="Arial"/>
                <a:cs typeface="Arial"/>
              </a:rPr>
              <a:t> video </a:t>
            </a:r>
            <a:r>
              <a:rPr sz="1200" dirty="0" err="1">
                <a:solidFill>
                  <a:srgbClr val="5A6780"/>
                </a:solidFill>
                <a:latin typeface="Arial"/>
                <a:ea typeface="Arial"/>
                <a:cs typeface="Arial"/>
              </a:rPr>
              <a:t>như</a:t>
            </a:r>
            <a:r>
              <a:rPr sz="1200" dirty="0">
                <a:solidFill>
                  <a:srgbClr val="5A6780"/>
                </a:solidFill>
                <a:latin typeface="Arial"/>
                <a:ea typeface="Arial"/>
                <a:cs typeface="Arial"/>
              </a:rPr>
              <a:t> </a:t>
            </a:r>
            <a:r>
              <a:rPr sz="1200" dirty="0" err="1">
                <a:solidFill>
                  <a:srgbClr val="5A6780"/>
                </a:solidFill>
                <a:latin typeface="Arial"/>
                <a:ea typeface="Arial"/>
                <a:cs typeface="Arial"/>
              </a:rPr>
              <a:t>hình</a:t>
            </a:r>
            <a:r>
              <a:rPr sz="1200" dirty="0">
                <a:solidFill>
                  <a:srgbClr val="5A6780"/>
                </a:solidFill>
                <a:latin typeface="Arial"/>
                <a:ea typeface="Arial"/>
                <a:cs typeface="Arial"/>
              </a:rPr>
              <a:t> </a:t>
            </a:r>
            <a:r>
              <a:rPr sz="1200" dirty="0" err="1">
                <a:solidFill>
                  <a:srgbClr val="5A6780"/>
                </a:solidFill>
                <a:latin typeface="Arial"/>
                <a:ea typeface="Arial"/>
                <a:cs typeface="Arial"/>
              </a:rPr>
              <a:t>ảnh</a:t>
            </a:r>
            <a:r>
              <a:rPr sz="1200" dirty="0">
                <a:solidFill>
                  <a:srgbClr val="5A6780"/>
                </a:solidFill>
                <a:latin typeface="Arial"/>
                <a:ea typeface="Arial"/>
                <a:cs typeface="Arial"/>
              </a:rPr>
              <a:t>. </a:t>
            </a:r>
            <a:r>
              <a:rPr sz="1200" dirty="0" err="1">
                <a:solidFill>
                  <a:srgbClr val="5A6780"/>
                </a:solidFill>
                <a:latin typeface="Arial"/>
                <a:ea typeface="Arial"/>
                <a:cs typeface="Arial"/>
              </a:rPr>
              <a:t>Nó</a:t>
            </a:r>
            <a:r>
              <a:rPr sz="1200" dirty="0">
                <a:solidFill>
                  <a:srgbClr val="5A6780"/>
                </a:solidFill>
                <a:latin typeface="Arial"/>
                <a:ea typeface="Arial"/>
                <a:cs typeface="Arial"/>
              </a:rPr>
              <a:t> </a:t>
            </a:r>
            <a:r>
              <a:rPr sz="1200" dirty="0" err="1">
                <a:solidFill>
                  <a:srgbClr val="5A6780"/>
                </a:solidFill>
                <a:latin typeface="Arial"/>
                <a:ea typeface="Arial"/>
                <a:cs typeface="Arial"/>
              </a:rPr>
              <a:t>lần</a:t>
            </a:r>
            <a:r>
              <a:rPr sz="1200" dirty="0">
                <a:solidFill>
                  <a:srgbClr val="5A6780"/>
                </a:solidFill>
                <a:latin typeface="Arial"/>
                <a:ea typeface="Arial"/>
                <a:cs typeface="Arial"/>
              </a:rPr>
              <a:t> </a:t>
            </a:r>
            <a:r>
              <a:rPr sz="1200" dirty="0" err="1">
                <a:solidFill>
                  <a:srgbClr val="5A6780"/>
                </a:solidFill>
                <a:latin typeface="Arial"/>
                <a:ea typeface="Arial"/>
                <a:cs typeface="Arial"/>
              </a:rPr>
              <a:t>từ</a:t>
            </a:r>
            <a:r>
              <a:rPr sz="1200" dirty="0">
                <a:solidFill>
                  <a:srgbClr val="5A6780"/>
                </a:solidFill>
                <a:latin typeface="Arial"/>
                <a:ea typeface="Arial"/>
                <a:cs typeface="Arial"/>
              </a:rPr>
              <a:t> byte start code </a:t>
            </a:r>
            <a:r>
              <a:rPr sz="1200" dirty="0" err="1">
                <a:solidFill>
                  <a:srgbClr val="5A6780"/>
                </a:solidFill>
                <a:latin typeface="Arial"/>
                <a:ea typeface="Arial"/>
                <a:cs typeface="Arial"/>
              </a:rPr>
              <a:t>tới</a:t>
            </a:r>
            <a:r>
              <a:rPr sz="1200" dirty="0">
                <a:solidFill>
                  <a:srgbClr val="5A6780"/>
                </a:solidFill>
                <a:latin typeface="Arial"/>
                <a:ea typeface="Arial"/>
                <a:cs typeface="Arial"/>
              </a:rPr>
              <a:t> slice payload, </a:t>
            </a:r>
            <a:r>
              <a:rPr sz="1200" dirty="0" err="1">
                <a:solidFill>
                  <a:srgbClr val="5A6780"/>
                </a:solidFill>
                <a:latin typeface="Arial"/>
                <a:ea typeface="Arial"/>
                <a:cs typeface="Arial"/>
              </a:rPr>
              <a:t>rồi</a:t>
            </a:r>
            <a:r>
              <a:rPr sz="1200" dirty="0">
                <a:solidFill>
                  <a:srgbClr val="5A6780"/>
                </a:solidFill>
                <a:latin typeface="Arial"/>
                <a:ea typeface="Arial"/>
                <a:cs typeface="Arial"/>
              </a:rPr>
              <a:t> </a:t>
            </a:r>
            <a:r>
              <a:rPr sz="1200" dirty="0" err="1">
                <a:solidFill>
                  <a:srgbClr val="5A6780"/>
                </a:solidFill>
                <a:latin typeface="Arial"/>
                <a:ea typeface="Arial"/>
                <a:cs typeface="Arial"/>
              </a:rPr>
              <a:t>mới</a:t>
            </a:r>
            <a:r>
              <a:rPr sz="1200" dirty="0">
                <a:solidFill>
                  <a:srgbClr val="5A6780"/>
                </a:solidFill>
                <a:latin typeface="Arial"/>
                <a:ea typeface="Arial"/>
                <a:cs typeface="Arial"/>
              </a:rPr>
              <a:t> </a:t>
            </a:r>
            <a:r>
              <a:rPr sz="1200" dirty="0" err="1">
                <a:solidFill>
                  <a:srgbClr val="5A6780"/>
                </a:solidFill>
                <a:latin typeface="Arial"/>
                <a:ea typeface="Arial"/>
                <a:cs typeface="Arial"/>
              </a:rPr>
              <a:t>tìm</a:t>
            </a:r>
            <a:r>
              <a:rPr sz="1200" dirty="0">
                <a:solidFill>
                  <a:srgbClr val="5A6780"/>
                </a:solidFill>
                <a:latin typeface="Arial"/>
                <a:ea typeface="Arial"/>
                <a:cs typeface="Arial"/>
              </a:rPr>
              <a:t> residual CAVLC.</a:t>
            </a:r>
          </a:p>
        </p:txBody>
      </p:sp>
      <p:sp>
        <p:nvSpPr>
          <p:cNvPr id="3" name="Straight Connector 2">
            <a:extLst>
              <a:ext uri="{FF2B5EF4-FFF2-40B4-BE49-F238E27FC236}">
                <a16:creationId xmlns:a16="http://schemas.microsoft.com/office/drawing/2014/main" id="{18D78AF0-EA25-4511-A4C5-06065DF3369B}"/>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D6AC4EC2-B57B-4C7E-AA73-83EF6C5495F5}"/>
              </a:ext>
            </a:extLst>
          </p:cNvPr>
          <p:cNvSpPr>
            <a:spLocks noGrp="1"/>
          </p:cNvSpPr>
          <p:nvPr/>
        </p:nvSpPr>
        <p:spPr>
          <a:xfrm>
            <a:off x="781050" y="2133600"/>
            <a:ext cx="733425" cy="685800"/>
          </a:xfrm>
          <a:prstGeom prst="roundRect">
            <a:avLst>
              <a:gd name="adj" fmla="val 11111"/>
            </a:avLst>
          </a:prstGeom>
          <a:solidFill>
            <a:srgbClr val="FFFFFF"/>
          </a:solidFill>
          <a:ln w="19050">
            <a:solidFill>
              <a:srgbClr val="2667D8"/>
            </a:solidFill>
          </a:ln>
        </p:spPr>
        <p:txBody>
          <a:bodyPr/>
          <a:lstStyle/>
          <a:p>
            <a:endParaRPr lang="en-US"/>
          </a:p>
        </p:txBody>
      </p:sp>
      <p:sp>
        <p:nvSpPr>
          <p:cNvPr id="5" name="Rectangle 4">
            <a:extLst>
              <a:ext uri="{FF2B5EF4-FFF2-40B4-BE49-F238E27FC236}">
                <a16:creationId xmlns:a16="http://schemas.microsoft.com/office/drawing/2014/main" id="{7187243F-B12F-4837-9C19-2BB41DD7A212}"/>
              </a:ext>
            </a:extLst>
          </p:cNvPr>
          <p:cNvSpPr>
            <a:spLocks noGrp="1"/>
          </p:cNvSpPr>
          <p:nvPr/>
        </p:nvSpPr>
        <p:spPr>
          <a:xfrm>
            <a:off x="781050" y="2314575"/>
            <a:ext cx="733425" cy="266700"/>
          </a:xfrm>
          <a:prstGeom prst="rect">
            <a:avLst/>
          </a:prstGeom>
          <a:noFill/>
          <a:ln w="0">
            <a:noFill/>
          </a:ln>
        </p:spPr>
        <p:txBody>
          <a:bodyPr>
            <a:normAutofit fontScale="58974"/>
          </a:bodyPr>
          <a:lstStyle/>
          <a:p>
            <a:pPr>
              <a:defRPr sz="1950" b="1">
                <a:solidFill>
                  <a:srgbClr val="2667D8"/>
                </a:solidFill>
                <a:latin typeface="Arial"/>
                <a:ea typeface="Arial"/>
                <a:cs typeface="Arial"/>
              </a:defRPr>
            </a:pPr>
            <a:r>
              <a:rPr sz="1950" b="1">
                <a:solidFill>
                  <a:srgbClr val="2667D8"/>
                </a:solidFill>
                <a:latin typeface="Arial"/>
                <a:ea typeface="Arial"/>
                <a:cs typeface="Arial"/>
              </a:rPr>
              <a:t>00</a:t>
            </a:r>
          </a:p>
        </p:txBody>
      </p:sp>
      <p:sp>
        <p:nvSpPr>
          <p:cNvPr id="6" name="Rectangle: Rounded Corners 5">
            <a:extLst>
              <a:ext uri="{FF2B5EF4-FFF2-40B4-BE49-F238E27FC236}">
                <a16:creationId xmlns:a16="http://schemas.microsoft.com/office/drawing/2014/main" id="{30A31A93-4922-42CA-B7DF-644D52928D92}"/>
              </a:ext>
            </a:extLst>
          </p:cNvPr>
          <p:cNvSpPr>
            <a:spLocks noGrp="1"/>
          </p:cNvSpPr>
          <p:nvPr/>
        </p:nvSpPr>
        <p:spPr>
          <a:xfrm>
            <a:off x="1628775" y="2133600"/>
            <a:ext cx="733425" cy="685800"/>
          </a:xfrm>
          <a:prstGeom prst="roundRect">
            <a:avLst>
              <a:gd name="adj" fmla="val 11111"/>
            </a:avLst>
          </a:prstGeom>
          <a:solidFill>
            <a:srgbClr val="FFFFFF"/>
          </a:solidFill>
          <a:ln w="19050">
            <a:solidFill>
              <a:srgbClr val="2667D8"/>
            </a:solidFill>
          </a:ln>
        </p:spPr>
        <p:txBody>
          <a:bodyPr/>
          <a:lstStyle/>
          <a:p>
            <a:endParaRPr lang="en-US"/>
          </a:p>
        </p:txBody>
      </p:sp>
      <p:sp>
        <p:nvSpPr>
          <p:cNvPr id="7" name="Rectangle 6">
            <a:extLst>
              <a:ext uri="{FF2B5EF4-FFF2-40B4-BE49-F238E27FC236}">
                <a16:creationId xmlns:a16="http://schemas.microsoft.com/office/drawing/2014/main" id="{BD1AC06E-30B8-46ED-BCF7-581F741C6041}"/>
              </a:ext>
            </a:extLst>
          </p:cNvPr>
          <p:cNvSpPr>
            <a:spLocks noGrp="1"/>
          </p:cNvSpPr>
          <p:nvPr/>
        </p:nvSpPr>
        <p:spPr>
          <a:xfrm>
            <a:off x="1628775" y="2314575"/>
            <a:ext cx="733425" cy="266700"/>
          </a:xfrm>
          <a:prstGeom prst="rect">
            <a:avLst/>
          </a:prstGeom>
          <a:noFill/>
          <a:ln w="0">
            <a:noFill/>
          </a:ln>
        </p:spPr>
        <p:txBody>
          <a:bodyPr>
            <a:normAutofit fontScale="58974"/>
          </a:bodyPr>
          <a:lstStyle/>
          <a:p>
            <a:pPr>
              <a:defRPr sz="1950" b="1">
                <a:solidFill>
                  <a:srgbClr val="2667D8"/>
                </a:solidFill>
                <a:latin typeface="Arial"/>
                <a:ea typeface="Arial"/>
                <a:cs typeface="Arial"/>
              </a:defRPr>
            </a:pPr>
            <a:r>
              <a:rPr sz="1950" b="1">
                <a:solidFill>
                  <a:srgbClr val="2667D8"/>
                </a:solidFill>
                <a:latin typeface="Arial"/>
                <a:ea typeface="Arial"/>
                <a:cs typeface="Arial"/>
              </a:rPr>
              <a:t>00</a:t>
            </a:r>
          </a:p>
        </p:txBody>
      </p:sp>
      <p:sp>
        <p:nvSpPr>
          <p:cNvPr id="8" name="Rectangle: Rounded Corners 7">
            <a:extLst>
              <a:ext uri="{FF2B5EF4-FFF2-40B4-BE49-F238E27FC236}">
                <a16:creationId xmlns:a16="http://schemas.microsoft.com/office/drawing/2014/main" id="{42A37631-F1FE-4D91-8031-0FAC91BA695C}"/>
              </a:ext>
            </a:extLst>
          </p:cNvPr>
          <p:cNvSpPr>
            <a:spLocks noGrp="1"/>
          </p:cNvSpPr>
          <p:nvPr/>
        </p:nvSpPr>
        <p:spPr>
          <a:xfrm>
            <a:off x="2476500" y="2133600"/>
            <a:ext cx="733425" cy="685800"/>
          </a:xfrm>
          <a:prstGeom prst="roundRect">
            <a:avLst>
              <a:gd name="adj" fmla="val 11111"/>
            </a:avLst>
          </a:prstGeom>
          <a:solidFill>
            <a:srgbClr val="FFFFFF"/>
          </a:solidFill>
          <a:ln w="19050">
            <a:solidFill>
              <a:srgbClr val="2667D8"/>
            </a:solidFill>
          </a:ln>
        </p:spPr>
        <p:txBody>
          <a:bodyPr/>
          <a:lstStyle/>
          <a:p>
            <a:endParaRPr lang="en-US"/>
          </a:p>
        </p:txBody>
      </p:sp>
      <p:sp>
        <p:nvSpPr>
          <p:cNvPr id="9" name="Rectangle 8">
            <a:extLst>
              <a:ext uri="{FF2B5EF4-FFF2-40B4-BE49-F238E27FC236}">
                <a16:creationId xmlns:a16="http://schemas.microsoft.com/office/drawing/2014/main" id="{B7E9DE3A-85F8-4804-8B31-C9035564622C}"/>
              </a:ext>
            </a:extLst>
          </p:cNvPr>
          <p:cNvSpPr>
            <a:spLocks noGrp="1"/>
          </p:cNvSpPr>
          <p:nvPr/>
        </p:nvSpPr>
        <p:spPr>
          <a:xfrm>
            <a:off x="2476500" y="2314575"/>
            <a:ext cx="733425" cy="266700"/>
          </a:xfrm>
          <a:prstGeom prst="rect">
            <a:avLst/>
          </a:prstGeom>
          <a:noFill/>
          <a:ln w="0">
            <a:noFill/>
          </a:ln>
        </p:spPr>
        <p:txBody>
          <a:bodyPr>
            <a:normAutofit fontScale="58974"/>
          </a:bodyPr>
          <a:lstStyle/>
          <a:p>
            <a:pPr>
              <a:defRPr sz="1950" b="1">
                <a:solidFill>
                  <a:srgbClr val="2667D8"/>
                </a:solidFill>
                <a:latin typeface="Arial"/>
                <a:ea typeface="Arial"/>
                <a:cs typeface="Arial"/>
              </a:defRPr>
            </a:pPr>
            <a:r>
              <a:rPr sz="1950" b="1">
                <a:solidFill>
                  <a:srgbClr val="2667D8"/>
                </a:solidFill>
                <a:latin typeface="Arial"/>
                <a:ea typeface="Arial"/>
                <a:cs typeface="Arial"/>
              </a:rPr>
              <a:t>00</a:t>
            </a:r>
          </a:p>
        </p:txBody>
      </p:sp>
      <p:sp>
        <p:nvSpPr>
          <p:cNvPr id="10" name="Rectangle: Rounded Corners 9">
            <a:extLst>
              <a:ext uri="{FF2B5EF4-FFF2-40B4-BE49-F238E27FC236}">
                <a16:creationId xmlns:a16="http://schemas.microsoft.com/office/drawing/2014/main" id="{2FF8A92C-CA43-4B66-8A78-1479DE07F7D0}"/>
              </a:ext>
            </a:extLst>
          </p:cNvPr>
          <p:cNvSpPr>
            <a:spLocks noGrp="1"/>
          </p:cNvSpPr>
          <p:nvPr/>
        </p:nvSpPr>
        <p:spPr>
          <a:xfrm>
            <a:off x="3324225" y="2133600"/>
            <a:ext cx="733425" cy="685800"/>
          </a:xfrm>
          <a:prstGeom prst="roundRect">
            <a:avLst>
              <a:gd name="adj" fmla="val 11111"/>
            </a:avLst>
          </a:prstGeom>
          <a:solidFill>
            <a:srgbClr val="FFFFFF"/>
          </a:solidFill>
          <a:ln w="19050">
            <a:solidFill>
              <a:srgbClr val="2667D8"/>
            </a:solidFill>
          </a:ln>
        </p:spPr>
        <p:txBody>
          <a:bodyPr/>
          <a:lstStyle/>
          <a:p>
            <a:endParaRPr lang="en-US"/>
          </a:p>
        </p:txBody>
      </p:sp>
      <p:sp>
        <p:nvSpPr>
          <p:cNvPr id="11" name="Rectangle 10">
            <a:extLst>
              <a:ext uri="{FF2B5EF4-FFF2-40B4-BE49-F238E27FC236}">
                <a16:creationId xmlns:a16="http://schemas.microsoft.com/office/drawing/2014/main" id="{E06BB6D7-B12F-4AD5-8230-8B5AF60436D6}"/>
              </a:ext>
            </a:extLst>
          </p:cNvPr>
          <p:cNvSpPr>
            <a:spLocks noGrp="1"/>
          </p:cNvSpPr>
          <p:nvPr/>
        </p:nvSpPr>
        <p:spPr>
          <a:xfrm>
            <a:off x="3324225" y="2314575"/>
            <a:ext cx="733425" cy="266700"/>
          </a:xfrm>
          <a:prstGeom prst="rect">
            <a:avLst/>
          </a:prstGeom>
          <a:noFill/>
          <a:ln w="0">
            <a:noFill/>
          </a:ln>
        </p:spPr>
        <p:txBody>
          <a:bodyPr>
            <a:normAutofit fontScale="58974"/>
          </a:bodyPr>
          <a:lstStyle/>
          <a:p>
            <a:pPr>
              <a:defRPr sz="1950" b="1">
                <a:solidFill>
                  <a:srgbClr val="2667D8"/>
                </a:solidFill>
                <a:latin typeface="Arial"/>
                <a:ea typeface="Arial"/>
                <a:cs typeface="Arial"/>
              </a:defRPr>
            </a:pPr>
            <a:r>
              <a:rPr sz="1950" b="1">
                <a:solidFill>
                  <a:srgbClr val="2667D8"/>
                </a:solidFill>
                <a:latin typeface="Arial"/>
                <a:ea typeface="Arial"/>
                <a:cs typeface="Arial"/>
              </a:rPr>
              <a:t>01</a:t>
            </a:r>
          </a:p>
        </p:txBody>
      </p:sp>
      <p:sp>
        <p:nvSpPr>
          <p:cNvPr id="12" name="Rectangle: Rounded Corners 11">
            <a:extLst>
              <a:ext uri="{FF2B5EF4-FFF2-40B4-BE49-F238E27FC236}">
                <a16:creationId xmlns:a16="http://schemas.microsoft.com/office/drawing/2014/main" id="{452B0BFE-DB2A-4D80-8799-F8AF7F5BC777}"/>
              </a:ext>
            </a:extLst>
          </p:cNvPr>
          <p:cNvSpPr>
            <a:spLocks noGrp="1"/>
          </p:cNvSpPr>
          <p:nvPr/>
        </p:nvSpPr>
        <p:spPr>
          <a:xfrm>
            <a:off x="4171950" y="2133600"/>
            <a:ext cx="733425" cy="685800"/>
          </a:xfrm>
          <a:prstGeom prst="roundRect">
            <a:avLst>
              <a:gd name="adj" fmla="val 11111"/>
            </a:avLst>
          </a:prstGeom>
          <a:solidFill>
            <a:srgbClr val="FFFFFF"/>
          </a:solidFill>
          <a:ln w="19050">
            <a:solidFill>
              <a:srgbClr val="F2994A"/>
            </a:solidFill>
          </a:ln>
        </p:spPr>
        <p:txBody>
          <a:bodyPr/>
          <a:lstStyle/>
          <a:p>
            <a:endParaRPr lang="en-US"/>
          </a:p>
        </p:txBody>
      </p:sp>
      <p:sp>
        <p:nvSpPr>
          <p:cNvPr id="13" name="Rectangle 12">
            <a:extLst>
              <a:ext uri="{FF2B5EF4-FFF2-40B4-BE49-F238E27FC236}">
                <a16:creationId xmlns:a16="http://schemas.microsoft.com/office/drawing/2014/main" id="{0E7A7B01-A788-4122-8F90-31B5AA6616A9}"/>
              </a:ext>
            </a:extLst>
          </p:cNvPr>
          <p:cNvSpPr>
            <a:spLocks noGrp="1"/>
          </p:cNvSpPr>
          <p:nvPr/>
        </p:nvSpPr>
        <p:spPr>
          <a:xfrm>
            <a:off x="4171950" y="2314575"/>
            <a:ext cx="733425" cy="266700"/>
          </a:xfrm>
          <a:prstGeom prst="rect">
            <a:avLst/>
          </a:prstGeom>
          <a:noFill/>
          <a:ln w="0">
            <a:noFill/>
          </a:ln>
        </p:spPr>
        <p:txBody>
          <a:bodyPr>
            <a:normAutofit fontScale="58974"/>
          </a:bodyPr>
          <a:lstStyle/>
          <a:p>
            <a:pPr>
              <a:defRPr sz="1950" b="1">
                <a:solidFill>
                  <a:srgbClr val="F2994A"/>
                </a:solidFill>
                <a:latin typeface="Arial"/>
                <a:ea typeface="Arial"/>
                <a:cs typeface="Arial"/>
              </a:defRPr>
            </a:pPr>
            <a:r>
              <a:rPr sz="1950" b="1">
                <a:solidFill>
                  <a:srgbClr val="F2994A"/>
                </a:solidFill>
                <a:latin typeface="Arial"/>
                <a:ea typeface="Arial"/>
                <a:cs typeface="Arial"/>
              </a:rPr>
              <a:t>65</a:t>
            </a:r>
          </a:p>
        </p:txBody>
      </p:sp>
      <p:sp>
        <p:nvSpPr>
          <p:cNvPr id="14" name="Rectangle: Rounded Corners 13">
            <a:extLst>
              <a:ext uri="{FF2B5EF4-FFF2-40B4-BE49-F238E27FC236}">
                <a16:creationId xmlns:a16="http://schemas.microsoft.com/office/drawing/2014/main" id="{1A80372F-C7C6-47A9-A335-35C79E6C8F3C}"/>
              </a:ext>
            </a:extLst>
          </p:cNvPr>
          <p:cNvSpPr>
            <a:spLocks noGrp="1"/>
          </p:cNvSpPr>
          <p:nvPr/>
        </p:nvSpPr>
        <p:spPr>
          <a:xfrm>
            <a:off x="5019675" y="2133600"/>
            <a:ext cx="733425" cy="685800"/>
          </a:xfrm>
          <a:prstGeom prst="roundRect">
            <a:avLst>
              <a:gd name="adj" fmla="val 11111"/>
            </a:avLst>
          </a:prstGeom>
          <a:solidFill>
            <a:srgbClr val="FFFFFF"/>
          </a:solidFill>
          <a:ln w="19050">
            <a:solidFill>
              <a:srgbClr val="16A4C7"/>
            </a:solidFill>
          </a:ln>
        </p:spPr>
        <p:txBody>
          <a:bodyPr/>
          <a:lstStyle/>
          <a:p>
            <a:endParaRPr lang="en-US"/>
          </a:p>
        </p:txBody>
      </p:sp>
      <p:sp>
        <p:nvSpPr>
          <p:cNvPr id="15" name="Rectangle 14">
            <a:extLst>
              <a:ext uri="{FF2B5EF4-FFF2-40B4-BE49-F238E27FC236}">
                <a16:creationId xmlns:a16="http://schemas.microsoft.com/office/drawing/2014/main" id="{D7D8D327-F619-46CE-9FFE-91317739B036}"/>
              </a:ext>
            </a:extLst>
          </p:cNvPr>
          <p:cNvSpPr>
            <a:spLocks noGrp="1"/>
          </p:cNvSpPr>
          <p:nvPr/>
        </p:nvSpPr>
        <p:spPr>
          <a:xfrm>
            <a:off x="5019675" y="2314575"/>
            <a:ext cx="733425" cy="266700"/>
          </a:xfrm>
          <a:prstGeom prst="rect">
            <a:avLst/>
          </a:prstGeom>
          <a:noFill/>
          <a:ln w="0">
            <a:noFill/>
          </a:ln>
        </p:spPr>
        <p:txBody>
          <a:bodyPr>
            <a:normAutofit fontScale="58974"/>
          </a:bodyPr>
          <a:lstStyle/>
          <a:p>
            <a:pPr>
              <a:defRPr sz="1950" b="1">
                <a:solidFill>
                  <a:srgbClr val="16A4C7"/>
                </a:solidFill>
                <a:latin typeface="Arial"/>
                <a:ea typeface="Arial"/>
                <a:cs typeface="Arial"/>
              </a:defRPr>
            </a:pPr>
            <a:r>
              <a:rPr sz="1950" b="1">
                <a:solidFill>
                  <a:srgbClr val="16A4C7"/>
                </a:solidFill>
                <a:latin typeface="Arial"/>
                <a:ea typeface="Arial"/>
                <a:cs typeface="Arial"/>
              </a:rPr>
              <a:t>88</a:t>
            </a:r>
          </a:p>
        </p:txBody>
      </p:sp>
      <p:sp>
        <p:nvSpPr>
          <p:cNvPr id="16" name="Rectangle: Rounded Corners 15">
            <a:extLst>
              <a:ext uri="{FF2B5EF4-FFF2-40B4-BE49-F238E27FC236}">
                <a16:creationId xmlns:a16="http://schemas.microsoft.com/office/drawing/2014/main" id="{658C94E2-E862-44A8-8B92-35CCF9B30193}"/>
              </a:ext>
            </a:extLst>
          </p:cNvPr>
          <p:cNvSpPr>
            <a:spLocks noGrp="1"/>
          </p:cNvSpPr>
          <p:nvPr/>
        </p:nvSpPr>
        <p:spPr>
          <a:xfrm>
            <a:off x="5867400" y="2133600"/>
            <a:ext cx="733425" cy="685800"/>
          </a:xfrm>
          <a:prstGeom prst="roundRect">
            <a:avLst>
              <a:gd name="adj" fmla="val 11111"/>
            </a:avLst>
          </a:prstGeom>
          <a:solidFill>
            <a:srgbClr val="FFFFFF"/>
          </a:solidFill>
          <a:ln w="19050">
            <a:solidFill>
              <a:srgbClr val="16A4C7"/>
            </a:solidFill>
          </a:ln>
        </p:spPr>
        <p:txBody>
          <a:bodyPr/>
          <a:lstStyle/>
          <a:p>
            <a:endParaRPr lang="en-US"/>
          </a:p>
        </p:txBody>
      </p:sp>
      <p:sp>
        <p:nvSpPr>
          <p:cNvPr id="17" name="Rectangle 16">
            <a:extLst>
              <a:ext uri="{FF2B5EF4-FFF2-40B4-BE49-F238E27FC236}">
                <a16:creationId xmlns:a16="http://schemas.microsoft.com/office/drawing/2014/main" id="{5C1C593B-34CA-403A-8EE9-4FA0265D3969}"/>
              </a:ext>
            </a:extLst>
          </p:cNvPr>
          <p:cNvSpPr>
            <a:spLocks noGrp="1"/>
          </p:cNvSpPr>
          <p:nvPr/>
        </p:nvSpPr>
        <p:spPr>
          <a:xfrm>
            <a:off x="5867400" y="2314575"/>
            <a:ext cx="733425" cy="266700"/>
          </a:xfrm>
          <a:prstGeom prst="rect">
            <a:avLst/>
          </a:prstGeom>
          <a:noFill/>
          <a:ln w="0">
            <a:noFill/>
          </a:ln>
        </p:spPr>
        <p:txBody>
          <a:bodyPr>
            <a:normAutofit fontScale="58974"/>
          </a:bodyPr>
          <a:lstStyle/>
          <a:p>
            <a:pPr>
              <a:defRPr sz="1950" b="1">
                <a:solidFill>
                  <a:srgbClr val="16A4C7"/>
                </a:solidFill>
                <a:latin typeface="Arial"/>
                <a:ea typeface="Arial"/>
                <a:cs typeface="Arial"/>
              </a:defRPr>
            </a:pPr>
            <a:r>
              <a:rPr sz="1950" b="1">
                <a:solidFill>
                  <a:srgbClr val="16A4C7"/>
                </a:solidFill>
                <a:latin typeface="Arial"/>
                <a:ea typeface="Arial"/>
                <a:cs typeface="Arial"/>
              </a:rPr>
              <a:t>84</a:t>
            </a:r>
          </a:p>
        </p:txBody>
      </p:sp>
      <p:sp>
        <p:nvSpPr>
          <p:cNvPr id="18" name="Rectangle: Rounded Corners 17">
            <a:extLst>
              <a:ext uri="{FF2B5EF4-FFF2-40B4-BE49-F238E27FC236}">
                <a16:creationId xmlns:a16="http://schemas.microsoft.com/office/drawing/2014/main" id="{BD1DA88C-E004-4846-8B0A-9B2C60509FC4}"/>
              </a:ext>
            </a:extLst>
          </p:cNvPr>
          <p:cNvSpPr>
            <a:spLocks noGrp="1"/>
          </p:cNvSpPr>
          <p:nvPr/>
        </p:nvSpPr>
        <p:spPr>
          <a:xfrm>
            <a:off x="6715125" y="2133600"/>
            <a:ext cx="733425" cy="685800"/>
          </a:xfrm>
          <a:prstGeom prst="roundRect">
            <a:avLst>
              <a:gd name="adj" fmla="val 11111"/>
            </a:avLst>
          </a:prstGeom>
          <a:solidFill>
            <a:srgbClr val="FFFFFF"/>
          </a:solidFill>
          <a:ln w="19050">
            <a:solidFill>
              <a:srgbClr val="16A4C7"/>
            </a:solidFill>
          </a:ln>
        </p:spPr>
        <p:txBody>
          <a:bodyPr/>
          <a:lstStyle/>
          <a:p>
            <a:endParaRPr lang="en-US"/>
          </a:p>
        </p:txBody>
      </p:sp>
      <p:sp>
        <p:nvSpPr>
          <p:cNvPr id="19" name="Rectangle 18">
            <a:extLst>
              <a:ext uri="{FF2B5EF4-FFF2-40B4-BE49-F238E27FC236}">
                <a16:creationId xmlns:a16="http://schemas.microsoft.com/office/drawing/2014/main" id="{F82721BC-4C40-4DD3-936D-AB248CAC09F1}"/>
              </a:ext>
            </a:extLst>
          </p:cNvPr>
          <p:cNvSpPr>
            <a:spLocks noGrp="1"/>
          </p:cNvSpPr>
          <p:nvPr/>
        </p:nvSpPr>
        <p:spPr>
          <a:xfrm>
            <a:off x="6715125" y="2314575"/>
            <a:ext cx="733425" cy="266700"/>
          </a:xfrm>
          <a:prstGeom prst="rect">
            <a:avLst/>
          </a:prstGeom>
          <a:noFill/>
          <a:ln w="0">
            <a:noFill/>
          </a:ln>
        </p:spPr>
        <p:txBody>
          <a:bodyPr>
            <a:normAutofit fontScale="58974"/>
          </a:bodyPr>
          <a:lstStyle/>
          <a:p>
            <a:pPr>
              <a:defRPr sz="1950" b="1">
                <a:solidFill>
                  <a:srgbClr val="16A4C7"/>
                </a:solidFill>
                <a:latin typeface="Arial"/>
                <a:ea typeface="Arial"/>
                <a:cs typeface="Arial"/>
              </a:defRPr>
            </a:pPr>
            <a:r>
              <a:rPr sz="1950" b="1">
                <a:solidFill>
                  <a:srgbClr val="16A4C7"/>
                </a:solidFill>
                <a:latin typeface="Arial"/>
                <a:ea typeface="Arial"/>
                <a:cs typeface="Arial"/>
              </a:rPr>
              <a:t>21</a:t>
            </a:r>
          </a:p>
        </p:txBody>
      </p:sp>
      <p:sp>
        <p:nvSpPr>
          <p:cNvPr id="20" name="Rectangle: Rounded Corners 19">
            <a:extLst>
              <a:ext uri="{FF2B5EF4-FFF2-40B4-BE49-F238E27FC236}">
                <a16:creationId xmlns:a16="http://schemas.microsoft.com/office/drawing/2014/main" id="{356D7E19-786C-45C7-B308-5C3A38067BA0}"/>
              </a:ext>
            </a:extLst>
          </p:cNvPr>
          <p:cNvSpPr>
            <a:spLocks noGrp="1"/>
          </p:cNvSpPr>
          <p:nvPr/>
        </p:nvSpPr>
        <p:spPr>
          <a:xfrm>
            <a:off x="7562850" y="2133600"/>
            <a:ext cx="733425" cy="685800"/>
          </a:xfrm>
          <a:prstGeom prst="roundRect">
            <a:avLst>
              <a:gd name="adj" fmla="val 11111"/>
            </a:avLst>
          </a:prstGeom>
          <a:solidFill>
            <a:srgbClr val="FFFFFF"/>
          </a:solidFill>
          <a:ln w="19050">
            <a:solidFill>
              <a:srgbClr val="25A36F"/>
            </a:solidFill>
          </a:ln>
        </p:spPr>
        <p:txBody>
          <a:bodyPr/>
          <a:lstStyle/>
          <a:p>
            <a:endParaRPr lang="en-US"/>
          </a:p>
        </p:txBody>
      </p:sp>
      <p:sp>
        <p:nvSpPr>
          <p:cNvPr id="21" name="Rectangle 20">
            <a:extLst>
              <a:ext uri="{FF2B5EF4-FFF2-40B4-BE49-F238E27FC236}">
                <a16:creationId xmlns:a16="http://schemas.microsoft.com/office/drawing/2014/main" id="{77FD4661-BB08-41DE-B43C-3C0AB19D1E65}"/>
              </a:ext>
            </a:extLst>
          </p:cNvPr>
          <p:cNvSpPr>
            <a:spLocks noGrp="1"/>
          </p:cNvSpPr>
          <p:nvPr/>
        </p:nvSpPr>
        <p:spPr>
          <a:xfrm>
            <a:off x="7562850" y="2314575"/>
            <a:ext cx="733425" cy="266700"/>
          </a:xfrm>
          <a:prstGeom prst="rect">
            <a:avLst/>
          </a:prstGeom>
          <a:noFill/>
          <a:ln w="0">
            <a:noFill/>
          </a:ln>
        </p:spPr>
        <p:txBody>
          <a:bodyPr>
            <a:normAutofit fontScale="58974"/>
          </a:bodyPr>
          <a:lstStyle/>
          <a:p>
            <a:pPr>
              <a:defRPr sz="1950" b="1">
                <a:solidFill>
                  <a:srgbClr val="25A36F"/>
                </a:solidFill>
                <a:latin typeface="Arial"/>
                <a:ea typeface="Arial"/>
                <a:cs typeface="Arial"/>
              </a:defRPr>
            </a:pPr>
            <a:r>
              <a:rPr sz="1950" b="1">
                <a:solidFill>
                  <a:srgbClr val="25A36F"/>
                </a:solidFill>
                <a:latin typeface="Arial"/>
                <a:ea typeface="Arial"/>
                <a:cs typeface="Arial"/>
              </a:rPr>
              <a:t>0A</a:t>
            </a:r>
          </a:p>
        </p:txBody>
      </p:sp>
      <p:sp>
        <p:nvSpPr>
          <p:cNvPr id="22" name="Rectangle: Rounded Corners 21">
            <a:extLst>
              <a:ext uri="{FF2B5EF4-FFF2-40B4-BE49-F238E27FC236}">
                <a16:creationId xmlns:a16="http://schemas.microsoft.com/office/drawing/2014/main" id="{CB32EB48-A6BB-4138-A4A8-45FB389963DD}"/>
              </a:ext>
            </a:extLst>
          </p:cNvPr>
          <p:cNvSpPr>
            <a:spLocks noGrp="1"/>
          </p:cNvSpPr>
          <p:nvPr/>
        </p:nvSpPr>
        <p:spPr>
          <a:xfrm>
            <a:off x="8410575" y="2133600"/>
            <a:ext cx="733425" cy="685800"/>
          </a:xfrm>
          <a:prstGeom prst="roundRect">
            <a:avLst>
              <a:gd name="adj" fmla="val 11111"/>
            </a:avLst>
          </a:prstGeom>
          <a:solidFill>
            <a:srgbClr val="FFFFFF"/>
          </a:solidFill>
          <a:ln w="19050">
            <a:solidFill>
              <a:srgbClr val="25A36F"/>
            </a:solidFill>
          </a:ln>
        </p:spPr>
        <p:txBody>
          <a:bodyPr/>
          <a:lstStyle/>
          <a:p>
            <a:endParaRPr lang="en-US"/>
          </a:p>
        </p:txBody>
      </p:sp>
      <p:sp>
        <p:nvSpPr>
          <p:cNvPr id="23" name="Rectangle 22">
            <a:extLst>
              <a:ext uri="{FF2B5EF4-FFF2-40B4-BE49-F238E27FC236}">
                <a16:creationId xmlns:a16="http://schemas.microsoft.com/office/drawing/2014/main" id="{FD1AFAB2-F9E6-4658-81F6-5DAD17662BED}"/>
              </a:ext>
            </a:extLst>
          </p:cNvPr>
          <p:cNvSpPr>
            <a:spLocks noGrp="1"/>
          </p:cNvSpPr>
          <p:nvPr/>
        </p:nvSpPr>
        <p:spPr>
          <a:xfrm>
            <a:off x="8410575" y="2314575"/>
            <a:ext cx="733425" cy="266700"/>
          </a:xfrm>
          <a:prstGeom prst="rect">
            <a:avLst/>
          </a:prstGeom>
          <a:noFill/>
          <a:ln w="0">
            <a:noFill/>
          </a:ln>
        </p:spPr>
        <p:txBody>
          <a:bodyPr>
            <a:normAutofit fontScale="58974"/>
          </a:bodyPr>
          <a:lstStyle/>
          <a:p>
            <a:pPr>
              <a:defRPr sz="1950" b="1">
                <a:solidFill>
                  <a:srgbClr val="25A36F"/>
                </a:solidFill>
                <a:latin typeface="Arial"/>
                <a:ea typeface="Arial"/>
                <a:cs typeface="Arial"/>
              </a:defRPr>
            </a:pPr>
            <a:r>
              <a:rPr sz="1950" b="1">
                <a:solidFill>
                  <a:srgbClr val="25A36F"/>
                </a:solidFill>
                <a:latin typeface="Arial"/>
                <a:ea typeface="Arial"/>
                <a:cs typeface="Arial"/>
              </a:rPr>
              <a:t>F0</a:t>
            </a:r>
          </a:p>
        </p:txBody>
      </p:sp>
      <p:sp>
        <p:nvSpPr>
          <p:cNvPr id="24" name="Rectangle: Rounded Corners 23">
            <a:extLst>
              <a:ext uri="{FF2B5EF4-FFF2-40B4-BE49-F238E27FC236}">
                <a16:creationId xmlns:a16="http://schemas.microsoft.com/office/drawing/2014/main" id="{FE209A79-EE8A-4612-80A2-83D70DAC8226}"/>
              </a:ext>
            </a:extLst>
          </p:cNvPr>
          <p:cNvSpPr>
            <a:spLocks noGrp="1"/>
          </p:cNvSpPr>
          <p:nvPr/>
        </p:nvSpPr>
        <p:spPr>
          <a:xfrm>
            <a:off x="9258300" y="2133600"/>
            <a:ext cx="733425" cy="685800"/>
          </a:xfrm>
          <a:prstGeom prst="roundRect">
            <a:avLst>
              <a:gd name="adj" fmla="val 11111"/>
            </a:avLst>
          </a:prstGeom>
          <a:solidFill>
            <a:srgbClr val="FFFFFF"/>
          </a:solidFill>
          <a:ln w="19050">
            <a:solidFill>
              <a:srgbClr val="25A36F"/>
            </a:solidFill>
          </a:ln>
        </p:spPr>
        <p:txBody>
          <a:bodyPr/>
          <a:lstStyle/>
          <a:p>
            <a:endParaRPr lang="en-US"/>
          </a:p>
        </p:txBody>
      </p:sp>
      <p:sp>
        <p:nvSpPr>
          <p:cNvPr id="25" name="Rectangle 24">
            <a:extLst>
              <a:ext uri="{FF2B5EF4-FFF2-40B4-BE49-F238E27FC236}">
                <a16:creationId xmlns:a16="http://schemas.microsoft.com/office/drawing/2014/main" id="{62C61184-232E-4F0F-97FD-4466C340E82D}"/>
              </a:ext>
            </a:extLst>
          </p:cNvPr>
          <p:cNvSpPr>
            <a:spLocks noGrp="1"/>
          </p:cNvSpPr>
          <p:nvPr/>
        </p:nvSpPr>
        <p:spPr>
          <a:xfrm>
            <a:off x="9258300" y="2314575"/>
            <a:ext cx="733425" cy="266700"/>
          </a:xfrm>
          <a:prstGeom prst="rect">
            <a:avLst/>
          </a:prstGeom>
          <a:noFill/>
          <a:ln w="0">
            <a:noFill/>
          </a:ln>
        </p:spPr>
        <p:txBody>
          <a:bodyPr>
            <a:normAutofit fontScale="58974"/>
          </a:bodyPr>
          <a:lstStyle/>
          <a:p>
            <a:pPr>
              <a:defRPr sz="1950" b="1">
                <a:solidFill>
                  <a:srgbClr val="25A36F"/>
                </a:solidFill>
                <a:latin typeface="Arial"/>
                <a:ea typeface="Arial"/>
                <a:cs typeface="Arial"/>
              </a:defRPr>
            </a:pPr>
            <a:r>
              <a:rPr sz="1950" b="1">
                <a:solidFill>
                  <a:srgbClr val="25A36F"/>
                </a:solidFill>
                <a:latin typeface="Arial"/>
                <a:ea typeface="Arial"/>
                <a:cs typeface="Arial"/>
              </a:rPr>
              <a:t>00</a:t>
            </a:r>
          </a:p>
        </p:txBody>
      </p:sp>
      <p:sp>
        <p:nvSpPr>
          <p:cNvPr id="26" name="Rectangle: Rounded Corners 25">
            <a:extLst>
              <a:ext uri="{FF2B5EF4-FFF2-40B4-BE49-F238E27FC236}">
                <a16:creationId xmlns:a16="http://schemas.microsoft.com/office/drawing/2014/main" id="{0C31822C-C3CF-4D55-A0D8-A1C7BFCE9FBB}"/>
              </a:ext>
            </a:extLst>
          </p:cNvPr>
          <p:cNvSpPr>
            <a:spLocks noGrp="1"/>
          </p:cNvSpPr>
          <p:nvPr/>
        </p:nvSpPr>
        <p:spPr>
          <a:xfrm>
            <a:off x="10106025" y="2133600"/>
            <a:ext cx="733425" cy="685800"/>
          </a:xfrm>
          <a:prstGeom prst="roundRect">
            <a:avLst>
              <a:gd name="adj" fmla="val 11111"/>
            </a:avLst>
          </a:prstGeom>
          <a:solidFill>
            <a:srgbClr val="FFFFFF"/>
          </a:solidFill>
          <a:ln w="19050">
            <a:solidFill>
              <a:srgbClr val="25A36F"/>
            </a:solidFill>
          </a:ln>
        </p:spPr>
        <p:txBody>
          <a:bodyPr/>
          <a:lstStyle/>
          <a:p>
            <a:endParaRPr lang="en-US"/>
          </a:p>
        </p:txBody>
      </p:sp>
      <p:sp>
        <p:nvSpPr>
          <p:cNvPr id="27" name="Rectangle 26">
            <a:extLst>
              <a:ext uri="{FF2B5EF4-FFF2-40B4-BE49-F238E27FC236}">
                <a16:creationId xmlns:a16="http://schemas.microsoft.com/office/drawing/2014/main" id="{15F1E1A9-0116-4D43-BB4A-D73C728D5BDC}"/>
              </a:ext>
            </a:extLst>
          </p:cNvPr>
          <p:cNvSpPr>
            <a:spLocks noGrp="1"/>
          </p:cNvSpPr>
          <p:nvPr/>
        </p:nvSpPr>
        <p:spPr>
          <a:xfrm>
            <a:off x="10106025" y="2314575"/>
            <a:ext cx="733425" cy="266700"/>
          </a:xfrm>
          <a:prstGeom prst="rect">
            <a:avLst/>
          </a:prstGeom>
          <a:noFill/>
          <a:ln w="0">
            <a:noFill/>
          </a:ln>
        </p:spPr>
        <p:txBody>
          <a:bodyPr>
            <a:normAutofit fontScale="58974"/>
          </a:bodyPr>
          <a:lstStyle/>
          <a:p>
            <a:pPr>
              <a:defRPr sz="1950" b="1">
                <a:solidFill>
                  <a:srgbClr val="25A36F"/>
                </a:solidFill>
                <a:latin typeface="Arial"/>
                <a:ea typeface="Arial"/>
                <a:cs typeface="Arial"/>
              </a:defRPr>
            </a:pPr>
            <a:r>
              <a:rPr sz="1950" b="1">
                <a:solidFill>
                  <a:srgbClr val="25A36F"/>
                </a:solidFill>
                <a:latin typeface="Arial"/>
                <a:ea typeface="Arial"/>
                <a:cs typeface="Arial"/>
              </a:rPr>
              <a:t>…</a:t>
            </a:r>
          </a:p>
        </p:txBody>
      </p:sp>
      <p:sp>
        <p:nvSpPr>
          <p:cNvPr id="28" name="Straight Connector 27">
            <a:extLst>
              <a:ext uri="{FF2B5EF4-FFF2-40B4-BE49-F238E27FC236}">
                <a16:creationId xmlns:a16="http://schemas.microsoft.com/office/drawing/2014/main" id="{5724680F-DAD5-4A26-87FE-BBEAB34E014F}"/>
              </a:ext>
            </a:extLst>
          </p:cNvPr>
          <p:cNvSpPr>
            <a:spLocks noGrp="1"/>
          </p:cNvSpPr>
          <p:nvPr/>
        </p:nvSpPr>
        <p:spPr>
          <a:xfrm>
            <a:off x="781050" y="3048000"/>
            <a:ext cx="3276600" cy="0"/>
          </a:xfrm>
          <a:prstGeom prst="line">
            <a:avLst/>
          </a:prstGeom>
          <a:noFill/>
          <a:ln w="19050">
            <a:solidFill>
              <a:srgbClr val="2667D8"/>
            </a:solidFill>
          </a:ln>
        </p:spPr>
        <p:txBody>
          <a:bodyPr/>
          <a:lstStyle/>
          <a:p>
            <a:endParaRPr lang="en-US"/>
          </a:p>
        </p:txBody>
      </p:sp>
      <p:sp>
        <p:nvSpPr>
          <p:cNvPr id="29" name="Straight Connector 28">
            <a:extLst>
              <a:ext uri="{FF2B5EF4-FFF2-40B4-BE49-F238E27FC236}">
                <a16:creationId xmlns:a16="http://schemas.microsoft.com/office/drawing/2014/main" id="{E33F7FCC-74CB-4D2C-B674-8B714B38EB2A}"/>
              </a:ext>
            </a:extLst>
          </p:cNvPr>
          <p:cNvSpPr>
            <a:spLocks noGrp="1"/>
          </p:cNvSpPr>
          <p:nvPr/>
        </p:nvSpPr>
        <p:spPr>
          <a:xfrm>
            <a:off x="4057650" y="3048000"/>
            <a:ext cx="5076825" cy="0"/>
          </a:xfrm>
          <a:prstGeom prst="line">
            <a:avLst/>
          </a:prstGeom>
          <a:noFill/>
          <a:ln w="19050">
            <a:solidFill>
              <a:srgbClr val="F2994A"/>
            </a:solidFill>
          </a:ln>
        </p:spPr>
        <p:txBody>
          <a:bodyPr/>
          <a:lstStyle/>
          <a:p>
            <a:endParaRPr lang="en-US"/>
          </a:p>
        </p:txBody>
      </p:sp>
      <p:sp>
        <p:nvSpPr>
          <p:cNvPr id="30" name="Straight Connector 29">
            <a:extLst>
              <a:ext uri="{FF2B5EF4-FFF2-40B4-BE49-F238E27FC236}">
                <a16:creationId xmlns:a16="http://schemas.microsoft.com/office/drawing/2014/main" id="{A64DBE80-CD3C-4BE1-81D0-C3D51152B9FB}"/>
              </a:ext>
            </a:extLst>
          </p:cNvPr>
          <p:cNvSpPr>
            <a:spLocks noGrp="1"/>
          </p:cNvSpPr>
          <p:nvPr/>
        </p:nvSpPr>
        <p:spPr>
          <a:xfrm>
            <a:off x="5019676" y="3048000"/>
            <a:ext cx="6481026" cy="0"/>
          </a:xfrm>
          <a:prstGeom prst="line">
            <a:avLst/>
          </a:prstGeom>
          <a:noFill/>
          <a:ln w="19050">
            <a:solidFill>
              <a:srgbClr val="16A4C7"/>
            </a:solidFill>
          </a:ln>
        </p:spPr>
        <p:txBody>
          <a:bodyPr/>
          <a:lstStyle/>
          <a:p>
            <a:endParaRPr lang="en-US"/>
          </a:p>
        </p:txBody>
      </p:sp>
      <p:sp>
        <p:nvSpPr>
          <p:cNvPr id="31" name="Straight Connector 30">
            <a:extLst>
              <a:ext uri="{FF2B5EF4-FFF2-40B4-BE49-F238E27FC236}">
                <a16:creationId xmlns:a16="http://schemas.microsoft.com/office/drawing/2014/main" id="{79840FAD-9249-47A7-99E9-5107253B4664}"/>
              </a:ext>
            </a:extLst>
          </p:cNvPr>
          <p:cNvSpPr>
            <a:spLocks noGrp="1"/>
          </p:cNvSpPr>
          <p:nvPr/>
        </p:nvSpPr>
        <p:spPr>
          <a:xfrm>
            <a:off x="7562850" y="3048000"/>
            <a:ext cx="3937851" cy="0"/>
          </a:xfrm>
          <a:prstGeom prst="line">
            <a:avLst/>
          </a:prstGeom>
          <a:noFill/>
          <a:ln w="19050">
            <a:solidFill>
              <a:srgbClr val="25A36F"/>
            </a:solidFill>
          </a:ln>
        </p:spPr>
        <p:txBody>
          <a:bodyPr/>
          <a:lstStyle/>
          <a:p>
            <a:endParaRPr lang="en-US"/>
          </a:p>
        </p:txBody>
      </p:sp>
      <p:sp>
        <p:nvSpPr>
          <p:cNvPr id="32" name="Rectangle 31">
            <a:extLst>
              <a:ext uri="{FF2B5EF4-FFF2-40B4-BE49-F238E27FC236}">
                <a16:creationId xmlns:a16="http://schemas.microsoft.com/office/drawing/2014/main" id="{E59319DC-6CBA-49D2-9EEE-28F736A2A7F3}"/>
              </a:ext>
            </a:extLst>
          </p:cNvPr>
          <p:cNvSpPr>
            <a:spLocks noGrp="1"/>
          </p:cNvSpPr>
          <p:nvPr/>
        </p:nvSpPr>
        <p:spPr>
          <a:xfrm>
            <a:off x="781050" y="3257550"/>
            <a:ext cx="24955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1. Start code</a:t>
            </a:r>
          </a:p>
        </p:txBody>
      </p:sp>
      <p:sp>
        <p:nvSpPr>
          <p:cNvPr id="33" name="Rectangle 32">
            <a:extLst>
              <a:ext uri="{FF2B5EF4-FFF2-40B4-BE49-F238E27FC236}">
                <a16:creationId xmlns:a16="http://schemas.microsoft.com/office/drawing/2014/main" id="{D413A6B4-1ABD-42CE-8313-0B8D33ED4991}"/>
              </a:ext>
            </a:extLst>
          </p:cNvPr>
          <p:cNvSpPr>
            <a:spLocks noGrp="1"/>
          </p:cNvSpPr>
          <p:nvPr/>
        </p:nvSpPr>
        <p:spPr>
          <a:xfrm>
            <a:off x="781050" y="3552825"/>
            <a:ext cx="2495550" cy="438150"/>
          </a:xfrm>
          <a:prstGeom prst="rect">
            <a:avLst/>
          </a:prstGeom>
          <a:noFill/>
          <a:ln w="0">
            <a:noFill/>
          </a:ln>
        </p:spPr>
        <p:txBody>
          <a:bodyPr>
            <a:normAutofit fontScale="84259"/>
          </a:bodyPr>
          <a:lstStyle/>
          <a:p>
            <a:pPr>
              <a:defRPr sz="1350">
                <a:solidFill>
                  <a:srgbClr val="5A6780"/>
                </a:solidFill>
                <a:latin typeface="Arial"/>
                <a:ea typeface="Arial"/>
                <a:cs typeface="Arial"/>
              </a:defRPr>
            </a:pPr>
            <a:r>
              <a:rPr sz="1350">
                <a:solidFill>
                  <a:srgbClr val="5A6780"/>
                </a:solidFill>
                <a:latin typeface="Arial"/>
                <a:ea typeface="Arial"/>
                <a:cs typeface="Arial"/>
              </a:rPr>
              <a:t>00 00 00 01</a:t>
            </a:r>
          </a:p>
          <a:p>
            <a:pPr>
              <a:defRPr sz="1350">
                <a:solidFill>
                  <a:srgbClr val="5A6780"/>
                </a:solidFill>
                <a:latin typeface="Arial"/>
                <a:ea typeface="Arial"/>
                <a:cs typeface="Arial"/>
              </a:defRPr>
            </a:pPr>
            <a:r>
              <a:rPr sz="1350">
                <a:solidFill>
                  <a:srgbClr val="5A6780"/>
                </a:solidFill>
                <a:latin typeface="Arial"/>
                <a:ea typeface="Arial"/>
                <a:cs typeface="Arial"/>
              </a:rPr>
              <a:t>Mốc bắt đầu NAL</a:t>
            </a:r>
          </a:p>
        </p:txBody>
      </p:sp>
      <p:sp>
        <p:nvSpPr>
          <p:cNvPr id="34" name="Rectangle 33">
            <a:extLst>
              <a:ext uri="{FF2B5EF4-FFF2-40B4-BE49-F238E27FC236}">
                <a16:creationId xmlns:a16="http://schemas.microsoft.com/office/drawing/2014/main" id="{25F7B36A-C459-46B7-869F-147FE6B1854A}"/>
              </a:ext>
            </a:extLst>
          </p:cNvPr>
          <p:cNvSpPr>
            <a:spLocks noGrp="1"/>
          </p:cNvSpPr>
          <p:nvPr/>
        </p:nvSpPr>
        <p:spPr>
          <a:xfrm>
            <a:off x="3619500" y="3257550"/>
            <a:ext cx="1685925" cy="228600"/>
          </a:xfrm>
          <a:prstGeom prst="rect">
            <a:avLst/>
          </a:prstGeom>
          <a:noFill/>
          <a:ln w="0">
            <a:noFill/>
          </a:ln>
        </p:spPr>
        <p:txBody>
          <a:bodyPr>
            <a:normAutofit fontScale="60000"/>
          </a:bodyPr>
          <a:lstStyle/>
          <a:p>
            <a:pPr>
              <a:defRPr sz="1500" b="1">
                <a:solidFill>
                  <a:srgbClr val="F2994A"/>
                </a:solidFill>
                <a:latin typeface="Arial"/>
                <a:ea typeface="Arial"/>
                <a:cs typeface="Arial"/>
              </a:defRPr>
            </a:pPr>
            <a:r>
              <a:rPr sz="1500" b="1">
                <a:solidFill>
                  <a:srgbClr val="F2994A"/>
                </a:solidFill>
                <a:latin typeface="Arial"/>
                <a:ea typeface="Arial"/>
                <a:cs typeface="Arial"/>
              </a:rPr>
              <a:t>2. NAL header</a:t>
            </a:r>
          </a:p>
        </p:txBody>
      </p:sp>
      <p:sp>
        <p:nvSpPr>
          <p:cNvPr id="35" name="Rectangle 34">
            <a:extLst>
              <a:ext uri="{FF2B5EF4-FFF2-40B4-BE49-F238E27FC236}">
                <a16:creationId xmlns:a16="http://schemas.microsoft.com/office/drawing/2014/main" id="{49B1D12B-A8A3-49CC-9705-89FCC22D1175}"/>
              </a:ext>
            </a:extLst>
          </p:cNvPr>
          <p:cNvSpPr>
            <a:spLocks noGrp="1"/>
          </p:cNvSpPr>
          <p:nvPr/>
        </p:nvSpPr>
        <p:spPr>
          <a:xfrm>
            <a:off x="3619500" y="3552825"/>
            <a:ext cx="1685925" cy="438150"/>
          </a:xfrm>
          <a:prstGeom prst="rect">
            <a:avLst/>
          </a:prstGeom>
          <a:noFill/>
          <a:ln w="0">
            <a:noFill/>
          </a:ln>
        </p:spPr>
        <p:txBody>
          <a:bodyPr>
            <a:normAutofit/>
          </a:bodyPr>
          <a:lstStyle/>
          <a:p>
            <a:pPr>
              <a:defRPr sz="1350">
                <a:solidFill>
                  <a:srgbClr val="5A6780"/>
                </a:solidFill>
                <a:latin typeface="Arial"/>
                <a:ea typeface="Arial"/>
                <a:cs typeface="Arial"/>
              </a:defRPr>
            </a:pPr>
            <a:r>
              <a:rPr sz="1350">
                <a:solidFill>
                  <a:srgbClr val="5A6780"/>
                </a:solidFill>
                <a:latin typeface="Arial"/>
                <a:ea typeface="Arial"/>
                <a:cs typeface="Arial"/>
              </a:rPr>
              <a:t>65 = IDR slice</a:t>
            </a:r>
          </a:p>
        </p:txBody>
      </p:sp>
      <p:sp>
        <p:nvSpPr>
          <p:cNvPr id="36" name="Rectangle 35">
            <a:extLst>
              <a:ext uri="{FF2B5EF4-FFF2-40B4-BE49-F238E27FC236}">
                <a16:creationId xmlns:a16="http://schemas.microsoft.com/office/drawing/2014/main" id="{FC003DB8-0100-482F-9DE1-0E7B305C6E7E}"/>
              </a:ext>
            </a:extLst>
          </p:cNvPr>
          <p:cNvSpPr>
            <a:spLocks noGrp="1"/>
          </p:cNvSpPr>
          <p:nvPr/>
        </p:nvSpPr>
        <p:spPr>
          <a:xfrm>
            <a:off x="5543550" y="3257550"/>
            <a:ext cx="2057400" cy="228600"/>
          </a:xfrm>
          <a:prstGeom prst="rect">
            <a:avLst/>
          </a:prstGeom>
          <a:noFill/>
          <a:ln w="0">
            <a:noFill/>
          </a:ln>
        </p:spPr>
        <p:txBody>
          <a:bodyPr>
            <a:normAutofit fontScale="60000"/>
          </a:bodyPr>
          <a:lstStyle/>
          <a:p>
            <a:pPr>
              <a:defRPr sz="1500" b="1">
                <a:solidFill>
                  <a:srgbClr val="16A4C7"/>
                </a:solidFill>
                <a:latin typeface="Arial"/>
                <a:ea typeface="Arial"/>
                <a:cs typeface="Arial"/>
              </a:defRPr>
            </a:pPr>
            <a:r>
              <a:rPr sz="1500" b="1">
                <a:solidFill>
                  <a:srgbClr val="16A4C7"/>
                </a:solidFill>
                <a:latin typeface="Arial"/>
                <a:ea typeface="Arial"/>
                <a:cs typeface="Arial"/>
              </a:rPr>
              <a:t>3. Slice header</a:t>
            </a:r>
          </a:p>
        </p:txBody>
      </p:sp>
      <p:sp>
        <p:nvSpPr>
          <p:cNvPr id="37" name="Rectangle 36">
            <a:extLst>
              <a:ext uri="{FF2B5EF4-FFF2-40B4-BE49-F238E27FC236}">
                <a16:creationId xmlns:a16="http://schemas.microsoft.com/office/drawing/2014/main" id="{3C87686A-0231-4A14-9305-F299D94F8936}"/>
              </a:ext>
            </a:extLst>
          </p:cNvPr>
          <p:cNvSpPr>
            <a:spLocks noGrp="1"/>
          </p:cNvSpPr>
          <p:nvPr/>
        </p:nvSpPr>
        <p:spPr>
          <a:xfrm>
            <a:off x="5543550" y="3552825"/>
            <a:ext cx="2057400" cy="438150"/>
          </a:xfrm>
          <a:prstGeom prst="rect">
            <a:avLst/>
          </a:prstGeom>
          <a:noFill/>
          <a:ln w="0">
            <a:noFill/>
          </a:ln>
        </p:spPr>
        <p:txBody>
          <a:bodyPr>
            <a:normAutofit/>
          </a:bodyPr>
          <a:lstStyle/>
          <a:p>
            <a:pPr>
              <a:defRPr sz="1350">
                <a:solidFill>
                  <a:srgbClr val="5A6780"/>
                </a:solidFill>
                <a:latin typeface="Arial"/>
                <a:ea typeface="Arial"/>
                <a:cs typeface="Arial"/>
              </a:defRPr>
            </a:pPr>
            <a:r>
              <a:rPr sz="1350">
                <a:solidFill>
                  <a:srgbClr val="5A6780"/>
                </a:solidFill>
                <a:latin typeface="Arial"/>
                <a:ea typeface="Arial"/>
                <a:cs typeface="Arial"/>
              </a:rPr>
              <a:t>Tham số để đọc slice</a:t>
            </a:r>
          </a:p>
        </p:txBody>
      </p:sp>
      <p:sp>
        <p:nvSpPr>
          <p:cNvPr id="38" name="Rectangle 37">
            <a:extLst>
              <a:ext uri="{FF2B5EF4-FFF2-40B4-BE49-F238E27FC236}">
                <a16:creationId xmlns:a16="http://schemas.microsoft.com/office/drawing/2014/main" id="{90BE1CD1-440C-471E-9089-2BFA3543E52D}"/>
              </a:ext>
            </a:extLst>
          </p:cNvPr>
          <p:cNvSpPr>
            <a:spLocks noGrp="1"/>
          </p:cNvSpPr>
          <p:nvPr/>
        </p:nvSpPr>
        <p:spPr>
          <a:xfrm>
            <a:off x="7915275" y="3257550"/>
            <a:ext cx="2828925" cy="228600"/>
          </a:xfrm>
          <a:prstGeom prst="rect">
            <a:avLst/>
          </a:prstGeom>
          <a:noFill/>
          <a:ln w="0">
            <a:noFill/>
          </a:ln>
        </p:spPr>
        <p:txBody>
          <a:bodyPr>
            <a:normAutofit fontScale="60000"/>
          </a:bodyPr>
          <a:lstStyle/>
          <a:p>
            <a:pPr>
              <a:defRPr sz="1500" b="1">
                <a:solidFill>
                  <a:srgbClr val="25A36F"/>
                </a:solidFill>
                <a:latin typeface="Arial"/>
                <a:ea typeface="Arial"/>
                <a:cs typeface="Arial"/>
              </a:defRPr>
            </a:pPr>
            <a:r>
              <a:rPr sz="1500" b="1">
                <a:solidFill>
                  <a:srgbClr val="25A36F"/>
                </a:solidFill>
                <a:latin typeface="Arial"/>
                <a:ea typeface="Arial"/>
                <a:cs typeface="Arial"/>
              </a:rPr>
              <a:t>4. Slice data</a:t>
            </a:r>
          </a:p>
        </p:txBody>
      </p:sp>
      <p:sp>
        <p:nvSpPr>
          <p:cNvPr id="39" name="Rectangle 38">
            <a:extLst>
              <a:ext uri="{FF2B5EF4-FFF2-40B4-BE49-F238E27FC236}">
                <a16:creationId xmlns:a16="http://schemas.microsoft.com/office/drawing/2014/main" id="{24EE66FA-C5C5-4CFB-BE13-16B204A41821}"/>
              </a:ext>
            </a:extLst>
          </p:cNvPr>
          <p:cNvSpPr>
            <a:spLocks noGrp="1"/>
          </p:cNvSpPr>
          <p:nvPr/>
        </p:nvSpPr>
        <p:spPr>
          <a:xfrm>
            <a:off x="7915275" y="3552825"/>
            <a:ext cx="2828925" cy="438150"/>
          </a:xfrm>
          <a:prstGeom prst="rect">
            <a:avLst/>
          </a:prstGeom>
          <a:noFill/>
          <a:ln w="0">
            <a:noFill/>
          </a:ln>
        </p:spPr>
        <p:txBody>
          <a:bodyPr>
            <a:normAutofit fontScale="84259"/>
          </a:bodyPr>
          <a:lstStyle/>
          <a:p>
            <a:pPr>
              <a:defRPr sz="1350">
                <a:solidFill>
                  <a:srgbClr val="5A6780"/>
                </a:solidFill>
                <a:latin typeface="Arial"/>
                <a:ea typeface="Arial"/>
                <a:cs typeface="Arial"/>
              </a:defRPr>
            </a:pPr>
            <a:r>
              <a:rPr sz="1350">
                <a:solidFill>
                  <a:srgbClr val="5A6780"/>
                </a:solidFill>
                <a:latin typeface="Arial"/>
                <a:ea typeface="Arial"/>
                <a:cs typeface="Arial"/>
              </a:rPr>
              <a:t>Dữ liệu residual/CAVLC</a:t>
            </a:r>
          </a:p>
          <a:p>
            <a:pPr>
              <a:defRPr sz="1350">
                <a:solidFill>
                  <a:srgbClr val="5A6780"/>
                </a:solidFill>
                <a:latin typeface="Arial"/>
                <a:ea typeface="Arial"/>
                <a:cs typeface="Arial"/>
              </a:defRPr>
            </a:pPr>
            <a:r>
              <a:rPr sz="1350">
                <a:solidFill>
                  <a:srgbClr val="5A6780"/>
                </a:solidFill>
                <a:latin typeface="Arial"/>
                <a:ea typeface="Arial"/>
                <a:cs typeface="Arial"/>
              </a:rPr>
              <a:t>ở sâu bên trong</a:t>
            </a:r>
          </a:p>
        </p:txBody>
      </p:sp>
      <p:sp>
        <p:nvSpPr>
          <p:cNvPr id="40" name="Rectangle 39">
            <a:extLst>
              <a:ext uri="{FF2B5EF4-FFF2-40B4-BE49-F238E27FC236}">
                <a16:creationId xmlns:a16="http://schemas.microsoft.com/office/drawing/2014/main" id="{684E391D-E65A-4924-AE07-C4E969838587}"/>
              </a:ext>
            </a:extLst>
          </p:cNvPr>
          <p:cNvSpPr>
            <a:spLocks noGrp="1"/>
          </p:cNvSpPr>
          <p:nvPr/>
        </p:nvSpPr>
        <p:spPr>
          <a:xfrm>
            <a:off x="1428750" y="4238625"/>
            <a:ext cx="93345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5 — Dải byte chỉ là ví dụ minh họa. Start code và header có vị trí xác định; nội dung slice khác theo từng video.</a:t>
            </a:r>
          </a:p>
        </p:txBody>
      </p:sp>
      <p:sp>
        <p:nvSpPr>
          <p:cNvPr id="41" name="Rectangle: Rounded Corners 40">
            <a:extLst>
              <a:ext uri="{FF2B5EF4-FFF2-40B4-BE49-F238E27FC236}">
                <a16:creationId xmlns:a16="http://schemas.microsoft.com/office/drawing/2014/main" id="{8C4F01DB-F2F0-4943-B419-033BD33C1C92}"/>
              </a:ext>
            </a:extLst>
          </p:cNvPr>
          <p:cNvSpPr>
            <a:spLocks noGrp="1"/>
          </p:cNvSpPr>
          <p:nvPr/>
        </p:nvSpPr>
        <p:spPr>
          <a:xfrm>
            <a:off x="1428750" y="4695825"/>
            <a:ext cx="9334500" cy="828675"/>
          </a:xfrm>
          <a:prstGeom prst="roundRect">
            <a:avLst>
              <a:gd name="adj" fmla="val 9195"/>
            </a:avLst>
          </a:prstGeom>
          <a:solidFill>
            <a:srgbClr val="FFF5E9"/>
          </a:solidFill>
          <a:ln w="9525">
            <a:solidFill>
              <a:srgbClr val="F7D2A5"/>
            </a:solidFill>
          </a:ln>
        </p:spPr>
        <p:txBody>
          <a:bodyPr/>
          <a:lstStyle/>
          <a:p>
            <a:endParaRPr lang="en-US"/>
          </a:p>
        </p:txBody>
      </p:sp>
      <p:sp>
        <p:nvSpPr>
          <p:cNvPr id="42" name="Rectangle 41">
            <a:extLst>
              <a:ext uri="{FF2B5EF4-FFF2-40B4-BE49-F238E27FC236}">
                <a16:creationId xmlns:a16="http://schemas.microsoft.com/office/drawing/2014/main" id="{F5AD0ABE-AA9A-4350-8928-44A04F2689C1}"/>
              </a:ext>
            </a:extLst>
          </p:cNvPr>
          <p:cNvSpPr>
            <a:spLocks noGrp="1"/>
          </p:cNvSpPr>
          <p:nvPr/>
        </p:nvSpPr>
        <p:spPr>
          <a:xfrm>
            <a:off x="1781175" y="4895850"/>
            <a:ext cx="8629650" cy="419100"/>
          </a:xfrm>
          <a:prstGeom prst="rect">
            <a:avLst/>
          </a:prstGeom>
          <a:noFill/>
          <a:ln w="0">
            <a:noFill/>
          </a:ln>
        </p:spPr>
        <p:txBody>
          <a:bodyPr>
            <a:normAutofit fontScale="71667"/>
          </a:bodyPr>
          <a:lstStyle/>
          <a:p>
            <a:pPr>
              <a:defRPr sz="1500" b="1">
                <a:solidFill>
                  <a:srgbClr val="875019"/>
                </a:solidFill>
                <a:latin typeface="Arial"/>
                <a:ea typeface="Arial"/>
                <a:cs typeface="Arial"/>
              </a:defRPr>
            </a:pPr>
            <a:r>
              <a:rPr sz="1500" b="1">
                <a:solidFill>
                  <a:srgbClr val="875019"/>
                </a:solidFill>
                <a:latin typeface="Arial"/>
                <a:ea typeface="Arial"/>
                <a:cs typeface="Arial"/>
              </a:rPr>
              <a:t>Native chỉ đi tiếp khi NAL là IDR slice thuộc nhánh CAVLC hỗ trợ. Header không phải vị trí nhúng; parser đi sâu vào residual để liệt kê dấu T1 ứng viên.</a:t>
            </a:r>
          </a:p>
        </p:txBody>
      </p:sp>
      <p:sp>
        <p:nvSpPr>
          <p:cNvPr id="43" name="Rectangle 42">
            <a:extLst>
              <a:ext uri="{FF2B5EF4-FFF2-40B4-BE49-F238E27FC236}">
                <a16:creationId xmlns:a16="http://schemas.microsoft.com/office/drawing/2014/main" id="{417208CD-F9CA-4486-BDF9-A12259A5CE0D}"/>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44" name="Rectangle 43">
            <a:extLst>
              <a:ext uri="{FF2B5EF4-FFF2-40B4-BE49-F238E27FC236}">
                <a16:creationId xmlns:a16="http://schemas.microsoft.com/office/drawing/2014/main" id="{7A1B7C1F-C491-4B1D-9058-B873A09FDB6A}"/>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05</a:t>
            </a:r>
          </a:p>
        </p:txBody>
      </p:sp>
    </p:spTree>
    <p:extLst>
      <p:ext uri="{BB962C8B-B14F-4D97-AF65-F5344CB8AC3E}">
        <p14:creationId xmlns:p14="http://schemas.microsoft.com/office/powerpoint/2010/main" val="1251095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306F662-E448-454D-B3A0-C0DC0AE3D195}"/>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Từ video đến một coefficient</a:t>
            </a:r>
          </a:p>
        </p:txBody>
      </p:sp>
      <p:sp>
        <p:nvSpPr>
          <p:cNvPr id="2" name="Rectangle 1">
            <a:extLst>
              <a:ext uri="{FF2B5EF4-FFF2-40B4-BE49-F238E27FC236}">
                <a16:creationId xmlns:a16="http://schemas.microsoft.com/office/drawing/2014/main" id="{75F928C8-5C89-4469-B237-B0418CBA2990}"/>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Không phải sơ đồ dữ liệu. Đây là quá trình phóng to dần vào một vùng nhỏ của video.</a:t>
            </a:r>
          </a:p>
        </p:txBody>
      </p:sp>
      <p:sp>
        <p:nvSpPr>
          <p:cNvPr id="3" name="Straight Connector 2">
            <a:extLst>
              <a:ext uri="{FF2B5EF4-FFF2-40B4-BE49-F238E27FC236}">
                <a16:creationId xmlns:a16="http://schemas.microsoft.com/office/drawing/2014/main" id="{7C5024D0-D966-42D0-B175-EEA02C800FC6}"/>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6" name="Picture 15"/>
          <p:cNvPicPr>
            <a:picLocks noChangeAspect="1"/>
          </p:cNvPicPr>
          <p:nvPr/>
        </p:nvPicPr>
        <p:blipFill>
          <a:blip r:embed="rId3"/>
          <a:stretch/>
        </p:blipFill>
        <p:spPr>
          <a:xfrm>
            <a:off x="588771" y="1122236"/>
            <a:ext cx="10403079" cy="4213479"/>
          </a:xfrm>
          <a:prstGeom prst="rect">
            <a:avLst/>
          </a:prstGeom>
        </p:spPr>
      </p:pic>
      <p:sp>
        <p:nvSpPr>
          <p:cNvPr id="5" name="Rectangle 4">
            <a:extLst>
              <a:ext uri="{FF2B5EF4-FFF2-40B4-BE49-F238E27FC236}">
                <a16:creationId xmlns:a16="http://schemas.microsoft.com/office/drawing/2014/main" id="{CA1A4744-FA54-4164-BD37-D775C7FC4D3C}"/>
              </a:ext>
            </a:extLst>
          </p:cNvPr>
          <p:cNvSpPr>
            <a:spLocks noGrp="1"/>
          </p:cNvSpPr>
          <p:nvPr/>
        </p:nvSpPr>
        <p:spPr>
          <a:xfrm>
            <a:off x="1416177" y="4133850"/>
            <a:ext cx="1905000" cy="228600"/>
          </a:xfrm>
          <a:prstGeom prst="rect">
            <a:avLst/>
          </a:prstGeom>
          <a:noFill/>
          <a:ln w="0">
            <a:noFill/>
          </a:ln>
        </p:spPr>
        <p:txBody>
          <a:bodyPr>
            <a:normAutofit fontScale="69545" lnSpcReduction="20000"/>
          </a:bodyPr>
          <a:lstStyle/>
          <a:p>
            <a:pPr>
              <a:defRPr sz="1650" b="1">
                <a:solidFill>
                  <a:srgbClr val="2667D8"/>
                </a:solidFill>
                <a:latin typeface="Arial"/>
                <a:ea typeface="Arial"/>
                <a:cs typeface="Arial"/>
              </a:defRPr>
            </a:pPr>
            <a:r>
              <a:rPr sz="1650" b="1" dirty="0">
                <a:solidFill>
                  <a:srgbClr val="2667D8"/>
                </a:solidFill>
                <a:latin typeface="Arial"/>
                <a:ea typeface="Arial"/>
                <a:cs typeface="Arial"/>
              </a:rPr>
              <a:t>Video frames</a:t>
            </a:r>
          </a:p>
        </p:txBody>
      </p:sp>
      <p:sp>
        <p:nvSpPr>
          <p:cNvPr id="6" name="Rectangle 5">
            <a:extLst>
              <a:ext uri="{FF2B5EF4-FFF2-40B4-BE49-F238E27FC236}">
                <a16:creationId xmlns:a16="http://schemas.microsoft.com/office/drawing/2014/main" id="{C6713FF3-C863-4A3A-BDAB-FCD41BF94F4C}"/>
              </a:ext>
            </a:extLst>
          </p:cNvPr>
          <p:cNvSpPr>
            <a:spLocks noGrp="1"/>
          </p:cNvSpPr>
          <p:nvPr/>
        </p:nvSpPr>
        <p:spPr>
          <a:xfrm>
            <a:off x="5026152" y="4117848"/>
            <a:ext cx="2000250" cy="228600"/>
          </a:xfrm>
          <a:prstGeom prst="rect">
            <a:avLst/>
          </a:prstGeom>
          <a:noFill/>
          <a:ln w="0">
            <a:noFill/>
          </a:ln>
        </p:spPr>
        <p:txBody>
          <a:bodyPr>
            <a:normAutofit fontScale="62045" lnSpcReduction="10000"/>
          </a:bodyPr>
          <a:lstStyle/>
          <a:p>
            <a:pPr>
              <a:defRPr sz="1650" b="1">
                <a:solidFill>
                  <a:srgbClr val="16A4C7"/>
                </a:solidFill>
                <a:latin typeface="Arial"/>
                <a:ea typeface="Arial"/>
                <a:cs typeface="Arial"/>
              </a:defRPr>
            </a:pPr>
            <a:r>
              <a:rPr sz="1650" b="1" dirty="0" err="1">
                <a:solidFill>
                  <a:srgbClr val="16A4C7"/>
                </a:solidFill>
                <a:latin typeface="Arial"/>
                <a:ea typeface="Arial"/>
                <a:cs typeface="Arial"/>
              </a:rPr>
              <a:t>Một</a:t>
            </a:r>
            <a:r>
              <a:rPr sz="1650" b="1" dirty="0">
                <a:solidFill>
                  <a:srgbClr val="16A4C7"/>
                </a:solidFill>
                <a:latin typeface="Arial"/>
                <a:ea typeface="Arial"/>
                <a:cs typeface="Arial"/>
              </a:rPr>
              <a:t> frame IDR</a:t>
            </a:r>
          </a:p>
        </p:txBody>
      </p:sp>
      <p:sp>
        <p:nvSpPr>
          <p:cNvPr id="7" name="Rectangle 6">
            <a:extLst>
              <a:ext uri="{FF2B5EF4-FFF2-40B4-BE49-F238E27FC236}">
                <a16:creationId xmlns:a16="http://schemas.microsoft.com/office/drawing/2014/main" id="{8B0AB3BE-F458-481A-BB57-C00D575512FB}"/>
              </a:ext>
            </a:extLst>
          </p:cNvPr>
          <p:cNvSpPr>
            <a:spLocks noGrp="1"/>
          </p:cNvSpPr>
          <p:nvPr/>
        </p:nvSpPr>
        <p:spPr>
          <a:xfrm>
            <a:off x="7659814" y="4076699"/>
            <a:ext cx="2143125" cy="228600"/>
          </a:xfrm>
          <a:prstGeom prst="rect">
            <a:avLst/>
          </a:prstGeom>
          <a:noFill/>
          <a:ln w="0">
            <a:noFill/>
          </a:ln>
        </p:spPr>
        <p:txBody>
          <a:bodyPr>
            <a:normAutofit fontScale="69545" lnSpcReduction="20000"/>
          </a:bodyPr>
          <a:lstStyle/>
          <a:p>
            <a:pPr>
              <a:defRPr sz="1650" b="1">
                <a:solidFill>
                  <a:srgbClr val="F2994A"/>
                </a:solidFill>
                <a:latin typeface="Arial"/>
                <a:ea typeface="Arial"/>
                <a:cs typeface="Arial"/>
              </a:defRPr>
            </a:pPr>
            <a:r>
              <a:rPr sz="1650" b="1" dirty="0">
                <a:solidFill>
                  <a:srgbClr val="F2994A"/>
                </a:solidFill>
                <a:latin typeface="Arial"/>
                <a:ea typeface="Arial"/>
                <a:cs typeface="Arial"/>
              </a:rPr>
              <a:t>Macroblock 16×16</a:t>
            </a:r>
          </a:p>
        </p:txBody>
      </p:sp>
      <p:sp>
        <p:nvSpPr>
          <p:cNvPr id="8" name="Rectangle 7">
            <a:extLst>
              <a:ext uri="{FF2B5EF4-FFF2-40B4-BE49-F238E27FC236}">
                <a16:creationId xmlns:a16="http://schemas.microsoft.com/office/drawing/2014/main" id="{3DEDAB8D-9CD1-4E6A-942B-16EB24E4E317}"/>
              </a:ext>
            </a:extLst>
          </p:cNvPr>
          <p:cNvSpPr>
            <a:spLocks noGrp="1"/>
          </p:cNvSpPr>
          <p:nvPr/>
        </p:nvSpPr>
        <p:spPr>
          <a:xfrm>
            <a:off x="9802939" y="4019550"/>
            <a:ext cx="1666875" cy="228600"/>
          </a:xfrm>
          <a:prstGeom prst="rect">
            <a:avLst/>
          </a:prstGeom>
          <a:noFill/>
          <a:ln w="0">
            <a:noFill/>
          </a:ln>
        </p:spPr>
        <p:txBody>
          <a:bodyPr>
            <a:normAutofit fontScale="69545" lnSpcReduction="20000"/>
          </a:bodyPr>
          <a:lstStyle/>
          <a:p>
            <a:pPr>
              <a:defRPr sz="1650" b="1">
                <a:solidFill>
                  <a:srgbClr val="7555D9"/>
                </a:solidFill>
                <a:latin typeface="Arial"/>
                <a:ea typeface="Arial"/>
                <a:cs typeface="Arial"/>
              </a:defRPr>
            </a:pPr>
            <a:r>
              <a:rPr sz="1650" b="1" dirty="0">
                <a:solidFill>
                  <a:srgbClr val="7555D9"/>
                </a:solidFill>
                <a:latin typeface="Arial"/>
                <a:ea typeface="Arial"/>
                <a:cs typeface="Arial"/>
              </a:rPr>
              <a:t>Residual 4×4</a:t>
            </a:r>
          </a:p>
        </p:txBody>
      </p:sp>
      <p:sp>
        <p:nvSpPr>
          <p:cNvPr id="9" name="Rectangle 8">
            <a:extLst>
              <a:ext uri="{FF2B5EF4-FFF2-40B4-BE49-F238E27FC236}">
                <a16:creationId xmlns:a16="http://schemas.microsoft.com/office/drawing/2014/main" id="{9C6F42BA-60B4-4157-8438-24EEF2B5D5B2}"/>
              </a:ext>
            </a:extLst>
          </p:cNvPr>
          <p:cNvSpPr>
            <a:spLocks noGrp="1"/>
          </p:cNvSpPr>
          <p:nvPr/>
        </p:nvSpPr>
        <p:spPr>
          <a:xfrm>
            <a:off x="1524000" y="5819775"/>
            <a:ext cx="91440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6 — Phóng to từ frame IDR đến block residual 4×4, nơi native tìm dấu trailing-one ứng viên.</a:t>
            </a:r>
          </a:p>
        </p:txBody>
      </p:sp>
      <p:sp>
        <p:nvSpPr>
          <p:cNvPr id="10" name="Rectangle 9">
            <a:extLst>
              <a:ext uri="{FF2B5EF4-FFF2-40B4-BE49-F238E27FC236}">
                <a16:creationId xmlns:a16="http://schemas.microsoft.com/office/drawing/2014/main" id="{ADAE8294-3186-4C8F-84AA-B166766C4FBD}"/>
              </a:ext>
            </a:extLst>
          </p:cNvPr>
          <p:cNvSpPr>
            <a:spLocks noGrp="1"/>
          </p:cNvSpPr>
          <p:nvPr/>
        </p:nvSpPr>
        <p:spPr>
          <a:xfrm>
            <a:off x="1524000" y="6067425"/>
            <a:ext cx="9144000" cy="209550"/>
          </a:xfrm>
          <a:prstGeom prst="rect">
            <a:avLst/>
          </a:prstGeom>
          <a:noFill/>
          <a:ln w="0">
            <a:noFill/>
          </a:ln>
        </p:spPr>
        <p:txBody>
          <a:bodyPr>
            <a:normAutofit fontScale="51667"/>
          </a:bodyPr>
          <a:lstStyle/>
          <a:p>
            <a:pPr>
              <a:defRPr sz="1500">
                <a:solidFill>
                  <a:srgbClr val="5A6780"/>
                </a:solidFill>
                <a:latin typeface="Arial"/>
                <a:ea typeface="Arial"/>
                <a:cs typeface="Arial"/>
              </a:defRPr>
            </a:pPr>
            <a:r>
              <a:rPr sz="1500">
                <a:solidFill>
                  <a:srgbClr val="5A6780"/>
                </a:solidFill>
                <a:latin typeface="Arial"/>
                <a:ea typeface="Arial"/>
                <a:cs typeface="Arial"/>
              </a:rPr>
              <a:t>Native không sửa pixel đang hiển thị trên màn hình.</a:t>
            </a:r>
          </a:p>
        </p:txBody>
      </p:sp>
      <p:sp>
        <p:nvSpPr>
          <p:cNvPr id="11" name="Rectangle 10">
            <a:extLst>
              <a:ext uri="{FF2B5EF4-FFF2-40B4-BE49-F238E27FC236}">
                <a16:creationId xmlns:a16="http://schemas.microsoft.com/office/drawing/2014/main" id="{26A00771-D871-4D2D-97EB-08037B713E30}"/>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2" name="Rectangle 11">
            <a:extLst>
              <a:ext uri="{FF2B5EF4-FFF2-40B4-BE49-F238E27FC236}">
                <a16:creationId xmlns:a16="http://schemas.microsoft.com/office/drawing/2014/main" id="{84E564F9-5034-4C37-9192-D1C745DF37DA}"/>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06</a:t>
            </a:r>
          </a:p>
        </p:txBody>
      </p:sp>
    </p:spTree>
    <p:extLst>
      <p:ext uri="{BB962C8B-B14F-4D97-AF65-F5344CB8AC3E}">
        <p14:creationId xmlns:p14="http://schemas.microsoft.com/office/powerpoint/2010/main" val="16853208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9F613D2A-E2C7-47A7-96E4-6317028CDADE}"/>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Trong một frame, Native tìm macroblock</a:t>
            </a:r>
          </a:p>
        </p:txBody>
      </p:sp>
      <p:sp>
        <p:nvSpPr>
          <p:cNvPr id="2" name="Rectangle 1">
            <a:extLst>
              <a:ext uri="{FF2B5EF4-FFF2-40B4-BE49-F238E27FC236}">
                <a16:creationId xmlns:a16="http://schemas.microsoft.com/office/drawing/2014/main" id="{3BE1B774-9030-4FCD-8D21-A5270B3F260E}"/>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Frame IDR được chia thành macroblock 16×16. Mỗi macroblock đi qua intra prediction, residual, transform và CAVLC.</a:t>
            </a:r>
          </a:p>
        </p:txBody>
      </p:sp>
      <p:sp>
        <p:nvSpPr>
          <p:cNvPr id="3" name="Straight Connector 2">
            <a:extLst>
              <a:ext uri="{FF2B5EF4-FFF2-40B4-BE49-F238E27FC236}">
                <a16:creationId xmlns:a16="http://schemas.microsoft.com/office/drawing/2014/main" id="{BA0C1EDE-AECB-4E28-B86F-A012304102B5}"/>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6" name="Picture 15"/>
          <p:cNvPicPr>
            <a:picLocks noChangeAspect="1"/>
          </p:cNvPicPr>
          <p:nvPr/>
        </p:nvPicPr>
        <p:blipFill>
          <a:blip r:embed="rId3"/>
          <a:stretch/>
        </p:blipFill>
        <p:spPr>
          <a:xfrm>
            <a:off x="1469875" y="1609724"/>
            <a:ext cx="8062745" cy="3714750"/>
          </a:xfrm>
          <a:prstGeom prst="rect">
            <a:avLst/>
          </a:prstGeom>
        </p:spPr>
      </p:pic>
      <p:sp>
        <p:nvSpPr>
          <p:cNvPr id="6" name="Rectangle 5">
            <a:extLst>
              <a:ext uri="{FF2B5EF4-FFF2-40B4-BE49-F238E27FC236}">
                <a16:creationId xmlns:a16="http://schemas.microsoft.com/office/drawing/2014/main" id="{CB2A46F4-6717-49C4-A527-C4A6071B69AB}"/>
              </a:ext>
            </a:extLst>
          </p:cNvPr>
          <p:cNvSpPr>
            <a:spLocks noGrp="1"/>
          </p:cNvSpPr>
          <p:nvPr/>
        </p:nvSpPr>
        <p:spPr>
          <a:xfrm>
            <a:off x="2233612" y="4408170"/>
            <a:ext cx="2428875" cy="238125"/>
          </a:xfrm>
          <a:prstGeom prst="rect">
            <a:avLst/>
          </a:prstGeom>
          <a:noFill/>
          <a:ln w="0">
            <a:noFill/>
          </a:ln>
        </p:spPr>
        <p:txBody>
          <a:bodyPr>
            <a:normAutofit fontScale="58333" lnSpcReduction="10000"/>
          </a:bodyPr>
          <a:lstStyle/>
          <a:p>
            <a:pPr>
              <a:defRPr sz="1650" b="1">
                <a:solidFill>
                  <a:srgbClr val="F2994A"/>
                </a:solidFill>
                <a:latin typeface="Arial"/>
                <a:ea typeface="Arial"/>
                <a:cs typeface="Arial"/>
              </a:defRPr>
            </a:pPr>
            <a:r>
              <a:rPr sz="1650" b="1" dirty="0">
                <a:solidFill>
                  <a:srgbClr val="F2994A"/>
                </a:solidFill>
                <a:latin typeface="Arial"/>
                <a:ea typeface="Arial"/>
                <a:cs typeface="Arial"/>
              </a:rPr>
              <a:t>Macroblock 16×16</a:t>
            </a:r>
          </a:p>
        </p:txBody>
      </p:sp>
      <p:sp>
        <p:nvSpPr>
          <p:cNvPr id="7" name="Rectangle 6">
            <a:extLst>
              <a:ext uri="{FF2B5EF4-FFF2-40B4-BE49-F238E27FC236}">
                <a16:creationId xmlns:a16="http://schemas.microsoft.com/office/drawing/2014/main" id="{9B4A3B0B-6020-4464-8443-B15440831831}"/>
              </a:ext>
            </a:extLst>
          </p:cNvPr>
          <p:cNvSpPr>
            <a:spLocks noGrp="1"/>
          </p:cNvSpPr>
          <p:nvPr/>
        </p:nvSpPr>
        <p:spPr>
          <a:xfrm>
            <a:off x="5307711" y="4408170"/>
            <a:ext cx="1905000" cy="238125"/>
          </a:xfrm>
          <a:prstGeom prst="rect">
            <a:avLst/>
          </a:prstGeom>
          <a:noFill/>
          <a:ln w="0">
            <a:noFill/>
          </a:ln>
        </p:spPr>
        <p:txBody>
          <a:bodyPr>
            <a:normAutofit fontScale="58333" lnSpcReduction="10000"/>
          </a:bodyPr>
          <a:lstStyle/>
          <a:p>
            <a:pPr>
              <a:defRPr sz="1650" b="1">
                <a:solidFill>
                  <a:srgbClr val="7555D9"/>
                </a:solidFill>
                <a:latin typeface="Arial"/>
                <a:ea typeface="Arial"/>
                <a:cs typeface="Arial"/>
              </a:defRPr>
            </a:pPr>
            <a:r>
              <a:rPr sz="1650" b="1" dirty="0">
                <a:solidFill>
                  <a:srgbClr val="7555D9"/>
                </a:solidFill>
                <a:latin typeface="Arial"/>
                <a:ea typeface="Arial"/>
                <a:cs typeface="Arial"/>
              </a:rPr>
              <a:t>Residual 4×4</a:t>
            </a:r>
          </a:p>
        </p:txBody>
      </p:sp>
      <p:sp>
        <p:nvSpPr>
          <p:cNvPr id="8" name="Rectangle 7">
            <a:extLst>
              <a:ext uri="{FF2B5EF4-FFF2-40B4-BE49-F238E27FC236}">
                <a16:creationId xmlns:a16="http://schemas.microsoft.com/office/drawing/2014/main" id="{1D38B227-A3D8-4551-AB86-D8406588B50E}"/>
              </a:ext>
            </a:extLst>
          </p:cNvPr>
          <p:cNvSpPr>
            <a:spLocks noGrp="1"/>
          </p:cNvSpPr>
          <p:nvPr/>
        </p:nvSpPr>
        <p:spPr>
          <a:xfrm>
            <a:off x="7835074" y="4408170"/>
            <a:ext cx="1905000" cy="238125"/>
          </a:xfrm>
          <a:prstGeom prst="rect">
            <a:avLst/>
          </a:prstGeom>
          <a:noFill/>
          <a:ln w="0">
            <a:noFill/>
          </a:ln>
        </p:spPr>
        <p:txBody>
          <a:bodyPr>
            <a:normAutofit fontScale="58333" lnSpcReduction="10000"/>
          </a:bodyPr>
          <a:lstStyle/>
          <a:p>
            <a:pPr>
              <a:defRPr sz="1650" b="1">
                <a:solidFill>
                  <a:srgbClr val="16A4C7"/>
                </a:solidFill>
                <a:latin typeface="Arial"/>
                <a:ea typeface="Arial"/>
                <a:cs typeface="Arial"/>
              </a:defRPr>
            </a:pPr>
            <a:r>
              <a:rPr sz="1650" b="1" dirty="0">
                <a:solidFill>
                  <a:srgbClr val="16A4C7"/>
                </a:solidFill>
                <a:latin typeface="Arial"/>
                <a:ea typeface="Arial"/>
                <a:cs typeface="Arial"/>
              </a:rPr>
              <a:t>CAVLC stream</a:t>
            </a:r>
          </a:p>
        </p:txBody>
      </p:sp>
      <p:sp>
        <p:nvSpPr>
          <p:cNvPr id="9" name="Rectangle 8">
            <a:extLst>
              <a:ext uri="{FF2B5EF4-FFF2-40B4-BE49-F238E27FC236}">
                <a16:creationId xmlns:a16="http://schemas.microsoft.com/office/drawing/2014/main" id="{6AD48F11-71C7-421D-9A66-214ACAB8BC10}"/>
              </a:ext>
            </a:extLst>
          </p:cNvPr>
          <p:cNvSpPr>
            <a:spLocks noGrp="1"/>
          </p:cNvSpPr>
          <p:nvPr/>
        </p:nvSpPr>
        <p:spPr>
          <a:xfrm>
            <a:off x="1333500" y="5781675"/>
            <a:ext cx="95250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7 — Trong frame, native đi từ macroblock đến residual 4×4 rồi mới xử lý CAVLC.</a:t>
            </a:r>
          </a:p>
        </p:txBody>
      </p:sp>
      <p:sp>
        <p:nvSpPr>
          <p:cNvPr id="10" name="Rectangle 9">
            <a:extLst>
              <a:ext uri="{FF2B5EF4-FFF2-40B4-BE49-F238E27FC236}">
                <a16:creationId xmlns:a16="http://schemas.microsoft.com/office/drawing/2014/main" id="{E048A751-7686-4996-B2F4-7203E518C68A}"/>
              </a:ext>
            </a:extLst>
          </p:cNvPr>
          <p:cNvSpPr>
            <a:spLocks noGrp="1"/>
          </p:cNvSpPr>
          <p:nvPr/>
        </p:nvSpPr>
        <p:spPr>
          <a:xfrm>
            <a:off x="1333500" y="6048375"/>
            <a:ext cx="9525000" cy="209550"/>
          </a:xfrm>
          <a:prstGeom prst="rect">
            <a:avLst/>
          </a:prstGeom>
          <a:noFill/>
          <a:ln w="0">
            <a:noFill/>
          </a:ln>
        </p:spPr>
        <p:txBody>
          <a:bodyPr>
            <a:normAutofit fontScale="51667"/>
          </a:bodyPr>
          <a:lstStyle/>
          <a:p>
            <a:pPr>
              <a:defRPr sz="1500">
                <a:solidFill>
                  <a:srgbClr val="5A6780"/>
                </a:solidFill>
                <a:latin typeface="Arial"/>
                <a:ea typeface="Arial"/>
                <a:cs typeface="Arial"/>
              </a:defRPr>
            </a:pPr>
            <a:r>
              <a:rPr sz="1500">
                <a:solidFill>
                  <a:srgbClr val="5A6780"/>
                </a:solidFill>
                <a:latin typeface="Arial"/>
                <a:ea typeface="Arial"/>
                <a:cs typeface="Arial"/>
              </a:rPr>
              <a:t>Mắt người thấy frame, còn native chỉ lật dấu của một số coefficient nhỏ để mang payload.</a:t>
            </a:r>
          </a:p>
        </p:txBody>
      </p:sp>
      <p:sp>
        <p:nvSpPr>
          <p:cNvPr id="11" name="Rectangle 10">
            <a:extLst>
              <a:ext uri="{FF2B5EF4-FFF2-40B4-BE49-F238E27FC236}">
                <a16:creationId xmlns:a16="http://schemas.microsoft.com/office/drawing/2014/main" id="{EBC849F1-D9AE-4092-AD7E-7F281EA0072C}"/>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2" name="Rectangle 11">
            <a:extLst>
              <a:ext uri="{FF2B5EF4-FFF2-40B4-BE49-F238E27FC236}">
                <a16:creationId xmlns:a16="http://schemas.microsoft.com/office/drawing/2014/main" id="{EF359F53-6546-4377-8B6E-EAD83D8BEFF3}"/>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07</a:t>
            </a:r>
          </a:p>
        </p:txBody>
      </p:sp>
    </p:spTree>
    <p:extLst>
      <p:ext uri="{BB962C8B-B14F-4D97-AF65-F5344CB8AC3E}">
        <p14:creationId xmlns:p14="http://schemas.microsoft.com/office/powerpoint/2010/main" val="15697185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E510C2F-7B6B-403D-BC74-89C2A67A0A2A}"/>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Pixel gốc không trở thành bit ngay</a:t>
            </a:r>
          </a:p>
        </p:txBody>
      </p:sp>
      <p:sp>
        <p:nvSpPr>
          <p:cNvPr id="2" name="Rectangle 1">
            <a:extLst>
              <a:ext uri="{FF2B5EF4-FFF2-40B4-BE49-F238E27FC236}">
                <a16:creationId xmlns:a16="http://schemas.microsoft.com/office/drawing/2014/main" id="{B038E354-F98F-48A9-8FD4-A83A0646CF5A}"/>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dirty="0" err="1">
                <a:solidFill>
                  <a:srgbClr val="5A6780"/>
                </a:solidFill>
                <a:latin typeface="Arial"/>
                <a:ea typeface="Arial"/>
                <a:cs typeface="Arial"/>
              </a:rPr>
              <a:t>Ví</a:t>
            </a:r>
            <a:r>
              <a:rPr sz="1200" dirty="0">
                <a:solidFill>
                  <a:srgbClr val="5A6780"/>
                </a:solidFill>
                <a:latin typeface="Arial"/>
                <a:ea typeface="Arial"/>
                <a:cs typeface="Arial"/>
              </a:rPr>
              <a:t> </a:t>
            </a:r>
            <a:r>
              <a:rPr sz="1200" dirty="0" err="1">
                <a:solidFill>
                  <a:srgbClr val="5A6780"/>
                </a:solidFill>
                <a:latin typeface="Arial"/>
                <a:ea typeface="Arial"/>
                <a:cs typeface="Arial"/>
              </a:rPr>
              <a:t>dụ</a:t>
            </a:r>
            <a:r>
              <a:rPr sz="1200" dirty="0">
                <a:solidFill>
                  <a:srgbClr val="5A6780"/>
                </a:solidFill>
                <a:latin typeface="Arial"/>
                <a:ea typeface="Arial"/>
                <a:cs typeface="Arial"/>
              </a:rPr>
              <a:t> </a:t>
            </a:r>
            <a:r>
              <a:rPr sz="1200" dirty="0" err="1">
                <a:solidFill>
                  <a:srgbClr val="5A6780"/>
                </a:solidFill>
                <a:latin typeface="Arial"/>
                <a:ea typeface="Arial"/>
                <a:cs typeface="Arial"/>
              </a:rPr>
              <a:t>trực</a:t>
            </a:r>
            <a:r>
              <a:rPr sz="1200" dirty="0">
                <a:solidFill>
                  <a:srgbClr val="5A6780"/>
                </a:solidFill>
                <a:latin typeface="Arial"/>
                <a:ea typeface="Arial"/>
                <a:cs typeface="Arial"/>
              </a:rPr>
              <a:t> </a:t>
            </a:r>
            <a:r>
              <a:rPr sz="1200" dirty="0" err="1">
                <a:solidFill>
                  <a:srgbClr val="5A6780"/>
                </a:solidFill>
                <a:latin typeface="Arial"/>
                <a:ea typeface="Arial"/>
                <a:cs typeface="Arial"/>
              </a:rPr>
              <a:t>quan</a:t>
            </a:r>
            <a:r>
              <a:rPr sz="1200" dirty="0">
                <a:solidFill>
                  <a:srgbClr val="5A6780"/>
                </a:solidFill>
                <a:latin typeface="Arial"/>
                <a:ea typeface="Arial"/>
                <a:cs typeface="Arial"/>
              </a:rPr>
              <a:t>: native </a:t>
            </a:r>
            <a:r>
              <a:rPr sz="1200" dirty="0" err="1">
                <a:solidFill>
                  <a:srgbClr val="5A6780"/>
                </a:solidFill>
                <a:latin typeface="Arial"/>
                <a:ea typeface="Arial"/>
                <a:cs typeface="Arial"/>
              </a:rPr>
              <a:t>đi</a:t>
            </a:r>
            <a:r>
              <a:rPr sz="1200" dirty="0">
                <a:solidFill>
                  <a:srgbClr val="5A6780"/>
                </a:solidFill>
                <a:latin typeface="Arial"/>
                <a:ea typeface="Arial"/>
                <a:cs typeface="Arial"/>
              </a:rPr>
              <a:t> </a:t>
            </a:r>
            <a:r>
              <a:rPr sz="1200" dirty="0" err="1">
                <a:solidFill>
                  <a:srgbClr val="5A6780"/>
                </a:solidFill>
                <a:latin typeface="Arial"/>
                <a:ea typeface="Arial"/>
                <a:cs typeface="Arial"/>
              </a:rPr>
              <a:t>từ</a:t>
            </a:r>
            <a:r>
              <a:rPr sz="1200" dirty="0">
                <a:solidFill>
                  <a:srgbClr val="5A6780"/>
                </a:solidFill>
                <a:latin typeface="Arial"/>
                <a:ea typeface="Arial"/>
                <a:cs typeface="Arial"/>
              </a:rPr>
              <a:t> </a:t>
            </a:r>
            <a:r>
              <a:rPr sz="1200" dirty="0" err="1">
                <a:solidFill>
                  <a:srgbClr val="5A6780"/>
                </a:solidFill>
                <a:latin typeface="Arial"/>
                <a:ea typeface="Arial"/>
                <a:cs typeface="Arial"/>
              </a:rPr>
              <a:t>một</a:t>
            </a:r>
            <a:r>
              <a:rPr sz="1200" dirty="0">
                <a:solidFill>
                  <a:srgbClr val="5A6780"/>
                </a:solidFill>
                <a:latin typeface="Arial"/>
                <a:ea typeface="Arial"/>
                <a:cs typeface="Arial"/>
              </a:rPr>
              <a:t> </a:t>
            </a:r>
            <a:r>
              <a:rPr sz="1200" dirty="0" err="1">
                <a:solidFill>
                  <a:srgbClr val="5A6780"/>
                </a:solidFill>
                <a:latin typeface="Arial"/>
                <a:ea typeface="Arial"/>
                <a:cs typeface="Arial"/>
              </a:rPr>
              <a:t>mảng</a:t>
            </a:r>
            <a:r>
              <a:rPr sz="1200" dirty="0">
                <a:solidFill>
                  <a:srgbClr val="5A6780"/>
                </a:solidFill>
                <a:latin typeface="Arial"/>
                <a:ea typeface="Arial"/>
                <a:cs typeface="Arial"/>
              </a:rPr>
              <a:t> pixel, qua </a:t>
            </a:r>
            <a:r>
              <a:rPr sz="1200" dirty="0" err="1">
                <a:solidFill>
                  <a:srgbClr val="5A6780"/>
                </a:solidFill>
                <a:latin typeface="Arial"/>
                <a:ea typeface="Arial"/>
                <a:cs typeface="Arial"/>
              </a:rPr>
              <a:t>sai</a:t>
            </a:r>
            <a:r>
              <a:rPr sz="1200" dirty="0">
                <a:solidFill>
                  <a:srgbClr val="5A6780"/>
                </a:solidFill>
                <a:latin typeface="Arial"/>
                <a:ea typeface="Arial"/>
                <a:cs typeface="Arial"/>
              </a:rPr>
              <a:t> </a:t>
            </a:r>
            <a:r>
              <a:rPr sz="1200" dirty="0" err="1">
                <a:solidFill>
                  <a:srgbClr val="5A6780"/>
                </a:solidFill>
                <a:latin typeface="Arial"/>
                <a:ea typeface="Arial"/>
                <a:cs typeface="Arial"/>
              </a:rPr>
              <a:t>khác</a:t>
            </a:r>
            <a:r>
              <a:rPr sz="1200" dirty="0">
                <a:solidFill>
                  <a:srgbClr val="5A6780"/>
                </a:solidFill>
                <a:latin typeface="Arial"/>
                <a:ea typeface="Arial"/>
                <a:cs typeface="Arial"/>
              </a:rPr>
              <a:t> residual, </a:t>
            </a:r>
            <a:r>
              <a:rPr sz="1200" dirty="0" err="1">
                <a:solidFill>
                  <a:srgbClr val="5A6780"/>
                </a:solidFill>
                <a:latin typeface="Arial"/>
                <a:ea typeface="Arial"/>
                <a:cs typeface="Arial"/>
              </a:rPr>
              <a:t>rồi</a:t>
            </a:r>
            <a:r>
              <a:rPr sz="1200" dirty="0">
                <a:solidFill>
                  <a:srgbClr val="5A6780"/>
                </a:solidFill>
                <a:latin typeface="Arial"/>
                <a:ea typeface="Arial"/>
                <a:cs typeface="Arial"/>
              </a:rPr>
              <a:t> </a:t>
            </a:r>
            <a:r>
              <a:rPr sz="1200" dirty="0" err="1">
                <a:solidFill>
                  <a:srgbClr val="5A6780"/>
                </a:solidFill>
                <a:latin typeface="Arial"/>
                <a:ea typeface="Arial"/>
                <a:cs typeface="Arial"/>
              </a:rPr>
              <a:t>mới</a:t>
            </a:r>
            <a:r>
              <a:rPr sz="1200" dirty="0">
                <a:solidFill>
                  <a:srgbClr val="5A6780"/>
                </a:solidFill>
                <a:latin typeface="Arial"/>
                <a:ea typeface="Arial"/>
                <a:cs typeface="Arial"/>
              </a:rPr>
              <a:t> </a:t>
            </a:r>
            <a:r>
              <a:rPr sz="1200" dirty="0" err="1">
                <a:solidFill>
                  <a:srgbClr val="5A6780"/>
                </a:solidFill>
                <a:latin typeface="Arial"/>
                <a:ea typeface="Arial"/>
                <a:cs typeface="Arial"/>
              </a:rPr>
              <a:t>có</a:t>
            </a:r>
            <a:r>
              <a:rPr sz="1200" dirty="0">
                <a:solidFill>
                  <a:srgbClr val="5A6780"/>
                </a:solidFill>
                <a:latin typeface="Arial"/>
                <a:ea typeface="Arial"/>
                <a:cs typeface="Arial"/>
              </a:rPr>
              <a:t> </a:t>
            </a:r>
            <a:r>
              <a:rPr sz="1200" dirty="0" err="1">
                <a:solidFill>
                  <a:srgbClr val="5A6780"/>
                </a:solidFill>
                <a:latin typeface="Arial"/>
                <a:ea typeface="Arial"/>
                <a:cs typeface="Arial"/>
              </a:rPr>
              <a:t>các</a:t>
            </a:r>
            <a:r>
              <a:rPr sz="1200" dirty="0">
                <a:solidFill>
                  <a:srgbClr val="5A6780"/>
                </a:solidFill>
                <a:latin typeface="Arial"/>
                <a:ea typeface="Arial"/>
                <a:cs typeface="Arial"/>
              </a:rPr>
              <a:t> coefficient </a:t>
            </a:r>
            <a:r>
              <a:rPr sz="1200" dirty="0" err="1">
                <a:solidFill>
                  <a:srgbClr val="5A6780"/>
                </a:solidFill>
                <a:latin typeface="Arial"/>
                <a:ea typeface="Arial"/>
                <a:cs typeface="Arial"/>
              </a:rPr>
              <a:t>để</a:t>
            </a:r>
            <a:r>
              <a:rPr sz="1200" dirty="0">
                <a:solidFill>
                  <a:srgbClr val="5A6780"/>
                </a:solidFill>
                <a:latin typeface="Arial"/>
                <a:ea typeface="Arial"/>
                <a:cs typeface="Arial"/>
              </a:rPr>
              <a:t> CAVLC </a:t>
            </a:r>
            <a:r>
              <a:rPr sz="1200" dirty="0" err="1">
                <a:solidFill>
                  <a:srgbClr val="5A6780"/>
                </a:solidFill>
                <a:latin typeface="Arial"/>
                <a:ea typeface="Arial"/>
                <a:cs typeface="Arial"/>
              </a:rPr>
              <a:t>mã</a:t>
            </a:r>
            <a:r>
              <a:rPr sz="1200" dirty="0">
                <a:solidFill>
                  <a:srgbClr val="5A6780"/>
                </a:solidFill>
                <a:latin typeface="Arial"/>
                <a:ea typeface="Arial"/>
                <a:cs typeface="Arial"/>
              </a:rPr>
              <a:t> </a:t>
            </a:r>
            <a:r>
              <a:rPr sz="1200" dirty="0" err="1">
                <a:solidFill>
                  <a:srgbClr val="5A6780"/>
                </a:solidFill>
                <a:latin typeface="Arial"/>
                <a:ea typeface="Arial"/>
                <a:cs typeface="Arial"/>
              </a:rPr>
              <a:t>hóa</a:t>
            </a:r>
            <a:r>
              <a:rPr sz="1200" dirty="0">
                <a:solidFill>
                  <a:srgbClr val="5A6780"/>
                </a:solidFill>
                <a:latin typeface="Arial"/>
                <a:ea typeface="Arial"/>
                <a:cs typeface="Arial"/>
              </a:rPr>
              <a:t>.</a:t>
            </a:r>
          </a:p>
        </p:txBody>
      </p:sp>
      <p:sp>
        <p:nvSpPr>
          <p:cNvPr id="3" name="Straight Connector 2">
            <a:extLst>
              <a:ext uri="{FF2B5EF4-FFF2-40B4-BE49-F238E27FC236}">
                <a16:creationId xmlns:a16="http://schemas.microsoft.com/office/drawing/2014/main" id="{9013C030-3008-46A4-94D8-1A51933AC3FE}"/>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5" name="Picture 14"/>
          <p:cNvPicPr>
            <a:picLocks noChangeAspect="1"/>
          </p:cNvPicPr>
          <p:nvPr/>
        </p:nvPicPr>
        <p:blipFill>
          <a:blip r:embed="rId3"/>
          <a:stretch/>
        </p:blipFill>
        <p:spPr>
          <a:xfrm>
            <a:off x="1135875" y="1628776"/>
            <a:ext cx="9139200" cy="3476625"/>
          </a:xfrm>
          <a:prstGeom prst="rect">
            <a:avLst/>
          </a:prstGeom>
        </p:spPr>
      </p:pic>
      <p:sp>
        <p:nvSpPr>
          <p:cNvPr id="5" name="Rectangle 4">
            <a:extLst>
              <a:ext uri="{FF2B5EF4-FFF2-40B4-BE49-F238E27FC236}">
                <a16:creationId xmlns:a16="http://schemas.microsoft.com/office/drawing/2014/main" id="{6DB1B2BC-160D-4C5E-AF7C-26DFCE2A2CF5}"/>
              </a:ext>
            </a:extLst>
          </p:cNvPr>
          <p:cNvSpPr>
            <a:spLocks noGrp="1"/>
          </p:cNvSpPr>
          <p:nvPr/>
        </p:nvSpPr>
        <p:spPr>
          <a:xfrm>
            <a:off x="2202561" y="4528566"/>
            <a:ext cx="2095500" cy="266700"/>
          </a:xfrm>
          <a:prstGeom prst="rect">
            <a:avLst/>
          </a:prstGeom>
          <a:noFill/>
          <a:ln w="0">
            <a:noFill/>
          </a:ln>
        </p:spPr>
        <p:txBody>
          <a:bodyPr>
            <a:normAutofit fontScale="66667" lnSpcReduction="10000"/>
          </a:bodyPr>
          <a:lstStyle/>
          <a:p>
            <a:pPr>
              <a:defRPr sz="1725" b="1">
                <a:solidFill>
                  <a:srgbClr val="2667D8"/>
                </a:solidFill>
                <a:latin typeface="Arial"/>
                <a:ea typeface="Arial"/>
                <a:cs typeface="Arial"/>
              </a:defRPr>
            </a:pPr>
            <a:r>
              <a:rPr sz="1725" b="1" dirty="0" err="1">
                <a:solidFill>
                  <a:srgbClr val="2667D8"/>
                </a:solidFill>
                <a:latin typeface="Arial"/>
                <a:ea typeface="Arial"/>
                <a:cs typeface="Arial"/>
              </a:rPr>
              <a:t>Mảng</a:t>
            </a:r>
            <a:r>
              <a:rPr sz="1725" b="1" dirty="0">
                <a:solidFill>
                  <a:srgbClr val="2667D8"/>
                </a:solidFill>
                <a:latin typeface="Arial"/>
                <a:ea typeface="Arial"/>
                <a:cs typeface="Arial"/>
              </a:rPr>
              <a:t> pixel</a:t>
            </a:r>
          </a:p>
        </p:txBody>
      </p:sp>
      <p:sp>
        <p:nvSpPr>
          <p:cNvPr id="6" name="Rectangle 5">
            <a:extLst>
              <a:ext uri="{FF2B5EF4-FFF2-40B4-BE49-F238E27FC236}">
                <a16:creationId xmlns:a16="http://schemas.microsoft.com/office/drawing/2014/main" id="{77BB1ABF-1CB8-42DB-928F-A9D0C6C6C232}"/>
              </a:ext>
            </a:extLst>
          </p:cNvPr>
          <p:cNvSpPr>
            <a:spLocks noGrp="1"/>
          </p:cNvSpPr>
          <p:nvPr/>
        </p:nvSpPr>
        <p:spPr>
          <a:xfrm>
            <a:off x="5223510" y="4528566"/>
            <a:ext cx="2762250" cy="266700"/>
          </a:xfrm>
          <a:prstGeom prst="rect">
            <a:avLst/>
          </a:prstGeom>
          <a:noFill/>
          <a:ln w="0">
            <a:noFill/>
          </a:ln>
        </p:spPr>
        <p:txBody>
          <a:bodyPr>
            <a:normAutofit fontScale="66667" lnSpcReduction="10000"/>
          </a:bodyPr>
          <a:lstStyle/>
          <a:p>
            <a:pPr>
              <a:defRPr sz="1725" b="1">
                <a:solidFill>
                  <a:srgbClr val="F2994A"/>
                </a:solidFill>
                <a:latin typeface="Arial"/>
                <a:ea typeface="Arial"/>
                <a:cs typeface="Arial"/>
              </a:defRPr>
            </a:pPr>
            <a:r>
              <a:rPr sz="1725" b="1" dirty="0">
                <a:solidFill>
                  <a:srgbClr val="F2994A"/>
                </a:solidFill>
                <a:latin typeface="Arial"/>
                <a:ea typeface="Arial"/>
                <a:cs typeface="Arial"/>
              </a:rPr>
              <a:t>Residual: </a:t>
            </a:r>
            <a:r>
              <a:rPr sz="1725" b="1" dirty="0" err="1">
                <a:solidFill>
                  <a:srgbClr val="F2994A"/>
                </a:solidFill>
                <a:latin typeface="Arial"/>
                <a:ea typeface="Arial"/>
                <a:cs typeface="Arial"/>
              </a:rPr>
              <a:t>phần</a:t>
            </a:r>
            <a:r>
              <a:rPr sz="1725" b="1" dirty="0">
                <a:solidFill>
                  <a:srgbClr val="F2994A"/>
                </a:solidFill>
                <a:latin typeface="Arial"/>
                <a:ea typeface="Arial"/>
                <a:cs typeface="Arial"/>
              </a:rPr>
              <a:t> </a:t>
            </a:r>
            <a:r>
              <a:rPr sz="1725" b="1" dirty="0" err="1">
                <a:solidFill>
                  <a:srgbClr val="F2994A"/>
                </a:solidFill>
                <a:latin typeface="Arial"/>
                <a:ea typeface="Arial"/>
                <a:cs typeface="Arial"/>
              </a:rPr>
              <a:t>khác</a:t>
            </a:r>
            <a:r>
              <a:rPr sz="1725" b="1" dirty="0">
                <a:solidFill>
                  <a:srgbClr val="F2994A"/>
                </a:solidFill>
                <a:latin typeface="Arial"/>
                <a:ea typeface="Arial"/>
                <a:cs typeface="Arial"/>
              </a:rPr>
              <a:t> </a:t>
            </a:r>
            <a:r>
              <a:rPr sz="1725" b="1" dirty="0" err="1">
                <a:solidFill>
                  <a:srgbClr val="F2994A"/>
                </a:solidFill>
                <a:latin typeface="Arial"/>
                <a:ea typeface="Arial"/>
                <a:cs typeface="Arial"/>
              </a:rPr>
              <a:t>nhau</a:t>
            </a:r>
            <a:endParaRPr sz="1725" b="1" dirty="0">
              <a:solidFill>
                <a:srgbClr val="F2994A"/>
              </a:solidFill>
              <a:latin typeface="Arial"/>
              <a:ea typeface="Arial"/>
              <a:cs typeface="Arial"/>
            </a:endParaRPr>
          </a:p>
        </p:txBody>
      </p:sp>
      <p:sp>
        <p:nvSpPr>
          <p:cNvPr id="7" name="Rectangle 6">
            <a:extLst>
              <a:ext uri="{FF2B5EF4-FFF2-40B4-BE49-F238E27FC236}">
                <a16:creationId xmlns:a16="http://schemas.microsoft.com/office/drawing/2014/main" id="{6701DA68-4F77-4A12-A172-F99460779D78}"/>
              </a:ext>
            </a:extLst>
          </p:cNvPr>
          <p:cNvSpPr>
            <a:spLocks noGrp="1"/>
          </p:cNvSpPr>
          <p:nvPr/>
        </p:nvSpPr>
        <p:spPr>
          <a:xfrm>
            <a:off x="8381619" y="4592574"/>
            <a:ext cx="2190750" cy="266700"/>
          </a:xfrm>
          <a:prstGeom prst="rect">
            <a:avLst/>
          </a:prstGeom>
          <a:noFill/>
          <a:ln w="0">
            <a:noFill/>
          </a:ln>
        </p:spPr>
        <p:txBody>
          <a:bodyPr>
            <a:normAutofit fontScale="66667" lnSpcReduction="10000"/>
          </a:bodyPr>
          <a:lstStyle/>
          <a:p>
            <a:pPr>
              <a:defRPr sz="1725" b="1">
                <a:solidFill>
                  <a:srgbClr val="7555D9"/>
                </a:solidFill>
                <a:latin typeface="Arial"/>
                <a:ea typeface="Arial"/>
                <a:cs typeface="Arial"/>
              </a:defRPr>
            </a:pPr>
            <a:r>
              <a:rPr sz="1725" b="1">
                <a:solidFill>
                  <a:srgbClr val="7555D9"/>
                </a:solidFill>
                <a:latin typeface="Arial"/>
                <a:ea typeface="Arial"/>
                <a:cs typeface="Arial"/>
              </a:rPr>
              <a:t>Coefficient 4×4</a:t>
            </a:r>
          </a:p>
        </p:txBody>
      </p:sp>
      <p:sp>
        <p:nvSpPr>
          <p:cNvPr id="8" name="Rectangle 7">
            <a:extLst>
              <a:ext uri="{FF2B5EF4-FFF2-40B4-BE49-F238E27FC236}">
                <a16:creationId xmlns:a16="http://schemas.microsoft.com/office/drawing/2014/main" id="{813C8721-0426-4D47-A09B-671B10478CF6}"/>
              </a:ext>
            </a:extLst>
          </p:cNvPr>
          <p:cNvSpPr>
            <a:spLocks noGrp="1"/>
          </p:cNvSpPr>
          <p:nvPr/>
        </p:nvSpPr>
        <p:spPr>
          <a:xfrm>
            <a:off x="1524000" y="5638800"/>
            <a:ext cx="91440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8 — Ví dụ biến đổi: pixel gốc, residual, coefficient 4×4, rồi chuỗi bit CAVLC.</a:t>
            </a:r>
          </a:p>
        </p:txBody>
      </p:sp>
      <p:sp>
        <p:nvSpPr>
          <p:cNvPr id="9" name="Rectangle 8">
            <a:extLst>
              <a:ext uri="{FF2B5EF4-FFF2-40B4-BE49-F238E27FC236}">
                <a16:creationId xmlns:a16="http://schemas.microsoft.com/office/drawing/2014/main" id="{C7236909-548E-45E2-A86A-53F987E76B3F}"/>
              </a:ext>
            </a:extLst>
          </p:cNvPr>
          <p:cNvSpPr>
            <a:spLocks noGrp="1"/>
          </p:cNvSpPr>
          <p:nvPr/>
        </p:nvSpPr>
        <p:spPr>
          <a:xfrm>
            <a:off x="1524000" y="5924550"/>
            <a:ext cx="9144000" cy="238125"/>
          </a:xfrm>
          <a:prstGeom prst="rect">
            <a:avLst/>
          </a:prstGeom>
          <a:noFill/>
          <a:ln w="0">
            <a:noFill/>
          </a:ln>
        </p:spPr>
        <p:txBody>
          <a:bodyPr>
            <a:normAutofit fontScale="58333"/>
          </a:bodyPr>
          <a:lstStyle/>
          <a:p>
            <a:pPr>
              <a:defRPr sz="1650">
                <a:solidFill>
                  <a:srgbClr val="0B1B35"/>
                </a:solidFill>
                <a:latin typeface="Arial"/>
                <a:ea typeface="Arial"/>
                <a:cs typeface="Arial"/>
              </a:defRPr>
            </a:pPr>
            <a:r>
              <a:rPr sz="1650">
                <a:solidFill>
                  <a:srgbClr val="0B1B35"/>
                </a:solidFill>
                <a:latin typeface="Arial"/>
                <a:ea typeface="Arial"/>
                <a:cs typeface="Arial"/>
              </a:rPr>
              <a:t>Native chỉ lật dấu trailing-one của coefficient, không sửa pixel của khung hình trực tiếp.</a:t>
            </a:r>
          </a:p>
        </p:txBody>
      </p:sp>
      <p:sp>
        <p:nvSpPr>
          <p:cNvPr id="10" name="Rectangle 9">
            <a:extLst>
              <a:ext uri="{FF2B5EF4-FFF2-40B4-BE49-F238E27FC236}">
                <a16:creationId xmlns:a16="http://schemas.microsoft.com/office/drawing/2014/main" id="{F829BF2C-BDDD-45EB-B46D-8B2B57F31E59}"/>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1" name="Rectangle 10">
            <a:extLst>
              <a:ext uri="{FF2B5EF4-FFF2-40B4-BE49-F238E27FC236}">
                <a16:creationId xmlns:a16="http://schemas.microsoft.com/office/drawing/2014/main" id="{4AB6A9F4-02DA-49F9-803A-B452F26C9371}"/>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08</a:t>
            </a:r>
          </a:p>
        </p:txBody>
      </p:sp>
    </p:spTree>
    <p:extLst>
      <p:ext uri="{BB962C8B-B14F-4D97-AF65-F5344CB8AC3E}">
        <p14:creationId xmlns:p14="http://schemas.microsoft.com/office/powerpoint/2010/main" val="2381307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BA9B85D8-3CCB-4E86-9838-79C1412BC6AA}"/>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Native CAVLC đang làm gì?</a:t>
            </a:r>
          </a:p>
        </p:txBody>
      </p:sp>
      <p:sp>
        <p:nvSpPr>
          <p:cNvPr id="2" name="Rectangle 1">
            <a:extLst>
              <a:ext uri="{FF2B5EF4-FFF2-40B4-BE49-F238E27FC236}">
                <a16:creationId xmlns:a16="http://schemas.microsoft.com/office/drawing/2014/main" id="{183D9AFC-ECE3-4D23-9292-DBD1546DF259}"/>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Nó đọc bitstream, giải mã residual vừa đủ, ghi offset của dấu trailing-one ứng viên, rồi lật đúng bit theo lịch khóa.</a:t>
            </a:r>
          </a:p>
        </p:txBody>
      </p:sp>
      <p:sp>
        <p:nvSpPr>
          <p:cNvPr id="3" name="Straight Connector 2">
            <a:extLst>
              <a:ext uri="{FF2B5EF4-FFF2-40B4-BE49-F238E27FC236}">
                <a16:creationId xmlns:a16="http://schemas.microsoft.com/office/drawing/2014/main" id="{6A183C27-E115-4E8A-BB66-A65D220047E2}"/>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27" name="Picture 26"/>
          <p:cNvPicPr>
            <a:picLocks noChangeAspect="1"/>
          </p:cNvPicPr>
          <p:nvPr/>
        </p:nvPicPr>
        <p:blipFill>
          <a:blip r:embed="rId3"/>
          <a:stretch/>
        </p:blipFill>
        <p:spPr>
          <a:xfrm>
            <a:off x="3817096" y="1600200"/>
            <a:ext cx="6786659" cy="3819525"/>
          </a:xfrm>
          <a:prstGeom prst="rect">
            <a:avLst/>
          </a:prstGeom>
        </p:spPr>
      </p:pic>
      <p:sp>
        <p:nvSpPr>
          <p:cNvPr id="5" name="Rectangle: Rounded Corners 4">
            <a:extLst>
              <a:ext uri="{FF2B5EF4-FFF2-40B4-BE49-F238E27FC236}">
                <a16:creationId xmlns:a16="http://schemas.microsoft.com/office/drawing/2014/main" id="{2B6210EA-E5D4-4B08-B5A0-42296C4F7241}"/>
              </a:ext>
            </a:extLst>
          </p:cNvPr>
          <p:cNvSpPr>
            <a:spLocks noGrp="1"/>
          </p:cNvSpPr>
          <p:nvPr/>
        </p:nvSpPr>
        <p:spPr>
          <a:xfrm>
            <a:off x="514350" y="1581150"/>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6" name="Rectangle: Rounded Corners 5">
            <a:extLst>
              <a:ext uri="{FF2B5EF4-FFF2-40B4-BE49-F238E27FC236}">
                <a16:creationId xmlns:a16="http://schemas.microsoft.com/office/drawing/2014/main" id="{9611DD32-F85B-40BD-B881-5A6DF2E7D4F4}"/>
              </a:ext>
            </a:extLst>
          </p:cNvPr>
          <p:cNvSpPr>
            <a:spLocks noGrp="1"/>
          </p:cNvSpPr>
          <p:nvPr/>
        </p:nvSpPr>
        <p:spPr>
          <a:xfrm>
            <a:off x="666750" y="1733550"/>
            <a:ext cx="361950" cy="361950"/>
          </a:xfrm>
          <a:prstGeom prst="roundRect">
            <a:avLst>
              <a:gd name="adj" fmla="val 21053"/>
            </a:avLst>
          </a:prstGeom>
          <a:solidFill>
            <a:srgbClr val="2667D8">
              <a:alpha val="8627"/>
            </a:srgbClr>
          </a:solidFill>
          <a:ln w="9525">
            <a:solidFill>
              <a:srgbClr val="2667D8"/>
            </a:solidFill>
          </a:ln>
        </p:spPr>
        <p:txBody>
          <a:bodyPr/>
          <a:lstStyle/>
          <a:p>
            <a:endParaRPr lang="en-US"/>
          </a:p>
        </p:txBody>
      </p:sp>
      <p:sp>
        <p:nvSpPr>
          <p:cNvPr id="7" name="Rectangle 6">
            <a:extLst>
              <a:ext uri="{FF2B5EF4-FFF2-40B4-BE49-F238E27FC236}">
                <a16:creationId xmlns:a16="http://schemas.microsoft.com/office/drawing/2014/main" id="{43B2F69E-3C59-4EEA-B976-2844DC825547}"/>
              </a:ext>
            </a:extLst>
          </p:cNvPr>
          <p:cNvSpPr>
            <a:spLocks noGrp="1"/>
          </p:cNvSpPr>
          <p:nvPr/>
        </p:nvSpPr>
        <p:spPr>
          <a:xfrm>
            <a:off x="1143000" y="1743075"/>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Parse</a:t>
            </a:r>
          </a:p>
        </p:txBody>
      </p:sp>
      <p:sp>
        <p:nvSpPr>
          <p:cNvPr id="8" name="Rectangle 7">
            <a:extLst>
              <a:ext uri="{FF2B5EF4-FFF2-40B4-BE49-F238E27FC236}">
                <a16:creationId xmlns:a16="http://schemas.microsoft.com/office/drawing/2014/main" id="{4B7C9B36-C4E7-4DEB-955C-37EE64D0ED35}"/>
              </a:ext>
            </a:extLst>
          </p:cNvPr>
          <p:cNvSpPr>
            <a:spLocks noGrp="1"/>
          </p:cNvSpPr>
          <p:nvPr/>
        </p:nvSpPr>
        <p:spPr>
          <a:xfrm>
            <a:off x="1143000" y="1974914"/>
            <a:ext cx="1600200" cy="304800"/>
          </a:xfrm>
          <a:prstGeom prst="rect">
            <a:avLst/>
          </a:prstGeom>
          <a:noFill/>
          <a:ln w="0">
            <a:noFill/>
          </a:ln>
        </p:spPr>
        <p:txBody>
          <a:bodyPr>
            <a:normAutofit fontScale="88991"/>
          </a:bodyPr>
          <a:lstStyle/>
          <a:p>
            <a:pPr>
              <a:defRPr sz="1200">
                <a:solidFill>
                  <a:srgbClr val="5A6780"/>
                </a:solidFill>
                <a:latin typeface="Arial"/>
                <a:ea typeface="Arial"/>
                <a:cs typeface="Arial"/>
              </a:defRPr>
            </a:pPr>
            <a:r>
              <a:rPr sz="1200">
                <a:solidFill>
                  <a:srgbClr val="5A6780"/>
                </a:solidFill>
                <a:latin typeface="Arial"/>
                <a:ea typeface="Arial"/>
                <a:cs typeface="Arial"/>
              </a:rPr>
              <a:t>tách NAL, bỏ EPB, đọc slice</a:t>
            </a:r>
          </a:p>
        </p:txBody>
      </p:sp>
      <p:sp>
        <p:nvSpPr>
          <p:cNvPr id="9" name="Rectangle: Rounded Corners 8">
            <a:extLst>
              <a:ext uri="{FF2B5EF4-FFF2-40B4-BE49-F238E27FC236}">
                <a16:creationId xmlns:a16="http://schemas.microsoft.com/office/drawing/2014/main" id="{DB8A1AF0-ECF6-4618-8293-0409677BA1C2}"/>
              </a:ext>
            </a:extLst>
          </p:cNvPr>
          <p:cNvSpPr>
            <a:spLocks noGrp="1"/>
          </p:cNvSpPr>
          <p:nvPr/>
        </p:nvSpPr>
        <p:spPr>
          <a:xfrm>
            <a:off x="514350" y="2543175"/>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10" name="Rectangle: Rounded Corners 9">
            <a:extLst>
              <a:ext uri="{FF2B5EF4-FFF2-40B4-BE49-F238E27FC236}">
                <a16:creationId xmlns:a16="http://schemas.microsoft.com/office/drawing/2014/main" id="{D0B570E4-0675-4051-8516-A5202230F238}"/>
              </a:ext>
            </a:extLst>
          </p:cNvPr>
          <p:cNvSpPr>
            <a:spLocks noGrp="1"/>
          </p:cNvSpPr>
          <p:nvPr/>
        </p:nvSpPr>
        <p:spPr>
          <a:xfrm>
            <a:off x="666750" y="2695575"/>
            <a:ext cx="361950" cy="361950"/>
          </a:xfrm>
          <a:prstGeom prst="roundRect">
            <a:avLst>
              <a:gd name="adj" fmla="val 21053"/>
            </a:avLst>
          </a:prstGeom>
          <a:solidFill>
            <a:srgbClr val="16A4C7">
              <a:alpha val="8627"/>
            </a:srgbClr>
          </a:solidFill>
          <a:ln w="9525">
            <a:solidFill>
              <a:srgbClr val="16A4C7"/>
            </a:solidFill>
          </a:ln>
        </p:spPr>
        <p:txBody>
          <a:bodyPr/>
          <a:lstStyle/>
          <a:p>
            <a:endParaRPr lang="en-US"/>
          </a:p>
        </p:txBody>
      </p:sp>
      <p:sp>
        <p:nvSpPr>
          <p:cNvPr id="11" name="Rectangle 10">
            <a:extLst>
              <a:ext uri="{FF2B5EF4-FFF2-40B4-BE49-F238E27FC236}">
                <a16:creationId xmlns:a16="http://schemas.microsoft.com/office/drawing/2014/main" id="{CAC00F4F-91B7-4B3F-AA2E-DF79EF25073A}"/>
              </a:ext>
            </a:extLst>
          </p:cNvPr>
          <p:cNvSpPr>
            <a:spLocks noGrp="1"/>
          </p:cNvSpPr>
          <p:nvPr/>
        </p:nvSpPr>
        <p:spPr>
          <a:xfrm>
            <a:off x="1143000" y="2705100"/>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Decode</a:t>
            </a:r>
          </a:p>
        </p:txBody>
      </p:sp>
      <p:sp>
        <p:nvSpPr>
          <p:cNvPr id="12" name="Rectangle 11">
            <a:extLst>
              <a:ext uri="{FF2B5EF4-FFF2-40B4-BE49-F238E27FC236}">
                <a16:creationId xmlns:a16="http://schemas.microsoft.com/office/drawing/2014/main" id="{1B70B37E-392F-4A9F-9609-8D36F8DE18AA}"/>
              </a:ext>
            </a:extLst>
          </p:cNvPr>
          <p:cNvSpPr>
            <a:spLocks noGrp="1"/>
          </p:cNvSpPr>
          <p:nvPr/>
        </p:nvSpPr>
        <p:spPr>
          <a:xfrm>
            <a:off x="1143000" y="2905125"/>
            <a:ext cx="1600200" cy="304800"/>
          </a:xfrm>
          <a:prstGeom prst="rect">
            <a:avLst/>
          </a:prstGeom>
          <a:noFill/>
          <a:ln w="0">
            <a:noFill/>
          </a:ln>
        </p:spPr>
        <p:txBody>
          <a:bodyPr>
            <a:noAutofit/>
          </a:bodyPr>
          <a:lstStyle/>
          <a:p>
            <a:pPr>
              <a:defRPr sz="1200">
                <a:solidFill>
                  <a:srgbClr val="5A6780"/>
                </a:solidFill>
                <a:latin typeface="Arial"/>
                <a:ea typeface="Arial"/>
                <a:cs typeface="Arial"/>
              </a:defRPr>
            </a:pPr>
            <a:r>
              <a:rPr sz="1200" dirty="0" err="1">
                <a:solidFill>
                  <a:srgbClr val="5A6780"/>
                </a:solidFill>
                <a:latin typeface="Arial"/>
                <a:ea typeface="Arial"/>
                <a:cs typeface="Arial"/>
              </a:rPr>
              <a:t>đọc</a:t>
            </a:r>
            <a:r>
              <a:rPr sz="1200" dirty="0">
                <a:solidFill>
                  <a:srgbClr val="5A6780"/>
                </a:solidFill>
                <a:latin typeface="Arial"/>
                <a:ea typeface="Arial"/>
                <a:cs typeface="Arial"/>
              </a:rPr>
              <a:t> </a:t>
            </a:r>
            <a:r>
              <a:rPr sz="1200" dirty="0" err="1">
                <a:solidFill>
                  <a:srgbClr val="5A6780"/>
                </a:solidFill>
                <a:latin typeface="Arial"/>
                <a:ea typeface="Arial"/>
                <a:cs typeface="Arial"/>
              </a:rPr>
              <a:t>coeff_token</a:t>
            </a:r>
            <a:r>
              <a:rPr sz="1200" dirty="0">
                <a:solidFill>
                  <a:srgbClr val="5A6780"/>
                </a:solidFill>
                <a:latin typeface="Arial"/>
                <a:ea typeface="Arial"/>
                <a:cs typeface="Arial"/>
              </a:rPr>
              <a:t>, signs, levels, runs</a:t>
            </a:r>
          </a:p>
        </p:txBody>
      </p:sp>
      <p:sp>
        <p:nvSpPr>
          <p:cNvPr id="13" name="Rectangle: Rounded Corners 12">
            <a:extLst>
              <a:ext uri="{FF2B5EF4-FFF2-40B4-BE49-F238E27FC236}">
                <a16:creationId xmlns:a16="http://schemas.microsoft.com/office/drawing/2014/main" id="{37FDAC00-8AD9-4506-84F8-F79CE4C49539}"/>
              </a:ext>
            </a:extLst>
          </p:cNvPr>
          <p:cNvSpPr>
            <a:spLocks noGrp="1"/>
          </p:cNvSpPr>
          <p:nvPr/>
        </p:nvSpPr>
        <p:spPr>
          <a:xfrm>
            <a:off x="514350" y="3505200"/>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14" name="Rectangle: Rounded Corners 13">
            <a:extLst>
              <a:ext uri="{FF2B5EF4-FFF2-40B4-BE49-F238E27FC236}">
                <a16:creationId xmlns:a16="http://schemas.microsoft.com/office/drawing/2014/main" id="{C6D276A1-3642-492F-9BF9-BF584766990D}"/>
              </a:ext>
            </a:extLst>
          </p:cNvPr>
          <p:cNvSpPr>
            <a:spLocks noGrp="1"/>
          </p:cNvSpPr>
          <p:nvPr/>
        </p:nvSpPr>
        <p:spPr>
          <a:xfrm>
            <a:off x="666750" y="3657600"/>
            <a:ext cx="361950" cy="361950"/>
          </a:xfrm>
          <a:prstGeom prst="roundRect">
            <a:avLst>
              <a:gd name="adj" fmla="val 21053"/>
            </a:avLst>
          </a:prstGeom>
          <a:solidFill>
            <a:srgbClr val="F2994A">
              <a:alpha val="8627"/>
            </a:srgbClr>
          </a:solidFill>
          <a:ln w="9525">
            <a:solidFill>
              <a:srgbClr val="F2994A"/>
            </a:solidFill>
          </a:ln>
        </p:spPr>
        <p:txBody>
          <a:bodyPr/>
          <a:lstStyle/>
          <a:p>
            <a:endParaRPr lang="en-US"/>
          </a:p>
        </p:txBody>
      </p:sp>
      <p:sp>
        <p:nvSpPr>
          <p:cNvPr id="15" name="Rectangle 14">
            <a:extLst>
              <a:ext uri="{FF2B5EF4-FFF2-40B4-BE49-F238E27FC236}">
                <a16:creationId xmlns:a16="http://schemas.microsoft.com/office/drawing/2014/main" id="{7867E2CB-35E0-4EB6-A0EC-3856DBEF627D}"/>
              </a:ext>
            </a:extLst>
          </p:cNvPr>
          <p:cNvSpPr>
            <a:spLocks noGrp="1"/>
          </p:cNvSpPr>
          <p:nvPr/>
        </p:nvSpPr>
        <p:spPr>
          <a:xfrm>
            <a:off x="1143000" y="3667125"/>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Record</a:t>
            </a:r>
          </a:p>
        </p:txBody>
      </p:sp>
      <p:sp>
        <p:nvSpPr>
          <p:cNvPr id="16" name="Rectangle 15">
            <a:extLst>
              <a:ext uri="{FF2B5EF4-FFF2-40B4-BE49-F238E27FC236}">
                <a16:creationId xmlns:a16="http://schemas.microsoft.com/office/drawing/2014/main" id="{E9D187FA-7A0E-43A2-93DB-FEF468B1C800}"/>
              </a:ext>
            </a:extLst>
          </p:cNvPr>
          <p:cNvSpPr>
            <a:spLocks noGrp="1"/>
          </p:cNvSpPr>
          <p:nvPr/>
        </p:nvSpPr>
        <p:spPr>
          <a:xfrm>
            <a:off x="1143000" y="3880485"/>
            <a:ext cx="1600200" cy="304800"/>
          </a:xfrm>
          <a:prstGeom prst="rect">
            <a:avLst/>
          </a:prstGeom>
          <a:noFill/>
          <a:ln w="0">
            <a:noFill/>
          </a:ln>
        </p:spPr>
        <p:txBody>
          <a:bodyPr>
            <a:noAutofit/>
          </a:bodyPr>
          <a:lstStyle/>
          <a:p>
            <a:pPr>
              <a:defRPr sz="1200">
                <a:solidFill>
                  <a:srgbClr val="5A6780"/>
                </a:solidFill>
                <a:latin typeface="Arial"/>
                <a:ea typeface="Arial"/>
                <a:cs typeface="Arial"/>
              </a:defRPr>
            </a:pPr>
            <a:r>
              <a:rPr sz="1200">
                <a:solidFill>
                  <a:srgbClr val="5A6780"/>
                </a:solidFill>
                <a:latin typeface="Arial"/>
                <a:ea typeface="Arial"/>
                <a:cs typeface="Arial"/>
              </a:rPr>
              <a:t>lưu offset dấu T1 đầu tiên mỗi block</a:t>
            </a:r>
          </a:p>
        </p:txBody>
      </p:sp>
      <p:sp>
        <p:nvSpPr>
          <p:cNvPr id="17" name="Rectangle: Rounded Corners 16">
            <a:extLst>
              <a:ext uri="{FF2B5EF4-FFF2-40B4-BE49-F238E27FC236}">
                <a16:creationId xmlns:a16="http://schemas.microsoft.com/office/drawing/2014/main" id="{37A90634-2E13-46D4-B568-B9E6203DC77B}"/>
              </a:ext>
            </a:extLst>
          </p:cNvPr>
          <p:cNvSpPr>
            <a:spLocks noGrp="1"/>
          </p:cNvSpPr>
          <p:nvPr/>
        </p:nvSpPr>
        <p:spPr>
          <a:xfrm>
            <a:off x="514350" y="4467225"/>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18" name="Rectangle: Rounded Corners 17">
            <a:extLst>
              <a:ext uri="{FF2B5EF4-FFF2-40B4-BE49-F238E27FC236}">
                <a16:creationId xmlns:a16="http://schemas.microsoft.com/office/drawing/2014/main" id="{6E344028-5453-4536-A1C9-347897C4C420}"/>
              </a:ext>
            </a:extLst>
          </p:cNvPr>
          <p:cNvSpPr>
            <a:spLocks noGrp="1"/>
          </p:cNvSpPr>
          <p:nvPr/>
        </p:nvSpPr>
        <p:spPr>
          <a:xfrm>
            <a:off x="666750" y="4619625"/>
            <a:ext cx="361950" cy="361950"/>
          </a:xfrm>
          <a:prstGeom prst="roundRect">
            <a:avLst>
              <a:gd name="adj" fmla="val 21053"/>
            </a:avLst>
          </a:prstGeom>
          <a:solidFill>
            <a:srgbClr val="25A36F">
              <a:alpha val="8627"/>
            </a:srgbClr>
          </a:solidFill>
          <a:ln w="9525">
            <a:solidFill>
              <a:srgbClr val="25A36F"/>
            </a:solidFill>
          </a:ln>
        </p:spPr>
        <p:txBody>
          <a:bodyPr/>
          <a:lstStyle/>
          <a:p>
            <a:endParaRPr lang="en-US"/>
          </a:p>
        </p:txBody>
      </p:sp>
      <p:sp>
        <p:nvSpPr>
          <p:cNvPr id="19" name="Rectangle 18">
            <a:extLst>
              <a:ext uri="{FF2B5EF4-FFF2-40B4-BE49-F238E27FC236}">
                <a16:creationId xmlns:a16="http://schemas.microsoft.com/office/drawing/2014/main" id="{713A12DE-F5B2-4A97-AF67-43699D59F951}"/>
              </a:ext>
            </a:extLst>
          </p:cNvPr>
          <p:cNvSpPr>
            <a:spLocks noGrp="1"/>
          </p:cNvSpPr>
          <p:nvPr/>
        </p:nvSpPr>
        <p:spPr>
          <a:xfrm>
            <a:off x="1143000" y="4629150"/>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Patch</a:t>
            </a:r>
          </a:p>
        </p:txBody>
      </p:sp>
      <p:sp>
        <p:nvSpPr>
          <p:cNvPr id="20" name="Rectangle 19">
            <a:extLst>
              <a:ext uri="{FF2B5EF4-FFF2-40B4-BE49-F238E27FC236}">
                <a16:creationId xmlns:a16="http://schemas.microsoft.com/office/drawing/2014/main" id="{167D2489-3625-4B7A-B28E-A1AC6F434338}"/>
              </a:ext>
            </a:extLst>
          </p:cNvPr>
          <p:cNvSpPr>
            <a:spLocks noGrp="1"/>
          </p:cNvSpPr>
          <p:nvPr/>
        </p:nvSpPr>
        <p:spPr>
          <a:xfrm>
            <a:off x="1143000" y="4867275"/>
            <a:ext cx="1600200" cy="304800"/>
          </a:xfrm>
          <a:prstGeom prst="rect">
            <a:avLst/>
          </a:prstGeom>
          <a:noFill/>
          <a:ln w="0">
            <a:noFill/>
          </a:ln>
        </p:spPr>
        <p:txBody>
          <a:bodyPr>
            <a:noAutofit/>
          </a:bodyPr>
          <a:lstStyle/>
          <a:p>
            <a:pPr>
              <a:defRPr sz="1200">
                <a:solidFill>
                  <a:srgbClr val="5A6780"/>
                </a:solidFill>
                <a:latin typeface="Arial"/>
                <a:ea typeface="Arial"/>
                <a:cs typeface="Arial"/>
              </a:defRPr>
            </a:pPr>
            <a:r>
              <a:rPr sz="1200">
                <a:solidFill>
                  <a:srgbClr val="5A6780"/>
                </a:solidFill>
                <a:latin typeface="Arial"/>
                <a:ea typeface="Arial"/>
                <a:cs typeface="Arial"/>
              </a:rPr>
              <a:t>lật đúng bit dấu theo lịch khóa</a:t>
            </a:r>
          </a:p>
        </p:txBody>
      </p:sp>
      <p:sp>
        <p:nvSpPr>
          <p:cNvPr id="21" name="Rectangle 20">
            <a:extLst>
              <a:ext uri="{FF2B5EF4-FFF2-40B4-BE49-F238E27FC236}">
                <a16:creationId xmlns:a16="http://schemas.microsoft.com/office/drawing/2014/main" id="{455B5207-EF46-44A1-80D7-5DF2500D5CA5}"/>
              </a:ext>
            </a:extLst>
          </p:cNvPr>
          <p:cNvSpPr>
            <a:spLocks noGrp="1"/>
          </p:cNvSpPr>
          <p:nvPr/>
        </p:nvSpPr>
        <p:spPr>
          <a:xfrm>
            <a:off x="3048000" y="5600700"/>
            <a:ext cx="832485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9 — Native parse và decode vừa đủ để ghi offset. zkstego_inspect xuất cùng dữ liệu (NAL, slice, ứng viên) dạng JSON.</a:t>
            </a:r>
          </a:p>
        </p:txBody>
      </p:sp>
      <p:sp>
        <p:nvSpPr>
          <p:cNvPr id="22" name="Rectangle 21">
            <a:extLst>
              <a:ext uri="{FF2B5EF4-FFF2-40B4-BE49-F238E27FC236}">
                <a16:creationId xmlns:a16="http://schemas.microsoft.com/office/drawing/2014/main" id="{4DD149A6-5F52-4CE1-AF83-C47E436A9880}"/>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3" name="Rectangle 22">
            <a:extLst>
              <a:ext uri="{FF2B5EF4-FFF2-40B4-BE49-F238E27FC236}">
                <a16:creationId xmlns:a16="http://schemas.microsoft.com/office/drawing/2014/main" id="{BC750E75-463A-41F5-BE36-09A70F8A4284}"/>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09</a:t>
            </a:r>
          </a:p>
        </p:txBody>
      </p:sp>
    </p:spTree>
    <p:extLst>
      <p:ext uri="{BB962C8B-B14F-4D97-AF65-F5344CB8AC3E}">
        <p14:creationId xmlns:p14="http://schemas.microsoft.com/office/powerpoint/2010/main" val="1645539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7B5EED2D-0EC3-4732-8B77-C16733A87BE7}"/>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Một block CAVLC chứa những gì?</a:t>
            </a:r>
          </a:p>
        </p:txBody>
      </p:sp>
      <p:sp>
        <p:nvSpPr>
          <p:cNvPr id="2" name="Rectangle 1">
            <a:extLst>
              <a:ext uri="{FF2B5EF4-FFF2-40B4-BE49-F238E27FC236}">
                <a16:creationId xmlns:a16="http://schemas.microsoft.com/office/drawing/2014/main" id="{35FC35DA-21C8-4234-B8C1-1B6E3BC96CB4}"/>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Ví dụ này bắt đầu từ một coefficient block 4×4, sau đó trải nó thành năm phần mà decoder đọc lần lượt.</a:t>
            </a:r>
          </a:p>
        </p:txBody>
      </p:sp>
      <p:sp>
        <p:nvSpPr>
          <p:cNvPr id="3" name="Straight Connector 2">
            <a:extLst>
              <a:ext uri="{FF2B5EF4-FFF2-40B4-BE49-F238E27FC236}">
                <a16:creationId xmlns:a16="http://schemas.microsoft.com/office/drawing/2014/main" id="{0043729B-2838-4C20-980F-BF08E66215D5}"/>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27" name="Picture 26"/>
          <p:cNvPicPr>
            <a:picLocks noChangeAspect="1"/>
          </p:cNvPicPr>
          <p:nvPr/>
        </p:nvPicPr>
        <p:blipFill>
          <a:blip r:embed="rId3"/>
          <a:srcRect t="30919" b="30919"/>
          <a:stretch>
            <a:fillRect/>
          </a:stretch>
        </p:blipFill>
        <p:spPr>
          <a:xfrm>
            <a:off x="552450" y="1543050"/>
            <a:ext cx="11087100" cy="2381250"/>
          </a:xfrm>
          <a:prstGeom prst="rect">
            <a:avLst/>
          </a:prstGeom>
        </p:spPr>
      </p:pic>
      <p:sp>
        <p:nvSpPr>
          <p:cNvPr id="5" name="Straight Connector 4">
            <a:extLst>
              <a:ext uri="{FF2B5EF4-FFF2-40B4-BE49-F238E27FC236}">
                <a16:creationId xmlns:a16="http://schemas.microsoft.com/office/drawing/2014/main" id="{0F65BD0A-ED33-48D1-AFB4-20B6E97A49D2}"/>
              </a:ext>
            </a:extLst>
          </p:cNvPr>
          <p:cNvSpPr>
            <a:spLocks noGrp="1"/>
          </p:cNvSpPr>
          <p:nvPr/>
        </p:nvSpPr>
        <p:spPr>
          <a:xfrm>
            <a:off x="3409950" y="4067175"/>
            <a:ext cx="4533900" cy="0"/>
          </a:xfrm>
          <a:prstGeom prst="line">
            <a:avLst/>
          </a:prstGeom>
          <a:noFill/>
          <a:ln w="19050">
            <a:solidFill>
              <a:srgbClr val="2667D8"/>
            </a:solidFill>
          </a:ln>
        </p:spPr>
        <p:txBody>
          <a:bodyPr/>
          <a:lstStyle/>
          <a:p>
            <a:endParaRPr lang="en-US"/>
          </a:p>
        </p:txBody>
      </p:sp>
      <p:sp>
        <p:nvSpPr>
          <p:cNvPr id="6" name="Rectangle 5">
            <a:extLst>
              <a:ext uri="{FF2B5EF4-FFF2-40B4-BE49-F238E27FC236}">
                <a16:creationId xmlns:a16="http://schemas.microsoft.com/office/drawing/2014/main" id="{42778C37-9373-4A53-B7FE-09488B2408C4}"/>
              </a:ext>
            </a:extLst>
          </p:cNvPr>
          <p:cNvSpPr>
            <a:spLocks noGrp="1"/>
          </p:cNvSpPr>
          <p:nvPr/>
        </p:nvSpPr>
        <p:spPr>
          <a:xfrm>
            <a:off x="3238500" y="4191000"/>
            <a:ext cx="1466850" cy="228600"/>
          </a:xfrm>
          <a:prstGeom prst="rect">
            <a:avLst/>
          </a:prstGeom>
          <a:noFill/>
          <a:ln w="0">
            <a:noFill/>
          </a:ln>
        </p:spPr>
        <p:txBody>
          <a:bodyPr>
            <a:normAutofit fontScale="66667"/>
          </a:bodyPr>
          <a:lstStyle/>
          <a:p>
            <a:pPr>
              <a:defRPr sz="1350" b="1">
                <a:solidFill>
                  <a:srgbClr val="2667D8"/>
                </a:solidFill>
                <a:latin typeface="Arial"/>
                <a:ea typeface="Arial"/>
                <a:cs typeface="Arial"/>
              </a:defRPr>
            </a:pPr>
            <a:r>
              <a:rPr sz="1350" b="1">
                <a:solidFill>
                  <a:srgbClr val="2667D8"/>
                </a:solidFill>
                <a:latin typeface="Arial"/>
                <a:ea typeface="Arial"/>
                <a:cs typeface="Arial"/>
              </a:rPr>
              <a:t>1. coeff_token</a:t>
            </a:r>
          </a:p>
        </p:txBody>
      </p:sp>
      <p:sp>
        <p:nvSpPr>
          <p:cNvPr id="7" name="Rectangle 6">
            <a:extLst>
              <a:ext uri="{FF2B5EF4-FFF2-40B4-BE49-F238E27FC236}">
                <a16:creationId xmlns:a16="http://schemas.microsoft.com/office/drawing/2014/main" id="{841D22DC-1EEE-47D3-A97D-FAD3A8665922}"/>
              </a:ext>
            </a:extLst>
          </p:cNvPr>
          <p:cNvSpPr>
            <a:spLocks noGrp="1"/>
          </p:cNvSpPr>
          <p:nvPr/>
        </p:nvSpPr>
        <p:spPr>
          <a:xfrm>
            <a:off x="3238500" y="4486275"/>
            <a:ext cx="1466850" cy="400050"/>
          </a:xfrm>
          <a:prstGeom prst="rect">
            <a:avLst/>
          </a:prstGeom>
          <a:noFill/>
          <a:ln w="0">
            <a:noFill/>
          </a:ln>
        </p:spPr>
        <p:txBody>
          <a:bodyPr>
            <a:normAutofit fontScale="84375"/>
          </a:bodyPr>
          <a:lstStyle/>
          <a:p>
            <a:pPr>
              <a:defRPr sz="1200">
                <a:solidFill>
                  <a:srgbClr val="5A6780"/>
                </a:solidFill>
                <a:latin typeface="Arial"/>
                <a:ea typeface="Arial"/>
                <a:cs typeface="Arial"/>
              </a:defRPr>
            </a:pPr>
            <a:r>
              <a:rPr sz="1200">
                <a:solidFill>
                  <a:srgbClr val="5A6780"/>
                </a:solidFill>
                <a:latin typeface="Arial"/>
                <a:ea typeface="Arial"/>
                <a:cs typeface="Arial"/>
              </a:rPr>
              <a:t>Đếm coefficient ≠ 0</a:t>
            </a:r>
          </a:p>
          <a:p>
            <a:pPr>
              <a:defRPr sz="1200">
                <a:solidFill>
                  <a:srgbClr val="5A6780"/>
                </a:solidFill>
                <a:latin typeface="Arial"/>
                <a:ea typeface="Arial"/>
                <a:cs typeface="Arial"/>
              </a:defRPr>
            </a:pPr>
            <a:r>
              <a:rPr sz="1200">
                <a:solidFill>
                  <a:srgbClr val="5A6780"/>
                </a:solidFill>
                <a:latin typeface="Arial"/>
                <a:ea typeface="Arial"/>
                <a:cs typeface="Arial"/>
              </a:rPr>
              <a:t>và số trailing-one</a:t>
            </a:r>
          </a:p>
        </p:txBody>
      </p:sp>
      <p:sp>
        <p:nvSpPr>
          <p:cNvPr id="8" name="Straight Connector 7">
            <a:extLst>
              <a:ext uri="{FF2B5EF4-FFF2-40B4-BE49-F238E27FC236}">
                <a16:creationId xmlns:a16="http://schemas.microsoft.com/office/drawing/2014/main" id="{BC5B2797-6395-4F4C-874E-02DFBE80FCD5}"/>
              </a:ext>
            </a:extLst>
          </p:cNvPr>
          <p:cNvSpPr>
            <a:spLocks noGrp="1"/>
          </p:cNvSpPr>
          <p:nvPr/>
        </p:nvSpPr>
        <p:spPr>
          <a:xfrm flipV="1">
            <a:off x="4933950" y="4048123"/>
            <a:ext cx="1628775" cy="19052"/>
          </a:xfrm>
          <a:prstGeom prst="line">
            <a:avLst/>
          </a:prstGeom>
          <a:noFill/>
          <a:ln w="19050">
            <a:solidFill>
              <a:srgbClr val="F2994A"/>
            </a:solidFill>
          </a:ln>
        </p:spPr>
        <p:txBody>
          <a:bodyPr/>
          <a:lstStyle/>
          <a:p>
            <a:endParaRPr lang="en-US"/>
          </a:p>
        </p:txBody>
      </p:sp>
      <p:sp>
        <p:nvSpPr>
          <p:cNvPr id="9" name="Rectangle 8">
            <a:extLst>
              <a:ext uri="{FF2B5EF4-FFF2-40B4-BE49-F238E27FC236}">
                <a16:creationId xmlns:a16="http://schemas.microsoft.com/office/drawing/2014/main" id="{5ED77F19-2046-4AB9-A441-67CD1A02AF25}"/>
              </a:ext>
            </a:extLst>
          </p:cNvPr>
          <p:cNvSpPr>
            <a:spLocks noGrp="1"/>
          </p:cNvSpPr>
          <p:nvPr/>
        </p:nvSpPr>
        <p:spPr>
          <a:xfrm>
            <a:off x="4762500" y="4191000"/>
            <a:ext cx="1752600" cy="228600"/>
          </a:xfrm>
          <a:prstGeom prst="rect">
            <a:avLst/>
          </a:prstGeom>
          <a:noFill/>
          <a:ln w="0">
            <a:noFill/>
          </a:ln>
        </p:spPr>
        <p:txBody>
          <a:bodyPr>
            <a:normAutofit fontScale="66667"/>
          </a:bodyPr>
          <a:lstStyle/>
          <a:p>
            <a:pPr>
              <a:defRPr sz="1350" b="1">
                <a:solidFill>
                  <a:srgbClr val="F2994A"/>
                </a:solidFill>
                <a:latin typeface="Arial"/>
                <a:ea typeface="Arial"/>
                <a:cs typeface="Arial"/>
              </a:defRPr>
            </a:pPr>
            <a:r>
              <a:rPr sz="1350" b="1">
                <a:solidFill>
                  <a:srgbClr val="F2994A"/>
                </a:solidFill>
                <a:latin typeface="Arial"/>
                <a:ea typeface="Arial"/>
                <a:cs typeface="Arial"/>
              </a:rPr>
              <a:t>2. T1 signs</a:t>
            </a:r>
          </a:p>
        </p:txBody>
      </p:sp>
      <p:sp>
        <p:nvSpPr>
          <p:cNvPr id="10" name="Rectangle 9">
            <a:extLst>
              <a:ext uri="{FF2B5EF4-FFF2-40B4-BE49-F238E27FC236}">
                <a16:creationId xmlns:a16="http://schemas.microsoft.com/office/drawing/2014/main" id="{68D9E8C5-CAAB-4A54-B173-28686C59C0C8}"/>
              </a:ext>
            </a:extLst>
          </p:cNvPr>
          <p:cNvSpPr>
            <a:spLocks noGrp="1"/>
          </p:cNvSpPr>
          <p:nvPr/>
        </p:nvSpPr>
        <p:spPr>
          <a:xfrm>
            <a:off x="4762500" y="4486275"/>
            <a:ext cx="1752600" cy="400050"/>
          </a:xfrm>
          <a:prstGeom prst="rect">
            <a:avLst/>
          </a:prstGeom>
          <a:noFill/>
          <a:ln w="0">
            <a:noFill/>
          </a:ln>
        </p:spPr>
        <p:txBody>
          <a:bodyPr>
            <a:normAutofit fontScale="84375"/>
          </a:bodyPr>
          <a:lstStyle/>
          <a:p>
            <a:pPr>
              <a:defRPr sz="1200">
                <a:solidFill>
                  <a:srgbClr val="5A6780"/>
                </a:solidFill>
                <a:latin typeface="Arial"/>
                <a:ea typeface="Arial"/>
                <a:cs typeface="Arial"/>
              </a:defRPr>
            </a:pPr>
            <a:r>
              <a:rPr sz="1200">
                <a:solidFill>
                  <a:srgbClr val="5A6780"/>
                </a:solidFill>
                <a:latin typeface="Arial"/>
                <a:ea typeface="Arial"/>
                <a:cs typeface="Arial"/>
              </a:rPr>
              <a:t>Dấu của ±1</a:t>
            </a:r>
          </a:p>
          <a:p>
            <a:pPr>
              <a:defRPr sz="1200">
                <a:solidFill>
                  <a:srgbClr val="5A6780"/>
                </a:solidFill>
                <a:latin typeface="Arial"/>
                <a:ea typeface="Arial"/>
                <a:cs typeface="Arial"/>
              </a:defRPr>
            </a:pPr>
            <a:r>
              <a:rPr sz="1200">
                <a:solidFill>
                  <a:srgbClr val="5A6780"/>
                </a:solidFill>
                <a:latin typeface="Arial"/>
                <a:ea typeface="Arial"/>
                <a:cs typeface="Arial"/>
              </a:rPr>
              <a:t>Vị trí có thể nhúng</a:t>
            </a:r>
          </a:p>
        </p:txBody>
      </p:sp>
      <p:sp>
        <p:nvSpPr>
          <p:cNvPr id="11" name="Straight Connector 10">
            <a:extLst>
              <a:ext uri="{FF2B5EF4-FFF2-40B4-BE49-F238E27FC236}">
                <a16:creationId xmlns:a16="http://schemas.microsoft.com/office/drawing/2014/main" id="{47D76E01-649B-4F6C-8F3B-ABDFED7684E8}"/>
              </a:ext>
            </a:extLst>
          </p:cNvPr>
          <p:cNvSpPr>
            <a:spLocks noGrp="1"/>
          </p:cNvSpPr>
          <p:nvPr/>
        </p:nvSpPr>
        <p:spPr>
          <a:xfrm flipV="1">
            <a:off x="6734175" y="4067142"/>
            <a:ext cx="1581150" cy="33"/>
          </a:xfrm>
          <a:prstGeom prst="line">
            <a:avLst/>
          </a:prstGeom>
          <a:noFill/>
          <a:ln w="19050">
            <a:solidFill>
              <a:srgbClr val="7555D9"/>
            </a:solidFill>
          </a:ln>
        </p:spPr>
        <p:txBody>
          <a:bodyPr/>
          <a:lstStyle/>
          <a:p>
            <a:endParaRPr lang="en-US"/>
          </a:p>
        </p:txBody>
      </p:sp>
      <p:sp>
        <p:nvSpPr>
          <p:cNvPr id="12" name="Rectangle 11">
            <a:extLst>
              <a:ext uri="{FF2B5EF4-FFF2-40B4-BE49-F238E27FC236}">
                <a16:creationId xmlns:a16="http://schemas.microsoft.com/office/drawing/2014/main" id="{FA2C3E18-4457-4001-9112-17C6BE720F2A}"/>
              </a:ext>
            </a:extLst>
          </p:cNvPr>
          <p:cNvSpPr>
            <a:spLocks noGrp="1"/>
          </p:cNvSpPr>
          <p:nvPr/>
        </p:nvSpPr>
        <p:spPr>
          <a:xfrm>
            <a:off x="6562725" y="4191000"/>
            <a:ext cx="1381125" cy="228600"/>
          </a:xfrm>
          <a:prstGeom prst="rect">
            <a:avLst/>
          </a:prstGeom>
          <a:noFill/>
          <a:ln w="0">
            <a:noFill/>
          </a:ln>
        </p:spPr>
        <p:txBody>
          <a:bodyPr>
            <a:normAutofit fontScale="66667"/>
          </a:bodyPr>
          <a:lstStyle/>
          <a:p>
            <a:pPr>
              <a:defRPr sz="1350" b="1">
                <a:solidFill>
                  <a:srgbClr val="7555D9"/>
                </a:solidFill>
                <a:latin typeface="Arial"/>
                <a:ea typeface="Arial"/>
                <a:cs typeface="Arial"/>
              </a:defRPr>
            </a:pPr>
            <a:r>
              <a:rPr sz="1350" b="1">
                <a:solidFill>
                  <a:srgbClr val="7555D9"/>
                </a:solidFill>
                <a:latin typeface="Arial"/>
                <a:ea typeface="Arial"/>
                <a:cs typeface="Arial"/>
              </a:rPr>
              <a:t>3. levels</a:t>
            </a:r>
          </a:p>
        </p:txBody>
      </p:sp>
      <p:sp>
        <p:nvSpPr>
          <p:cNvPr id="13" name="Rectangle 12">
            <a:extLst>
              <a:ext uri="{FF2B5EF4-FFF2-40B4-BE49-F238E27FC236}">
                <a16:creationId xmlns:a16="http://schemas.microsoft.com/office/drawing/2014/main" id="{462AA194-4BED-47D4-8CE6-56EE2CC70CCE}"/>
              </a:ext>
            </a:extLst>
          </p:cNvPr>
          <p:cNvSpPr>
            <a:spLocks noGrp="1"/>
          </p:cNvSpPr>
          <p:nvPr/>
        </p:nvSpPr>
        <p:spPr>
          <a:xfrm>
            <a:off x="6562725" y="4486275"/>
            <a:ext cx="1381125" cy="400050"/>
          </a:xfrm>
          <a:prstGeom prst="rect">
            <a:avLst/>
          </a:prstGeom>
          <a:noFill/>
          <a:ln w="0">
            <a:noFill/>
          </a:ln>
        </p:spPr>
        <p:txBody>
          <a:bodyPr>
            <a:normAutofit fontScale="84375"/>
          </a:bodyPr>
          <a:lstStyle/>
          <a:p>
            <a:pPr>
              <a:defRPr sz="1200">
                <a:solidFill>
                  <a:srgbClr val="5A6780"/>
                </a:solidFill>
                <a:latin typeface="Arial"/>
                <a:ea typeface="Arial"/>
                <a:cs typeface="Arial"/>
              </a:defRPr>
            </a:pPr>
            <a:r>
              <a:rPr sz="1200">
                <a:solidFill>
                  <a:srgbClr val="5A6780"/>
                </a:solidFill>
                <a:latin typeface="Arial"/>
                <a:ea typeface="Arial"/>
                <a:cs typeface="Arial"/>
              </a:rPr>
              <a:t>Magnitude của các</a:t>
            </a:r>
          </a:p>
          <a:p>
            <a:pPr>
              <a:defRPr sz="1200">
                <a:solidFill>
                  <a:srgbClr val="5A6780"/>
                </a:solidFill>
                <a:latin typeface="Arial"/>
                <a:ea typeface="Arial"/>
                <a:cs typeface="Arial"/>
              </a:defRPr>
            </a:pPr>
            <a:r>
              <a:rPr sz="1200">
                <a:solidFill>
                  <a:srgbClr val="5A6780"/>
                </a:solidFill>
                <a:latin typeface="Arial"/>
                <a:ea typeface="Arial"/>
                <a:cs typeface="Arial"/>
              </a:rPr>
              <a:t>coefficient còn lại</a:t>
            </a:r>
          </a:p>
        </p:txBody>
      </p:sp>
      <p:sp>
        <p:nvSpPr>
          <p:cNvPr id="14" name="Straight Connector 13">
            <a:extLst>
              <a:ext uri="{FF2B5EF4-FFF2-40B4-BE49-F238E27FC236}">
                <a16:creationId xmlns:a16="http://schemas.microsoft.com/office/drawing/2014/main" id="{1123EF72-4630-4160-9DDE-755C15B37EF5}"/>
              </a:ext>
            </a:extLst>
          </p:cNvPr>
          <p:cNvSpPr>
            <a:spLocks noGrp="1"/>
          </p:cNvSpPr>
          <p:nvPr/>
        </p:nvSpPr>
        <p:spPr>
          <a:xfrm flipV="1">
            <a:off x="8181976" y="4067163"/>
            <a:ext cx="1752600" cy="10"/>
          </a:xfrm>
          <a:prstGeom prst="line">
            <a:avLst/>
          </a:prstGeom>
          <a:noFill/>
          <a:ln w="19050">
            <a:solidFill>
              <a:srgbClr val="16A4C7"/>
            </a:solidFill>
          </a:ln>
        </p:spPr>
        <p:txBody>
          <a:bodyPr/>
          <a:lstStyle/>
          <a:p>
            <a:endParaRPr lang="en-US"/>
          </a:p>
        </p:txBody>
      </p:sp>
      <p:sp>
        <p:nvSpPr>
          <p:cNvPr id="15" name="Rectangle 14">
            <a:extLst>
              <a:ext uri="{FF2B5EF4-FFF2-40B4-BE49-F238E27FC236}">
                <a16:creationId xmlns:a16="http://schemas.microsoft.com/office/drawing/2014/main" id="{E3E69AC3-1BA8-457E-B811-E9322A40FAAA}"/>
              </a:ext>
            </a:extLst>
          </p:cNvPr>
          <p:cNvSpPr>
            <a:spLocks noGrp="1"/>
          </p:cNvSpPr>
          <p:nvPr/>
        </p:nvSpPr>
        <p:spPr>
          <a:xfrm>
            <a:off x="8010525" y="4191000"/>
            <a:ext cx="1676400" cy="228600"/>
          </a:xfrm>
          <a:prstGeom prst="rect">
            <a:avLst/>
          </a:prstGeom>
          <a:noFill/>
          <a:ln w="0">
            <a:noFill/>
          </a:ln>
        </p:spPr>
        <p:txBody>
          <a:bodyPr>
            <a:normAutofit fontScale="66667"/>
          </a:bodyPr>
          <a:lstStyle/>
          <a:p>
            <a:pPr>
              <a:defRPr sz="1350" b="1">
                <a:solidFill>
                  <a:srgbClr val="16A4C7"/>
                </a:solidFill>
                <a:latin typeface="Arial"/>
                <a:ea typeface="Arial"/>
                <a:cs typeface="Arial"/>
              </a:defRPr>
            </a:pPr>
            <a:r>
              <a:rPr sz="1350" b="1">
                <a:solidFill>
                  <a:srgbClr val="16A4C7"/>
                </a:solidFill>
                <a:latin typeface="Arial"/>
                <a:ea typeface="Arial"/>
                <a:cs typeface="Arial"/>
              </a:rPr>
              <a:t>4. total_zeros</a:t>
            </a:r>
          </a:p>
        </p:txBody>
      </p:sp>
      <p:sp>
        <p:nvSpPr>
          <p:cNvPr id="16" name="Rectangle 15">
            <a:extLst>
              <a:ext uri="{FF2B5EF4-FFF2-40B4-BE49-F238E27FC236}">
                <a16:creationId xmlns:a16="http://schemas.microsoft.com/office/drawing/2014/main" id="{D73998E4-888C-4BF7-9AEF-6119DF9A592A}"/>
              </a:ext>
            </a:extLst>
          </p:cNvPr>
          <p:cNvSpPr>
            <a:spLocks noGrp="1"/>
          </p:cNvSpPr>
          <p:nvPr/>
        </p:nvSpPr>
        <p:spPr>
          <a:xfrm>
            <a:off x="8010525" y="4486275"/>
            <a:ext cx="1676400" cy="400050"/>
          </a:xfrm>
          <a:prstGeom prst="rect">
            <a:avLst/>
          </a:prstGeom>
          <a:noFill/>
          <a:ln w="0">
            <a:noFill/>
          </a:ln>
        </p:spPr>
        <p:txBody>
          <a:bodyPr>
            <a:normAutofit fontScale="84375"/>
          </a:bodyPr>
          <a:lstStyle/>
          <a:p>
            <a:pPr>
              <a:defRPr sz="1200">
                <a:solidFill>
                  <a:srgbClr val="5A6780"/>
                </a:solidFill>
                <a:latin typeface="Arial"/>
                <a:ea typeface="Arial"/>
                <a:cs typeface="Arial"/>
              </a:defRPr>
            </a:pPr>
            <a:r>
              <a:rPr sz="1200">
                <a:solidFill>
                  <a:srgbClr val="5A6780"/>
                </a:solidFill>
                <a:latin typeface="Arial"/>
                <a:ea typeface="Arial"/>
                <a:cs typeface="Arial"/>
              </a:rPr>
              <a:t>Đếm zero xen giữa</a:t>
            </a:r>
          </a:p>
          <a:p>
            <a:pPr>
              <a:defRPr sz="1200">
                <a:solidFill>
                  <a:srgbClr val="5A6780"/>
                </a:solidFill>
                <a:latin typeface="Arial"/>
                <a:ea typeface="Arial"/>
                <a:cs typeface="Arial"/>
              </a:defRPr>
            </a:pPr>
            <a:r>
              <a:rPr sz="1200">
                <a:solidFill>
                  <a:srgbClr val="5A6780"/>
                </a:solidFill>
                <a:latin typeface="Arial"/>
                <a:ea typeface="Arial"/>
                <a:cs typeface="Arial"/>
              </a:rPr>
              <a:t>các coefficient</a:t>
            </a:r>
          </a:p>
        </p:txBody>
      </p:sp>
      <p:sp>
        <p:nvSpPr>
          <p:cNvPr id="17" name="Straight Connector 16">
            <a:extLst>
              <a:ext uri="{FF2B5EF4-FFF2-40B4-BE49-F238E27FC236}">
                <a16:creationId xmlns:a16="http://schemas.microsoft.com/office/drawing/2014/main" id="{3118675A-931C-4E6B-9E7D-49B659AB6392}"/>
              </a:ext>
            </a:extLst>
          </p:cNvPr>
          <p:cNvSpPr>
            <a:spLocks noGrp="1"/>
          </p:cNvSpPr>
          <p:nvPr/>
        </p:nvSpPr>
        <p:spPr>
          <a:xfrm flipV="1">
            <a:off x="9934576" y="4048124"/>
            <a:ext cx="1828800" cy="19051"/>
          </a:xfrm>
          <a:prstGeom prst="line">
            <a:avLst/>
          </a:prstGeom>
          <a:noFill/>
          <a:ln w="19050">
            <a:solidFill>
              <a:srgbClr val="25A36F"/>
            </a:solidFill>
          </a:ln>
        </p:spPr>
        <p:txBody>
          <a:bodyPr/>
          <a:lstStyle/>
          <a:p>
            <a:endParaRPr lang="en-US"/>
          </a:p>
        </p:txBody>
      </p:sp>
      <p:sp>
        <p:nvSpPr>
          <p:cNvPr id="18" name="Rectangle 17">
            <a:extLst>
              <a:ext uri="{FF2B5EF4-FFF2-40B4-BE49-F238E27FC236}">
                <a16:creationId xmlns:a16="http://schemas.microsoft.com/office/drawing/2014/main" id="{EB7B55E7-9428-4379-B020-BC92C569F74E}"/>
              </a:ext>
            </a:extLst>
          </p:cNvPr>
          <p:cNvSpPr>
            <a:spLocks noGrp="1"/>
          </p:cNvSpPr>
          <p:nvPr/>
        </p:nvSpPr>
        <p:spPr>
          <a:xfrm>
            <a:off x="9763125" y="4191000"/>
            <a:ext cx="1562100" cy="228600"/>
          </a:xfrm>
          <a:prstGeom prst="rect">
            <a:avLst/>
          </a:prstGeom>
          <a:noFill/>
          <a:ln w="0">
            <a:noFill/>
          </a:ln>
        </p:spPr>
        <p:txBody>
          <a:bodyPr>
            <a:normAutofit fontScale="66667"/>
          </a:bodyPr>
          <a:lstStyle/>
          <a:p>
            <a:pPr>
              <a:defRPr sz="1350" b="1">
                <a:solidFill>
                  <a:srgbClr val="25A36F"/>
                </a:solidFill>
                <a:latin typeface="Arial"/>
                <a:ea typeface="Arial"/>
                <a:cs typeface="Arial"/>
              </a:defRPr>
            </a:pPr>
            <a:r>
              <a:rPr sz="1350" b="1">
                <a:solidFill>
                  <a:srgbClr val="25A36F"/>
                </a:solidFill>
                <a:latin typeface="Arial"/>
                <a:ea typeface="Arial"/>
                <a:cs typeface="Arial"/>
              </a:rPr>
              <a:t>5. run_before</a:t>
            </a:r>
          </a:p>
        </p:txBody>
      </p:sp>
      <p:sp>
        <p:nvSpPr>
          <p:cNvPr id="19" name="Rectangle 18">
            <a:extLst>
              <a:ext uri="{FF2B5EF4-FFF2-40B4-BE49-F238E27FC236}">
                <a16:creationId xmlns:a16="http://schemas.microsoft.com/office/drawing/2014/main" id="{2C2D2FE9-EE1D-48B4-AFB4-3714AA094805}"/>
              </a:ext>
            </a:extLst>
          </p:cNvPr>
          <p:cNvSpPr>
            <a:spLocks noGrp="1"/>
          </p:cNvSpPr>
          <p:nvPr/>
        </p:nvSpPr>
        <p:spPr>
          <a:xfrm>
            <a:off x="9763125" y="4486275"/>
            <a:ext cx="1562100" cy="400050"/>
          </a:xfrm>
          <a:prstGeom prst="rect">
            <a:avLst/>
          </a:prstGeom>
          <a:noFill/>
          <a:ln w="0">
            <a:noFill/>
          </a:ln>
        </p:spPr>
        <p:txBody>
          <a:bodyPr>
            <a:normAutofit fontScale="84375"/>
          </a:bodyPr>
          <a:lstStyle/>
          <a:p>
            <a:pPr>
              <a:defRPr sz="1200">
                <a:solidFill>
                  <a:srgbClr val="5A6780"/>
                </a:solidFill>
                <a:latin typeface="Arial"/>
                <a:ea typeface="Arial"/>
                <a:cs typeface="Arial"/>
              </a:defRPr>
            </a:pPr>
            <a:r>
              <a:rPr sz="1200">
                <a:solidFill>
                  <a:srgbClr val="5A6780"/>
                </a:solidFill>
                <a:latin typeface="Arial"/>
                <a:ea typeface="Arial"/>
                <a:cs typeface="Arial"/>
              </a:rPr>
              <a:t>Phân bổ zero trước</a:t>
            </a:r>
          </a:p>
          <a:p>
            <a:pPr>
              <a:defRPr sz="1200">
                <a:solidFill>
                  <a:srgbClr val="5A6780"/>
                </a:solidFill>
                <a:latin typeface="Arial"/>
                <a:ea typeface="Arial"/>
                <a:cs typeface="Arial"/>
              </a:defRPr>
            </a:pPr>
            <a:r>
              <a:rPr sz="1200">
                <a:solidFill>
                  <a:srgbClr val="5A6780"/>
                </a:solidFill>
                <a:latin typeface="Arial"/>
                <a:ea typeface="Arial"/>
                <a:cs typeface="Arial"/>
              </a:rPr>
              <a:t>từng coefficient</a:t>
            </a:r>
          </a:p>
        </p:txBody>
      </p:sp>
      <p:sp>
        <p:nvSpPr>
          <p:cNvPr id="20" name="Rectangle 19">
            <a:extLst>
              <a:ext uri="{FF2B5EF4-FFF2-40B4-BE49-F238E27FC236}">
                <a16:creationId xmlns:a16="http://schemas.microsoft.com/office/drawing/2014/main" id="{4D2B8B9C-727A-4280-A110-69DE36EC6AC7}"/>
              </a:ext>
            </a:extLst>
          </p:cNvPr>
          <p:cNvSpPr>
            <a:spLocks noGrp="1"/>
          </p:cNvSpPr>
          <p:nvPr/>
        </p:nvSpPr>
        <p:spPr>
          <a:xfrm>
            <a:off x="1200150" y="5086350"/>
            <a:ext cx="9791700" cy="219075"/>
          </a:xfrm>
          <a:prstGeom prst="rect">
            <a:avLst/>
          </a:prstGeom>
          <a:noFill/>
          <a:ln w="0">
            <a:noFill/>
          </a:ln>
        </p:spPr>
        <p:txBody>
          <a:bodyPr>
            <a:normAutofit fontScale="58772"/>
          </a:bodyPr>
          <a:lstStyle/>
          <a:p>
            <a:pPr>
              <a:defRPr sz="1425" b="1">
                <a:solidFill>
                  <a:srgbClr val="0B1B35"/>
                </a:solidFill>
                <a:latin typeface="Arial"/>
                <a:ea typeface="Arial"/>
                <a:cs typeface="Arial"/>
              </a:defRPr>
            </a:pPr>
            <a:r>
              <a:rPr sz="1425" b="1">
                <a:solidFill>
                  <a:srgbClr val="0B1B35"/>
                </a:solidFill>
                <a:latin typeface="Arial"/>
                <a:ea typeface="Arial"/>
                <a:cs typeface="Arial"/>
              </a:rPr>
              <a:t>Coefficient block ở bên trái là dữ liệu gốc. Năm vùng màu còn lại là các trường CAVLC decoder đọc theo thứ tự.</a:t>
            </a:r>
          </a:p>
        </p:txBody>
      </p:sp>
      <p:sp>
        <p:nvSpPr>
          <p:cNvPr id="21" name="Rectangle 20">
            <a:extLst>
              <a:ext uri="{FF2B5EF4-FFF2-40B4-BE49-F238E27FC236}">
                <a16:creationId xmlns:a16="http://schemas.microsoft.com/office/drawing/2014/main" id="{D5DDB45A-0A2F-460E-B328-CE5FD975B401}"/>
              </a:ext>
            </a:extLst>
          </p:cNvPr>
          <p:cNvSpPr>
            <a:spLocks noGrp="1"/>
          </p:cNvSpPr>
          <p:nvPr/>
        </p:nvSpPr>
        <p:spPr>
          <a:xfrm>
            <a:off x="1200150" y="5505450"/>
            <a:ext cx="97917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10 — Chỉ vùng cam T1 signs mang dấu ±1; native lấy dấu trailing-one đầu tiên của mỗi block làm ứng viên.</a:t>
            </a:r>
          </a:p>
        </p:txBody>
      </p:sp>
      <p:sp>
        <p:nvSpPr>
          <p:cNvPr id="22" name="Rectangle 21">
            <a:extLst>
              <a:ext uri="{FF2B5EF4-FFF2-40B4-BE49-F238E27FC236}">
                <a16:creationId xmlns:a16="http://schemas.microsoft.com/office/drawing/2014/main" id="{90725BEC-0399-469B-8FE0-BC97A8798CF3}"/>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3" name="Rectangle 22">
            <a:extLst>
              <a:ext uri="{FF2B5EF4-FFF2-40B4-BE49-F238E27FC236}">
                <a16:creationId xmlns:a16="http://schemas.microsoft.com/office/drawing/2014/main" id="{DC29F551-BD58-478A-AF16-112EEA271AFB}"/>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10</a:t>
            </a:r>
          </a:p>
        </p:txBody>
      </p:sp>
    </p:spTree>
    <p:extLst>
      <p:ext uri="{BB962C8B-B14F-4D97-AF65-F5344CB8AC3E}">
        <p14:creationId xmlns:p14="http://schemas.microsoft.com/office/powerpoint/2010/main" val="1983823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7A003F35-BF08-4911-B8D9-359FEFCF79B6}"/>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Vì sao đổi dấu T1 an toàn + chọn vị trí bằng khóa</a:t>
            </a:r>
          </a:p>
        </p:txBody>
      </p:sp>
      <p:sp>
        <p:nvSpPr>
          <p:cNvPr id="2" name="Rectangle 1">
            <a:extLst>
              <a:ext uri="{FF2B5EF4-FFF2-40B4-BE49-F238E27FC236}">
                <a16:creationId xmlns:a16="http://schemas.microsoft.com/office/drawing/2014/main" id="{0B8352EB-D9AC-4334-8210-DFAF3288A09B}"/>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Mỗi block góp một ứng viên; lật dấu không làm lệch stream. Vị trí nhúng do HMAC theo khóa con quyết định.</a:t>
            </a:r>
          </a:p>
        </p:txBody>
      </p:sp>
      <p:sp>
        <p:nvSpPr>
          <p:cNvPr id="3" name="Straight Connector 2">
            <a:extLst>
              <a:ext uri="{FF2B5EF4-FFF2-40B4-BE49-F238E27FC236}">
                <a16:creationId xmlns:a16="http://schemas.microsoft.com/office/drawing/2014/main" id="{EB88B296-CEF9-4386-82A9-2F4E8822FCA0}"/>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25" name="Picture 24"/>
          <p:cNvPicPr>
            <a:picLocks noChangeAspect="1"/>
          </p:cNvPicPr>
          <p:nvPr/>
        </p:nvPicPr>
        <p:blipFill>
          <a:blip r:embed="rId3"/>
          <a:stretch/>
        </p:blipFill>
        <p:spPr>
          <a:xfrm>
            <a:off x="4380832" y="1828800"/>
            <a:ext cx="5449636" cy="3067050"/>
          </a:xfrm>
          <a:prstGeom prst="rect">
            <a:avLst/>
          </a:prstGeom>
        </p:spPr>
      </p:pic>
      <p:sp>
        <p:nvSpPr>
          <p:cNvPr id="5" name="Rectangle: Rounded Corners 4">
            <a:extLst>
              <a:ext uri="{FF2B5EF4-FFF2-40B4-BE49-F238E27FC236}">
                <a16:creationId xmlns:a16="http://schemas.microsoft.com/office/drawing/2014/main" id="{F88C7A5D-47CE-4A23-984A-472C21CBBC6C}"/>
              </a:ext>
            </a:extLst>
          </p:cNvPr>
          <p:cNvSpPr>
            <a:spLocks noGrp="1"/>
          </p:cNvSpPr>
          <p:nvPr/>
        </p:nvSpPr>
        <p:spPr>
          <a:xfrm>
            <a:off x="533400" y="1543050"/>
            <a:ext cx="2533650" cy="742950"/>
          </a:xfrm>
          <a:prstGeom prst="roundRect">
            <a:avLst>
              <a:gd name="adj" fmla="val 10256"/>
            </a:avLst>
          </a:prstGeom>
          <a:solidFill>
            <a:srgbClr val="F5F8FC"/>
          </a:solidFill>
          <a:ln w="9525">
            <a:solidFill>
              <a:srgbClr val="D6DFEB"/>
            </a:solidFill>
          </a:ln>
        </p:spPr>
        <p:txBody>
          <a:bodyPr/>
          <a:lstStyle/>
          <a:p>
            <a:endParaRPr lang="en-US"/>
          </a:p>
        </p:txBody>
      </p:sp>
      <p:sp>
        <p:nvSpPr>
          <p:cNvPr id="6" name="Rectangle 5">
            <a:extLst>
              <a:ext uri="{FF2B5EF4-FFF2-40B4-BE49-F238E27FC236}">
                <a16:creationId xmlns:a16="http://schemas.microsoft.com/office/drawing/2014/main" id="{D7C89701-45AB-4323-AE21-C4B2AB7CE02B}"/>
              </a:ext>
            </a:extLst>
          </p:cNvPr>
          <p:cNvSpPr>
            <a:spLocks noGrp="1"/>
          </p:cNvSpPr>
          <p:nvPr/>
        </p:nvSpPr>
        <p:spPr>
          <a:xfrm>
            <a:off x="742950" y="1657350"/>
            <a:ext cx="2095500" cy="238125"/>
          </a:xfrm>
          <a:prstGeom prst="rect">
            <a:avLst/>
          </a:prstGeom>
          <a:noFill/>
          <a:ln w="0">
            <a:noFill/>
          </a:ln>
        </p:spPr>
        <p:txBody>
          <a:bodyPr>
            <a:normAutofit fontScale="71296"/>
          </a:bodyPr>
          <a:lstStyle/>
          <a:p>
            <a:pPr>
              <a:defRPr sz="1350" b="1">
                <a:solidFill>
                  <a:srgbClr val="2667D8"/>
                </a:solidFill>
                <a:latin typeface="Arial"/>
                <a:ea typeface="Arial"/>
                <a:cs typeface="Arial"/>
              </a:defRPr>
            </a:pPr>
            <a:r>
              <a:rPr sz="1350" b="1">
                <a:solidFill>
                  <a:srgbClr val="2667D8"/>
                </a:solidFill>
                <a:latin typeface="Arial"/>
                <a:ea typeface="Arial"/>
                <a:cs typeface="Arial"/>
              </a:rPr>
              <a:t>1. Đúng vùng hỗ trợ</a:t>
            </a:r>
          </a:p>
        </p:txBody>
      </p:sp>
      <p:sp>
        <p:nvSpPr>
          <p:cNvPr id="7" name="Rectangle 6">
            <a:extLst>
              <a:ext uri="{FF2B5EF4-FFF2-40B4-BE49-F238E27FC236}">
                <a16:creationId xmlns:a16="http://schemas.microsoft.com/office/drawing/2014/main" id="{4787F68D-9033-491D-9E14-70A85789DB7F}"/>
              </a:ext>
            </a:extLst>
          </p:cNvPr>
          <p:cNvSpPr>
            <a:spLocks noGrp="1"/>
          </p:cNvSpPr>
          <p:nvPr/>
        </p:nvSpPr>
        <p:spPr>
          <a:xfrm>
            <a:off x="742950" y="1981200"/>
            <a:ext cx="2095500" cy="228600"/>
          </a:xfrm>
          <a:prstGeom prst="rect">
            <a:avLst/>
          </a:prstGeom>
          <a:noFill/>
          <a:ln w="0">
            <a:noFill/>
          </a:ln>
        </p:spPr>
        <p:txBody>
          <a:bodyPr>
            <a:normAutofit fontScale="75000"/>
          </a:bodyPr>
          <a:lstStyle/>
          <a:p>
            <a:pPr>
              <a:defRPr sz="1200">
                <a:solidFill>
                  <a:srgbClr val="5A6780"/>
                </a:solidFill>
                <a:latin typeface="Arial"/>
                <a:ea typeface="Arial"/>
                <a:cs typeface="Arial"/>
              </a:defRPr>
            </a:pPr>
            <a:r>
              <a:rPr sz="1200">
                <a:solidFill>
                  <a:srgbClr val="5A6780"/>
                </a:solidFill>
                <a:latin typeface="Arial"/>
                <a:ea typeface="Arial"/>
                <a:cs typeface="Arial"/>
              </a:rPr>
              <a:t>Annex-B, IDR, CAVLC (Baseline)</a:t>
            </a:r>
          </a:p>
        </p:txBody>
      </p:sp>
      <p:sp>
        <p:nvSpPr>
          <p:cNvPr id="8" name="Rectangle: Rounded Corners 7">
            <a:extLst>
              <a:ext uri="{FF2B5EF4-FFF2-40B4-BE49-F238E27FC236}">
                <a16:creationId xmlns:a16="http://schemas.microsoft.com/office/drawing/2014/main" id="{005E245A-0447-4AD9-8EE2-B901296A34F9}"/>
              </a:ext>
            </a:extLst>
          </p:cNvPr>
          <p:cNvSpPr>
            <a:spLocks noGrp="1"/>
          </p:cNvSpPr>
          <p:nvPr/>
        </p:nvSpPr>
        <p:spPr>
          <a:xfrm>
            <a:off x="533400" y="2409825"/>
            <a:ext cx="2533650" cy="742950"/>
          </a:xfrm>
          <a:prstGeom prst="roundRect">
            <a:avLst>
              <a:gd name="adj" fmla="val 10256"/>
            </a:avLst>
          </a:prstGeom>
          <a:solidFill>
            <a:srgbClr val="F5F8FC"/>
          </a:solidFill>
          <a:ln w="9525">
            <a:solidFill>
              <a:srgbClr val="D6DFEB"/>
            </a:solidFill>
          </a:ln>
        </p:spPr>
        <p:txBody>
          <a:bodyPr/>
          <a:lstStyle/>
          <a:p>
            <a:endParaRPr lang="en-US"/>
          </a:p>
        </p:txBody>
      </p:sp>
      <p:sp>
        <p:nvSpPr>
          <p:cNvPr id="9" name="Rectangle 8">
            <a:extLst>
              <a:ext uri="{FF2B5EF4-FFF2-40B4-BE49-F238E27FC236}">
                <a16:creationId xmlns:a16="http://schemas.microsoft.com/office/drawing/2014/main" id="{BC718EAE-0B4F-4E2A-AB6B-D55090479E75}"/>
              </a:ext>
            </a:extLst>
          </p:cNvPr>
          <p:cNvSpPr>
            <a:spLocks noGrp="1"/>
          </p:cNvSpPr>
          <p:nvPr/>
        </p:nvSpPr>
        <p:spPr>
          <a:xfrm>
            <a:off x="742950" y="2524125"/>
            <a:ext cx="2095500" cy="238125"/>
          </a:xfrm>
          <a:prstGeom prst="rect">
            <a:avLst/>
          </a:prstGeom>
          <a:noFill/>
          <a:ln w="0">
            <a:noFill/>
          </a:ln>
        </p:spPr>
        <p:txBody>
          <a:bodyPr>
            <a:normAutofit fontScale="71296"/>
          </a:bodyPr>
          <a:lstStyle/>
          <a:p>
            <a:pPr>
              <a:defRPr sz="1350" b="1">
                <a:solidFill>
                  <a:srgbClr val="F2994A"/>
                </a:solidFill>
                <a:latin typeface="Arial"/>
                <a:ea typeface="Arial"/>
                <a:cs typeface="Arial"/>
              </a:defRPr>
            </a:pPr>
            <a:r>
              <a:rPr sz="1350" b="1">
                <a:solidFill>
                  <a:srgbClr val="F2994A"/>
                </a:solidFill>
                <a:latin typeface="Arial"/>
                <a:ea typeface="Arial"/>
                <a:cs typeface="Arial"/>
              </a:rPr>
              <a:t>2. Một ứng viên mỗi block</a:t>
            </a:r>
          </a:p>
        </p:txBody>
      </p:sp>
      <p:sp>
        <p:nvSpPr>
          <p:cNvPr id="10" name="Rectangle 9">
            <a:extLst>
              <a:ext uri="{FF2B5EF4-FFF2-40B4-BE49-F238E27FC236}">
                <a16:creationId xmlns:a16="http://schemas.microsoft.com/office/drawing/2014/main" id="{7D6E0CC4-BE73-423C-B5A6-DBF8AF941AA4}"/>
              </a:ext>
            </a:extLst>
          </p:cNvPr>
          <p:cNvSpPr>
            <a:spLocks noGrp="1"/>
          </p:cNvSpPr>
          <p:nvPr/>
        </p:nvSpPr>
        <p:spPr>
          <a:xfrm>
            <a:off x="742950" y="2847975"/>
            <a:ext cx="2095500" cy="228600"/>
          </a:xfrm>
          <a:prstGeom prst="rect">
            <a:avLst/>
          </a:prstGeom>
          <a:noFill/>
          <a:ln w="0">
            <a:noFill/>
          </a:ln>
        </p:spPr>
        <p:txBody>
          <a:bodyPr>
            <a:normAutofit fontScale="75000"/>
          </a:bodyPr>
          <a:lstStyle/>
          <a:p>
            <a:pPr>
              <a:defRPr sz="1200">
                <a:solidFill>
                  <a:srgbClr val="5A6780"/>
                </a:solidFill>
                <a:latin typeface="Arial"/>
                <a:ea typeface="Arial"/>
                <a:cs typeface="Arial"/>
              </a:defRPr>
            </a:pPr>
            <a:r>
              <a:rPr sz="1200">
                <a:solidFill>
                  <a:srgbClr val="5A6780"/>
                </a:solidFill>
                <a:latin typeface="Arial"/>
                <a:ea typeface="Arial"/>
                <a:cs typeface="Arial"/>
              </a:rPr>
              <a:t>Dấu trailing-one đầu tiên</a:t>
            </a:r>
          </a:p>
        </p:txBody>
      </p:sp>
      <p:sp>
        <p:nvSpPr>
          <p:cNvPr id="11" name="Rectangle: Rounded Corners 10">
            <a:extLst>
              <a:ext uri="{FF2B5EF4-FFF2-40B4-BE49-F238E27FC236}">
                <a16:creationId xmlns:a16="http://schemas.microsoft.com/office/drawing/2014/main" id="{7398C0EE-9372-4523-9FC9-3E16A6DB2B62}"/>
              </a:ext>
            </a:extLst>
          </p:cNvPr>
          <p:cNvSpPr>
            <a:spLocks noGrp="1"/>
          </p:cNvSpPr>
          <p:nvPr/>
        </p:nvSpPr>
        <p:spPr>
          <a:xfrm>
            <a:off x="533400" y="3276600"/>
            <a:ext cx="2533650" cy="742950"/>
          </a:xfrm>
          <a:prstGeom prst="roundRect">
            <a:avLst>
              <a:gd name="adj" fmla="val 10256"/>
            </a:avLst>
          </a:prstGeom>
          <a:solidFill>
            <a:srgbClr val="F5F8FC"/>
          </a:solidFill>
          <a:ln w="9525">
            <a:solidFill>
              <a:srgbClr val="D6DFEB"/>
            </a:solidFill>
          </a:ln>
        </p:spPr>
        <p:txBody>
          <a:bodyPr/>
          <a:lstStyle/>
          <a:p>
            <a:endParaRPr lang="en-US"/>
          </a:p>
        </p:txBody>
      </p:sp>
      <p:sp>
        <p:nvSpPr>
          <p:cNvPr id="12" name="Rectangle 11">
            <a:extLst>
              <a:ext uri="{FF2B5EF4-FFF2-40B4-BE49-F238E27FC236}">
                <a16:creationId xmlns:a16="http://schemas.microsoft.com/office/drawing/2014/main" id="{AA4B30CC-79D3-4EDD-9537-BBAF6BACB346}"/>
              </a:ext>
            </a:extLst>
          </p:cNvPr>
          <p:cNvSpPr>
            <a:spLocks noGrp="1"/>
          </p:cNvSpPr>
          <p:nvPr/>
        </p:nvSpPr>
        <p:spPr>
          <a:xfrm>
            <a:off x="742950" y="3390900"/>
            <a:ext cx="2095500" cy="238125"/>
          </a:xfrm>
          <a:prstGeom prst="rect">
            <a:avLst/>
          </a:prstGeom>
          <a:noFill/>
          <a:ln w="0">
            <a:noFill/>
          </a:ln>
        </p:spPr>
        <p:txBody>
          <a:bodyPr>
            <a:normAutofit fontScale="71296"/>
          </a:bodyPr>
          <a:lstStyle/>
          <a:p>
            <a:pPr>
              <a:defRPr sz="1350" b="1">
                <a:solidFill>
                  <a:srgbClr val="25A36F"/>
                </a:solidFill>
                <a:latin typeface="Arial"/>
                <a:ea typeface="Arial"/>
                <a:cs typeface="Arial"/>
              </a:defRPr>
            </a:pPr>
            <a:r>
              <a:rPr sz="1350" b="1">
                <a:solidFill>
                  <a:srgbClr val="25A36F"/>
                </a:solidFill>
                <a:latin typeface="Arial"/>
                <a:ea typeface="Arial"/>
                <a:cs typeface="Arial"/>
              </a:rPr>
              <a:t>3. Không lệch stream</a:t>
            </a:r>
          </a:p>
        </p:txBody>
      </p:sp>
      <p:sp>
        <p:nvSpPr>
          <p:cNvPr id="13" name="Rectangle 12">
            <a:extLst>
              <a:ext uri="{FF2B5EF4-FFF2-40B4-BE49-F238E27FC236}">
                <a16:creationId xmlns:a16="http://schemas.microsoft.com/office/drawing/2014/main" id="{32264DCE-6D69-4479-81D9-DD1C363AB049}"/>
              </a:ext>
            </a:extLst>
          </p:cNvPr>
          <p:cNvSpPr>
            <a:spLocks noGrp="1"/>
          </p:cNvSpPr>
          <p:nvPr/>
        </p:nvSpPr>
        <p:spPr>
          <a:xfrm>
            <a:off x="742950" y="3714750"/>
            <a:ext cx="2095500" cy="228600"/>
          </a:xfrm>
          <a:prstGeom prst="rect">
            <a:avLst/>
          </a:prstGeom>
          <a:noFill/>
          <a:ln w="0">
            <a:noFill/>
          </a:ln>
        </p:spPr>
        <p:txBody>
          <a:bodyPr>
            <a:normAutofit fontScale="75000"/>
          </a:bodyPr>
          <a:lstStyle/>
          <a:p>
            <a:pPr>
              <a:defRPr sz="1200">
                <a:solidFill>
                  <a:srgbClr val="5A6780"/>
                </a:solidFill>
                <a:latin typeface="Arial"/>
                <a:ea typeface="Arial"/>
                <a:cs typeface="Arial"/>
              </a:defRPr>
            </a:pPr>
            <a:r>
              <a:rPr sz="1200">
                <a:solidFill>
                  <a:srgbClr val="5A6780"/>
                </a:solidFill>
                <a:latin typeface="Arial"/>
                <a:ea typeface="Arial"/>
                <a:cs typeface="Arial"/>
              </a:rPr>
              <a:t>Giữ độ dài mã, nC, cú pháp sau</a:t>
            </a:r>
          </a:p>
        </p:txBody>
      </p:sp>
      <p:sp>
        <p:nvSpPr>
          <p:cNvPr id="14" name="Rectangle: Rounded Corners 13">
            <a:extLst>
              <a:ext uri="{FF2B5EF4-FFF2-40B4-BE49-F238E27FC236}">
                <a16:creationId xmlns:a16="http://schemas.microsoft.com/office/drawing/2014/main" id="{85B6DF5E-5F95-45F4-844E-873F84C3DEC7}"/>
              </a:ext>
            </a:extLst>
          </p:cNvPr>
          <p:cNvSpPr>
            <a:spLocks noGrp="1"/>
          </p:cNvSpPr>
          <p:nvPr/>
        </p:nvSpPr>
        <p:spPr>
          <a:xfrm>
            <a:off x="533400" y="4143375"/>
            <a:ext cx="2533650" cy="742950"/>
          </a:xfrm>
          <a:prstGeom prst="roundRect">
            <a:avLst>
              <a:gd name="adj" fmla="val 10256"/>
            </a:avLst>
          </a:prstGeom>
          <a:solidFill>
            <a:srgbClr val="F5F8FC"/>
          </a:solidFill>
          <a:ln w="9525">
            <a:solidFill>
              <a:srgbClr val="D6DFEB"/>
            </a:solidFill>
          </a:ln>
        </p:spPr>
        <p:txBody>
          <a:bodyPr/>
          <a:lstStyle/>
          <a:p>
            <a:endParaRPr lang="en-US"/>
          </a:p>
        </p:txBody>
      </p:sp>
      <p:sp>
        <p:nvSpPr>
          <p:cNvPr id="15" name="Rectangle 14">
            <a:extLst>
              <a:ext uri="{FF2B5EF4-FFF2-40B4-BE49-F238E27FC236}">
                <a16:creationId xmlns:a16="http://schemas.microsoft.com/office/drawing/2014/main" id="{0E86CE35-5E9F-4FE3-A7AE-F38D16F48ACF}"/>
              </a:ext>
            </a:extLst>
          </p:cNvPr>
          <p:cNvSpPr>
            <a:spLocks noGrp="1"/>
          </p:cNvSpPr>
          <p:nvPr/>
        </p:nvSpPr>
        <p:spPr>
          <a:xfrm>
            <a:off x="742950" y="4257675"/>
            <a:ext cx="2095500" cy="238125"/>
          </a:xfrm>
          <a:prstGeom prst="rect">
            <a:avLst/>
          </a:prstGeom>
          <a:noFill/>
          <a:ln w="0">
            <a:noFill/>
          </a:ln>
        </p:spPr>
        <p:txBody>
          <a:bodyPr>
            <a:normAutofit fontScale="71296"/>
          </a:bodyPr>
          <a:lstStyle/>
          <a:p>
            <a:pPr>
              <a:defRPr sz="1350" b="1">
                <a:solidFill>
                  <a:srgbClr val="16A4C7"/>
                </a:solidFill>
                <a:latin typeface="Arial"/>
                <a:ea typeface="Arial"/>
                <a:cs typeface="Arial"/>
              </a:defRPr>
            </a:pPr>
            <a:r>
              <a:rPr sz="1350" b="1">
                <a:solidFill>
                  <a:srgbClr val="16A4C7"/>
                </a:solidFill>
                <a:latin typeface="Arial"/>
                <a:ea typeface="Arial"/>
                <a:cs typeface="Arial"/>
              </a:rPr>
              <a:t>4. Vị trí do khóa</a:t>
            </a:r>
          </a:p>
        </p:txBody>
      </p:sp>
      <p:sp>
        <p:nvSpPr>
          <p:cNvPr id="16" name="Rectangle 15">
            <a:extLst>
              <a:ext uri="{FF2B5EF4-FFF2-40B4-BE49-F238E27FC236}">
                <a16:creationId xmlns:a16="http://schemas.microsoft.com/office/drawing/2014/main" id="{7F92A7A0-71FC-4FB0-8280-F230D565DCD2}"/>
              </a:ext>
            </a:extLst>
          </p:cNvPr>
          <p:cNvSpPr>
            <a:spLocks noGrp="1"/>
          </p:cNvSpPr>
          <p:nvPr/>
        </p:nvSpPr>
        <p:spPr>
          <a:xfrm>
            <a:off x="742950" y="4581525"/>
            <a:ext cx="2095500" cy="228600"/>
          </a:xfrm>
          <a:prstGeom prst="rect">
            <a:avLst/>
          </a:prstGeom>
          <a:noFill/>
          <a:ln w="0">
            <a:noFill/>
          </a:ln>
        </p:spPr>
        <p:txBody>
          <a:bodyPr>
            <a:normAutofit fontScale="75000"/>
          </a:bodyPr>
          <a:lstStyle/>
          <a:p>
            <a:pPr>
              <a:defRPr sz="1200">
                <a:solidFill>
                  <a:srgbClr val="5A6780"/>
                </a:solidFill>
                <a:latin typeface="Arial"/>
                <a:ea typeface="Arial"/>
                <a:cs typeface="Arial"/>
              </a:defRPr>
            </a:pPr>
            <a:r>
              <a:rPr sz="1200">
                <a:solidFill>
                  <a:srgbClr val="5A6780"/>
                </a:solidFill>
                <a:latin typeface="Arial"/>
                <a:ea typeface="Arial"/>
                <a:cs typeface="Arial"/>
              </a:rPr>
              <a:t>HMAC khóa con, ≤ 64 bit/IDR</a:t>
            </a:r>
          </a:p>
        </p:txBody>
      </p:sp>
      <p:sp>
        <p:nvSpPr>
          <p:cNvPr id="17" name="Rectangle 16">
            <a:extLst>
              <a:ext uri="{FF2B5EF4-FFF2-40B4-BE49-F238E27FC236}">
                <a16:creationId xmlns:a16="http://schemas.microsoft.com/office/drawing/2014/main" id="{6926114B-D223-40D8-A153-6A204E58CBE3}"/>
              </a:ext>
            </a:extLst>
          </p:cNvPr>
          <p:cNvSpPr>
            <a:spLocks noGrp="1"/>
          </p:cNvSpPr>
          <p:nvPr/>
        </p:nvSpPr>
        <p:spPr>
          <a:xfrm>
            <a:off x="3295650" y="5029200"/>
            <a:ext cx="76200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11 — Dấu tích: chỉ lật một bit dấu, độ dài mã giữ nguyên. Dấu X: sửa trường có độ dài thay đổi làm decoder đọc lệch phần sau.</a:t>
            </a:r>
          </a:p>
        </p:txBody>
      </p:sp>
      <p:sp>
        <p:nvSpPr>
          <p:cNvPr id="18" name="Rectangle: Rounded Corners 17">
            <a:extLst>
              <a:ext uri="{FF2B5EF4-FFF2-40B4-BE49-F238E27FC236}">
                <a16:creationId xmlns:a16="http://schemas.microsoft.com/office/drawing/2014/main" id="{C744EF29-CB17-41FD-B162-46656375D163}"/>
              </a:ext>
            </a:extLst>
          </p:cNvPr>
          <p:cNvSpPr>
            <a:spLocks noGrp="1"/>
          </p:cNvSpPr>
          <p:nvPr/>
        </p:nvSpPr>
        <p:spPr>
          <a:xfrm>
            <a:off x="1200150" y="5476875"/>
            <a:ext cx="9639300" cy="552450"/>
          </a:xfrm>
          <a:prstGeom prst="roundRect">
            <a:avLst>
              <a:gd name="adj" fmla="val 13793"/>
            </a:avLst>
          </a:prstGeom>
          <a:solidFill>
            <a:srgbClr val="FFF0F0"/>
          </a:solidFill>
          <a:ln w="9525">
            <a:solidFill>
              <a:srgbClr val="F1B6B6"/>
            </a:solidFill>
          </a:ln>
        </p:spPr>
        <p:txBody>
          <a:bodyPr/>
          <a:lstStyle/>
          <a:p>
            <a:endParaRPr lang="en-US"/>
          </a:p>
        </p:txBody>
      </p:sp>
      <p:sp>
        <p:nvSpPr>
          <p:cNvPr id="19" name="Rectangle 18">
            <a:extLst>
              <a:ext uri="{FF2B5EF4-FFF2-40B4-BE49-F238E27FC236}">
                <a16:creationId xmlns:a16="http://schemas.microsoft.com/office/drawing/2014/main" id="{1B73FB39-F3D0-43FE-A68E-5426DD1FE804}"/>
              </a:ext>
            </a:extLst>
          </p:cNvPr>
          <p:cNvSpPr>
            <a:spLocks noGrp="1"/>
          </p:cNvSpPr>
          <p:nvPr/>
        </p:nvSpPr>
        <p:spPr>
          <a:xfrm>
            <a:off x="1466850" y="5513832"/>
            <a:ext cx="9124950" cy="484632"/>
          </a:xfrm>
          <a:prstGeom prst="rect">
            <a:avLst/>
          </a:prstGeom>
          <a:noFill/>
          <a:ln w="0">
            <a:noFill/>
          </a:ln>
        </p:spPr>
        <p:txBody>
          <a:bodyPr>
            <a:normAutofit fontScale="80000"/>
          </a:bodyPr>
          <a:lstStyle/>
          <a:p>
            <a:pPr>
              <a:defRPr sz="1350" b="1">
                <a:solidFill>
                  <a:srgbClr val="A92B2B"/>
                </a:solidFill>
                <a:latin typeface="Arial"/>
                <a:ea typeface="Arial"/>
                <a:cs typeface="Arial"/>
              </a:defRPr>
            </a:pPr>
            <a:r>
              <a:rPr sz="1350" b="1">
                <a:solidFill>
                  <a:srgbClr val="A92B2B"/>
                </a:solidFill>
                <a:latin typeface="Arial"/>
                <a:ea typeface="Arial"/>
                <a:cs typeface="Arial"/>
              </a:rPr>
              <a:t>Không có bộ lọc vị trí hay quality gate: lật dấu T1 an toàn theo cấu tạo, test/demo xác nhận bằng strict decode FFmpeg.</a:t>
            </a:r>
          </a:p>
          <a:p>
            <a:pPr>
              <a:defRPr sz="1350" b="1">
                <a:solidFill>
                  <a:srgbClr val="A92B2B"/>
                </a:solidFill>
                <a:latin typeface="Arial"/>
                <a:ea typeface="Arial"/>
                <a:cs typeface="Arial"/>
              </a:defRPr>
            </a:pPr>
            <a:r>
              <a:rPr sz="1350" b="1">
                <a:solidFill>
                  <a:srgbClr val="A92B2B"/>
                </a:solidFill>
                <a:latin typeface="Arial"/>
                <a:ea typeface="Arial"/>
                <a:cs typeface="Arial"/>
              </a:rPr>
              <a:t>Lịch: score = HMAC-SHA256(schedule_key, "nal:mb:cat:blk:bitoff"), sắp xếp tăng dần, mỗi IDR lấy tối đa 64 bit (mặc định).</a:t>
            </a:r>
          </a:p>
        </p:txBody>
      </p:sp>
      <p:sp>
        <p:nvSpPr>
          <p:cNvPr id="20" name="Rectangle 19">
            <a:extLst>
              <a:ext uri="{FF2B5EF4-FFF2-40B4-BE49-F238E27FC236}">
                <a16:creationId xmlns:a16="http://schemas.microsoft.com/office/drawing/2014/main" id="{529D0CC5-B641-43E0-AFBC-74A15010133F}"/>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1" name="Rectangle 20">
            <a:extLst>
              <a:ext uri="{FF2B5EF4-FFF2-40B4-BE49-F238E27FC236}">
                <a16:creationId xmlns:a16="http://schemas.microsoft.com/office/drawing/2014/main" id="{24C16F2D-E1DF-4DC6-9A91-8B51CC2DECD2}"/>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11</a:t>
            </a:r>
          </a:p>
        </p:txBody>
      </p:sp>
    </p:spTree>
    <p:extLst>
      <p:ext uri="{BB962C8B-B14F-4D97-AF65-F5344CB8AC3E}">
        <p14:creationId xmlns:p14="http://schemas.microsoft.com/office/powerpoint/2010/main" val="5953473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A9324E49-F0FC-4D68-A00B-778B81F0512C}"/>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Nhúng một bit khung vào dấu T1</a:t>
            </a:r>
          </a:p>
        </p:txBody>
      </p:sp>
      <p:sp>
        <p:nvSpPr>
          <p:cNvPr id="2" name="Rectangle 1">
            <a:extLst>
              <a:ext uri="{FF2B5EF4-FFF2-40B4-BE49-F238E27FC236}">
                <a16:creationId xmlns:a16="http://schemas.microsoft.com/office/drawing/2014/main" id="{91C2B77D-E7E2-46B2-A0D9-D21C6601B131}"/>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Quy ước dấu: cờ 0 = +1, cờ 1 = −1. Bit nhúng = bit khung XOR bit keystream; magnitude không đổi.</a:t>
            </a:r>
          </a:p>
        </p:txBody>
      </p:sp>
      <p:sp>
        <p:nvSpPr>
          <p:cNvPr id="3" name="Straight Connector 2">
            <a:extLst>
              <a:ext uri="{FF2B5EF4-FFF2-40B4-BE49-F238E27FC236}">
                <a16:creationId xmlns:a16="http://schemas.microsoft.com/office/drawing/2014/main" id="{3C426B13-D2C9-4021-9A23-2BBE9A2D3A4F}"/>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24" name="Picture 23"/>
          <p:cNvPicPr>
            <a:picLocks noChangeAspect="1"/>
          </p:cNvPicPr>
          <p:nvPr/>
        </p:nvPicPr>
        <p:blipFill>
          <a:blip r:embed="rId3"/>
          <a:stretch/>
        </p:blipFill>
        <p:spPr>
          <a:xfrm>
            <a:off x="3088735" y="1676400"/>
            <a:ext cx="6014531" cy="3381375"/>
          </a:xfrm>
          <a:prstGeom prst="rect">
            <a:avLst/>
          </a:prstGeom>
        </p:spPr>
      </p:pic>
      <p:sp>
        <p:nvSpPr>
          <p:cNvPr id="5" name="Rectangle: Rounded Corners 4">
            <a:extLst>
              <a:ext uri="{FF2B5EF4-FFF2-40B4-BE49-F238E27FC236}">
                <a16:creationId xmlns:a16="http://schemas.microsoft.com/office/drawing/2014/main" id="{26B07B36-47DE-41C8-B26B-7787E507A350}"/>
              </a:ext>
            </a:extLst>
          </p:cNvPr>
          <p:cNvSpPr>
            <a:spLocks noGrp="1"/>
          </p:cNvSpPr>
          <p:nvPr/>
        </p:nvSpPr>
        <p:spPr>
          <a:xfrm>
            <a:off x="1885950" y="5172075"/>
            <a:ext cx="2400300" cy="781050"/>
          </a:xfrm>
          <a:prstGeom prst="roundRect">
            <a:avLst>
              <a:gd name="adj" fmla="val 9756"/>
            </a:avLst>
          </a:prstGeom>
          <a:solidFill>
            <a:srgbClr val="FFFFFF"/>
          </a:solidFill>
          <a:ln w="9525">
            <a:solidFill>
              <a:srgbClr val="2667D8"/>
            </a:solidFill>
          </a:ln>
        </p:spPr>
        <p:txBody>
          <a:bodyPr/>
          <a:lstStyle/>
          <a:p>
            <a:endParaRPr lang="en-US"/>
          </a:p>
        </p:txBody>
      </p:sp>
      <p:sp>
        <p:nvSpPr>
          <p:cNvPr id="6" name="Rectangle 5">
            <a:extLst>
              <a:ext uri="{FF2B5EF4-FFF2-40B4-BE49-F238E27FC236}">
                <a16:creationId xmlns:a16="http://schemas.microsoft.com/office/drawing/2014/main" id="{96F80742-87FB-4FDD-A142-4F51B193855D}"/>
              </a:ext>
            </a:extLst>
          </p:cNvPr>
          <p:cNvSpPr>
            <a:spLocks noGrp="1"/>
          </p:cNvSpPr>
          <p:nvPr/>
        </p:nvSpPr>
        <p:spPr>
          <a:xfrm>
            <a:off x="2019300" y="5314950"/>
            <a:ext cx="2133600" cy="228600"/>
          </a:xfrm>
          <a:prstGeom prst="rect">
            <a:avLst/>
          </a:prstGeom>
          <a:noFill/>
          <a:ln w="0">
            <a:noFill/>
          </a:ln>
        </p:spPr>
        <p:txBody>
          <a:bodyPr>
            <a:normAutofit fontScale="63158"/>
          </a:bodyPr>
          <a:lstStyle/>
          <a:p>
            <a:pPr>
              <a:defRPr sz="1425" b="1">
                <a:solidFill>
                  <a:srgbClr val="2667D8"/>
                </a:solidFill>
                <a:latin typeface="Arial"/>
                <a:ea typeface="Arial"/>
                <a:cs typeface="Arial"/>
              </a:defRPr>
            </a:pPr>
            <a:r>
              <a:rPr sz="1425" b="1">
                <a:solidFill>
                  <a:srgbClr val="2667D8"/>
                </a:solidFill>
                <a:latin typeface="Arial"/>
                <a:ea typeface="Arial"/>
                <a:cs typeface="Arial"/>
              </a:rPr>
              <a:t>Bit khung đã làm trắng</a:t>
            </a:r>
          </a:p>
        </p:txBody>
      </p:sp>
      <p:sp>
        <p:nvSpPr>
          <p:cNvPr id="7" name="Rectangle 6">
            <a:extLst>
              <a:ext uri="{FF2B5EF4-FFF2-40B4-BE49-F238E27FC236}">
                <a16:creationId xmlns:a16="http://schemas.microsoft.com/office/drawing/2014/main" id="{5B0F6A43-1C25-4023-AA66-35078D16DFDB}"/>
              </a:ext>
            </a:extLst>
          </p:cNvPr>
          <p:cNvSpPr>
            <a:spLocks noGrp="1"/>
          </p:cNvSpPr>
          <p:nvPr/>
        </p:nvSpPr>
        <p:spPr>
          <a:xfrm>
            <a:off x="2019300" y="5619750"/>
            <a:ext cx="2133600" cy="209550"/>
          </a:xfrm>
          <a:prstGeom prst="rect">
            <a:avLst/>
          </a:prstGeom>
          <a:noFill/>
          <a:ln w="0">
            <a:noFill/>
          </a:ln>
        </p:spPr>
        <p:txBody>
          <a:bodyPr>
            <a:normAutofit fontScale="60784"/>
          </a:bodyPr>
          <a:lstStyle/>
          <a:p>
            <a:pPr>
              <a:defRPr sz="1275">
                <a:solidFill>
                  <a:srgbClr val="5A6780"/>
                </a:solidFill>
                <a:latin typeface="Arial"/>
                <a:ea typeface="Arial"/>
                <a:cs typeface="Arial"/>
              </a:defRPr>
            </a:pPr>
            <a:r>
              <a:rPr sz="1275">
                <a:solidFill>
                  <a:srgbClr val="5A6780"/>
                </a:solidFill>
                <a:latin typeface="Arial"/>
                <a:ea typeface="Arial"/>
                <a:cs typeface="Arial"/>
              </a:rPr>
              <a:t>ví dụ: e = f ⊕ k = 0</a:t>
            </a:r>
          </a:p>
        </p:txBody>
      </p:sp>
      <p:sp>
        <p:nvSpPr>
          <p:cNvPr id="8" name="Straight Connector 7">
            <a:extLst>
              <a:ext uri="{FF2B5EF4-FFF2-40B4-BE49-F238E27FC236}">
                <a16:creationId xmlns:a16="http://schemas.microsoft.com/office/drawing/2014/main" id="{E5893772-39C9-4CAF-94C3-B0043FA628E2}"/>
              </a:ext>
            </a:extLst>
          </p:cNvPr>
          <p:cNvSpPr>
            <a:spLocks noGrp="1"/>
          </p:cNvSpPr>
          <p:nvPr/>
        </p:nvSpPr>
        <p:spPr>
          <a:xfrm>
            <a:off x="4305300" y="5562600"/>
            <a:ext cx="266700" cy="0"/>
          </a:xfrm>
          <a:prstGeom prst="line">
            <a:avLst/>
          </a:prstGeom>
          <a:noFill/>
          <a:ln w="19050">
            <a:solidFill>
              <a:srgbClr val="D6DFEB"/>
            </a:solidFill>
          </a:ln>
        </p:spPr>
        <p:txBody>
          <a:bodyPr/>
          <a:lstStyle/>
          <a:p>
            <a:endParaRPr lang="en-US"/>
          </a:p>
        </p:txBody>
      </p:sp>
      <p:sp>
        <p:nvSpPr>
          <p:cNvPr id="9" name="Isosceles Triangle 8">
            <a:extLst>
              <a:ext uri="{FF2B5EF4-FFF2-40B4-BE49-F238E27FC236}">
                <a16:creationId xmlns:a16="http://schemas.microsoft.com/office/drawing/2014/main" id="{5B61E704-3325-46F4-BD92-C6BA81F5FEFC}"/>
              </a:ext>
            </a:extLst>
          </p:cNvPr>
          <p:cNvSpPr>
            <a:spLocks noGrp="1"/>
          </p:cNvSpPr>
          <p:nvPr/>
        </p:nvSpPr>
        <p:spPr>
          <a:xfrm>
            <a:off x="4514850" y="5486400"/>
            <a:ext cx="152400" cy="152400"/>
          </a:xfrm>
          <a:prstGeom prst="triangle">
            <a:avLst/>
          </a:prstGeom>
          <a:solidFill>
            <a:srgbClr val="D6DFEB"/>
          </a:solidFill>
          <a:ln w="0">
            <a:solidFill>
              <a:srgbClr val="D6DFEB"/>
            </a:solidFill>
          </a:ln>
        </p:spPr>
        <p:txBody>
          <a:bodyPr/>
          <a:lstStyle/>
          <a:p>
            <a:endParaRPr lang="en-US"/>
          </a:p>
        </p:txBody>
      </p:sp>
      <p:sp>
        <p:nvSpPr>
          <p:cNvPr id="10" name="Rectangle: Rounded Corners 9">
            <a:extLst>
              <a:ext uri="{FF2B5EF4-FFF2-40B4-BE49-F238E27FC236}">
                <a16:creationId xmlns:a16="http://schemas.microsoft.com/office/drawing/2014/main" id="{5D4014B3-66DF-4E78-9362-DA7D5E4324D2}"/>
              </a:ext>
            </a:extLst>
          </p:cNvPr>
          <p:cNvSpPr>
            <a:spLocks noGrp="1"/>
          </p:cNvSpPr>
          <p:nvPr/>
        </p:nvSpPr>
        <p:spPr>
          <a:xfrm>
            <a:off x="4724400" y="5172075"/>
            <a:ext cx="2400300" cy="781050"/>
          </a:xfrm>
          <a:prstGeom prst="roundRect">
            <a:avLst>
              <a:gd name="adj" fmla="val 9756"/>
            </a:avLst>
          </a:prstGeom>
          <a:solidFill>
            <a:srgbClr val="FFFFFF"/>
          </a:solidFill>
          <a:ln w="9525">
            <a:solidFill>
              <a:srgbClr val="F2994A"/>
            </a:solidFill>
          </a:ln>
        </p:spPr>
        <p:txBody>
          <a:bodyPr/>
          <a:lstStyle/>
          <a:p>
            <a:endParaRPr lang="en-US"/>
          </a:p>
        </p:txBody>
      </p:sp>
      <p:sp>
        <p:nvSpPr>
          <p:cNvPr id="11" name="Rectangle 10">
            <a:extLst>
              <a:ext uri="{FF2B5EF4-FFF2-40B4-BE49-F238E27FC236}">
                <a16:creationId xmlns:a16="http://schemas.microsoft.com/office/drawing/2014/main" id="{9B27FD73-8CFF-4C1C-914E-DCF2FBE91FCC}"/>
              </a:ext>
            </a:extLst>
          </p:cNvPr>
          <p:cNvSpPr>
            <a:spLocks noGrp="1"/>
          </p:cNvSpPr>
          <p:nvPr/>
        </p:nvSpPr>
        <p:spPr>
          <a:xfrm>
            <a:off x="4857750" y="5314950"/>
            <a:ext cx="2133600" cy="228600"/>
          </a:xfrm>
          <a:prstGeom prst="rect">
            <a:avLst/>
          </a:prstGeom>
          <a:noFill/>
          <a:ln w="0">
            <a:noFill/>
          </a:ln>
        </p:spPr>
        <p:txBody>
          <a:bodyPr>
            <a:normAutofit fontScale="63158"/>
          </a:bodyPr>
          <a:lstStyle/>
          <a:p>
            <a:pPr>
              <a:defRPr sz="1425" b="1">
                <a:solidFill>
                  <a:srgbClr val="F2994A"/>
                </a:solidFill>
                <a:latin typeface="Arial"/>
                <a:ea typeface="Arial"/>
                <a:cs typeface="Arial"/>
              </a:defRPr>
            </a:pPr>
            <a:r>
              <a:rPr sz="1425" b="1">
                <a:solidFill>
                  <a:srgbClr val="F2994A"/>
                </a:solidFill>
                <a:latin typeface="Arial"/>
                <a:ea typeface="Arial"/>
                <a:cs typeface="Arial"/>
              </a:rPr>
              <a:t>Vị trí theo lịch</a:t>
            </a:r>
          </a:p>
        </p:txBody>
      </p:sp>
      <p:sp>
        <p:nvSpPr>
          <p:cNvPr id="12" name="Rectangle 11">
            <a:extLst>
              <a:ext uri="{FF2B5EF4-FFF2-40B4-BE49-F238E27FC236}">
                <a16:creationId xmlns:a16="http://schemas.microsoft.com/office/drawing/2014/main" id="{EC3E4A48-2268-4337-8623-D147C847BDF5}"/>
              </a:ext>
            </a:extLst>
          </p:cNvPr>
          <p:cNvSpPr>
            <a:spLocks noGrp="1"/>
          </p:cNvSpPr>
          <p:nvPr/>
        </p:nvSpPr>
        <p:spPr>
          <a:xfrm>
            <a:off x="4857750" y="5619750"/>
            <a:ext cx="2133600" cy="209550"/>
          </a:xfrm>
          <a:prstGeom prst="rect">
            <a:avLst/>
          </a:prstGeom>
          <a:noFill/>
          <a:ln w="0">
            <a:noFill/>
          </a:ln>
        </p:spPr>
        <p:txBody>
          <a:bodyPr>
            <a:normAutofit fontScale="60784"/>
          </a:bodyPr>
          <a:lstStyle/>
          <a:p>
            <a:pPr>
              <a:defRPr sz="1275">
                <a:solidFill>
                  <a:srgbClr val="5A6780"/>
                </a:solidFill>
                <a:latin typeface="Arial"/>
                <a:ea typeface="Arial"/>
                <a:cs typeface="Arial"/>
              </a:defRPr>
            </a:pPr>
            <a:r>
              <a:rPr sz="1275">
                <a:solidFill>
                  <a:srgbClr val="5A6780"/>
                </a:solidFill>
                <a:latin typeface="Arial"/>
                <a:ea typeface="Arial"/>
                <a:cs typeface="Arial"/>
              </a:rPr>
              <a:t>ứng viên có score HMAC thứ i</a:t>
            </a:r>
          </a:p>
        </p:txBody>
      </p:sp>
      <p:sp>
        <p:nvSpPr>
          <p:cNvPr id="13" name="Straight Connector 12">
            <a:extLst>
              <a:ext uri="{FF2B5EF4-FFF2-40B4-BE49-F238E27FC236}">
                <a16:creationId xmlns:a16="http://schemas.microsoft.com/office/drawing/2014/main" id="{1097FAFC-7846-4096-8C81-EDA2063CAA45}"/>
              </a:ext>
            </a:extLst>
          </p:cNvPr>
          <p:cNvSpPr>
            <a:spLocks noGrp="1"/>
          </p:cNvSpPr>
          <p:nvPr/>
        </p:nvSpPr>
        <p:spPr>
          <a:xfrm>
            <a:off x="7143750" y="5562600"/>
            <a:ext cx="266700" cy="0"/>
          </a:xfrm>
          <a:prstGeom prst="line">
            <a:avLst/>
          </a:prstGeom>
          <a:noFill/>
          <a:ln w="19050">
            <a:solidFill>
              <a:srgbClr val="D6DFEB"/>
            </a:solidFill>
          </a:ln>
        </p:spPr>
        <p:txBody>
          <a:bodyPr/>
          <a:lstStyle/>
          <a:p>
            <a:endParaRPr lang="en-US"/>
          </a:p>
        </p:txBody>
      </p:sp>
      <p:sp>
        <p:nvSpPr>
          <p:cNvPr id="14" name="Isosceles Triangle 13">
            <a:extLst>
              <a:ext uri="{FF2B5EF4-FFF2-40B4-BE49-F238E27FC236}">
                <a16:creationId xmlns:a16="http://schemas.microsoft.com/office/drawing/2014/main" id="{2962683A-0B38-4D85-BFD7-F0AC80EB3746}"/>
              </a:ext>
            </a:extLst>
          </p:cNvPr>
          <p:cNvSpPr>
            <a:spLocks noGrp="1"/>
          </p:cNvSpPr>
          <p:nvPr/>
        </p:nvSpPr>
        <p:spPr>
          <a:xfrm>
            <a:off x="7353300" y="5486400"/>
            <a:ext cx="152400" cy="152400"/>
          </a:xfrm>
          <a:prstGeom prst="triangle">
            <a:avLst/>
          </a:prstGeom>
          <a:solidFill>
            <a:srgbClr val="D6DFEB"/>
          </a:solidFill>
          <a:ln w="0">
            <a:solidFill>
              <a:srgbClr val="D6DFEB"/>
            </a:solidFill>
          </a:ln>
        </p:spPr>
        <p:txBody>
          <a:bodyPr/>
          <a:lstStyle/>
          <a:p>
            <a:endParaRPr lang="en-US"/>
          </a:p>
        </p:txBody>
      </p:sp>
      <p:sp>
        <p:nvSpPr>
          <p:cNvPr id="15" name="Rectangle: Rounded Corners 14">
            <a:extLst>
              <a:ext uri="{FF2B5EF4-FFF2-40B4-BE49-F238E27FC236}">
                <a16:creationId xmlns:a16="http://schemas.microsoft.com/office/drawing/2014/main" id="{4966E96F-EC49-4C28-BC60-A5707235A72F}"/>
              </a:ext>
            </a:extLst>
          </p:cNvPr>
          <p:cNvSpPr>
            <a:spLocks noGrp="1"/>
          </p:cNvSpPr>
          <p:nvPr/>
        </p:nvSpPr>
        <p:spPr>
          <a:xfrm>
            <a:off x="7562850" y="5172075"/>
            <a:ext cx="2400300" cy="781050"/>
          </a:xfrm>
          <a:prstGeom prst="roundRect">
            <a:avLst>
              <a:gd name="adj" fmla="val 9756"/>
            </a:avLst>
          </a:prstGeom>
          <a:solidFill>
            <a:srgbClr val="FFFFFF"/>
          </a:solidFill>
          <a:ln w="9525">
            <a:solidFill>
              <a:srgbClr val="25A36F"/>
            </a:solidFill>
          </a:ln>
        </p:spPr>
        <p:txBody>
          <a:bodyPr/>
          <a:lstStyle/>
          <a:p>
            <a:endParaRPr lang="en-US"/>
          </a:p>
        </p:txBody>
      </p:sp>
      <p:sp>
        <p:nvSpPr>
          <p:cNvPr id="16" name="Rectangle 15">
            <a:extLst>
              <a:ext uri="{FF2B5EF4-FFF2-40B4-BE49-F238E27FC236}">
                <a16:creationId xmlns:a16="http://schemas.microsoft.com/office/drawing/2014/main" id="{8BE15111-2A0F-4863-9038-355F588DDCBE}"/>
              </a:ext>
            </a:extLst>
          </p:cNvPr>
          <p:cNvSpPr>
            <a:spLocks noGrp="1"/>
          </p:cNvSpPr>
          <p:nvPr/>
        </p:nvSpPr>
        <p:spPr>
          <a:xfrm>
            <a:off x="7696200" y="5314950"/>
            <a:ext cx="2133600" cy="228600"/>
          </a:xfrm>
          <a:prstGeom prst="rect">
            <a:avLst/>
          </a:prstGeom>
          <a:noFill/>
          <a:ln w="0">
            <a:noFill/>
          </a:ln>
        </p:spPr>
        <p:txBody>
          <a:bodyPr>
            <a:normAutofit fontScale="63158"/>
          </a:bodyPr>
          <a:lstStyle/>
          <a:p>
            <a:pPr>
              <a:defRPr sz="1425" b="1">
                <a:solidFill>
                  <a:srgbClr val="25A36F"/>
                </a:solidFill>
                <a:latin typeface="Arial"/>
                <a:ea typeface="Arial"/>
                <a:cs typeface="Arial"/>
              </a:defRPr>
            </a:pPr>
            <a:r>
              <a:rPr sz="1425" b="1">
                <a:solidFill>
                  <a:srgbClr val="25A36F"/>
                </a:solidFill>
                <a:latin typeface="Arial"/>
                <a:ea typeface="Arial"/>
                <a:cs typeface="Arial"/>
              </a:rPr>
              <a:t>Ghi dấu</a:t>
            </a:r>
          </a:p>
        </p:txBody>
      </p:sp>
      <p:sp>
        <p:nvSpPr>
          <p:cNvPr id="17" name="Rectangle 16">
            <a:extLst>
              <a:ext uri="{FF2B5EF4-FFF2-40B4-BE49-F238E27FC236}">
                <a16:creationId xmlns:a16="http://schemas.microsoft.com/office/drawing/2014/main" id="{A29EAB09-F643-49FD-B108-2B4DB14E2822}"/>
              </a:ext>
            </a:extLst>
          </p:cNvPr>
          <p:cNvSpPr>
            <a:spLocks noGrp="1"/>
          </p:cNvSpPr>
          <p:nvPr/>
        </p:nvSpPr>
        <p:spPr>
          <a:xfrm>
            <a:off x="7696200" y="5619750"/>
            <a:ext cx="2133600" cy="209550"/>
          </a:xfrm>
          <a:prstGeom prst="rect">
            <a:avLst/>
          </a:prstGeom>
          <a:noFill/>
          <a:ln w="0">
            <a:noFill/>
          </a:ln>
        </p:spPr>
        <p:txBody>
          <a:bodyPr>
            <a:normAutofit fontScale="60784"/>
          </a:bodyPr>
          <a:lstStyle/>
          <a:p>
            <a:pPr>
              <a:defRPr sz="1275">
                <a:solidFill>
                  <a:srgbClr val="5A6780"/>
                </a:solidFill>
                <a:latin typeface="Arial"/>
                <a:ea typeface="Arial"/>
                <a:cs typeface="Arial"/>
              </a:defRPr>
            </a:pPr>
            <a:r>
              <a:rPr sz="1275">
                <a:solidFill>
                  <a:srgbClr val="5A6780"/>
                </a:solidFill>
                <a:latin typeface="Arial"/>
                <a:ea typeface="Arial"/>
                <a:cs typeface="Arial"/>
              </a:rPr>
              <a:t>e = 0 ⇒ dấu +: −1 thành +1</a:t>
            </a:r>
          </a:p>
        </p:txBody>
      </p:sp>
      <p:sp>
        <p:nvSpPr>
          <p:cNvPr id="18" name="Rectangle 17">
            <a:extLst>
              <a:ext uri="{FF2B5EF4-FFF2-40B4-BE49-F238E27FC236}">
                <a16:creationId xmlns:a16="http://schemas.microsoft.com/office/drawing/2014/main" id="{A8D5C0BF-5513-48B6-91FC-DFAED4C7B1D4}"/>
              </a:ext>
            </a:extLst>
          </p:cNvPr>
          <p:cNvSpPr>
            <a:spLocks noGrp="1"/>
          </p:cNvSpPr>
          <p:nvPr/>
        </p:nvSpPr>
        <p:spPr>
          <a:xfrm>
            <a:off x="1619250" y="6067425"/>
            <a:ext cx="89535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12 — Bit nhúng 0 ⇒ dấu +: đổi −1 thành +1 (cờ dấu 1 → 0). Nếu dấu hiện tại đã đúng, bit giữ nguyên.</a:t>
            </a:r>
          </a:p>
        </p:txBody>
      </p:sp>
      <p:sp>
        <p:nvSpPr>
          <p:cNvPr id="19" name="Rectangle 18">
            <a:extLst>
              <a:ext uri="{FF2B5EF4-FFF2-40B4-BE49-F238E27FC236}">
                <a16:creationId xmlns:a16="http://schemas.microsoft.com/office/drawing/2014/main" id="{6E483C12-A338-4571-BC12-F71B5D735353}"/>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0" name="Rectangle 19">
            <a:extLst>
              <a:ext uri="{FF2B5EF4-FFF2-40B4-BE49-F238E27FC236}">
                <a16:creationId xmlns:a16="http://schemas.microsoft.com/office/drawing/2014/main" id="{E8B69C73-178F-42F3-BC4C-177A0BBC31CD}"/>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12</a:t>
            </a:r>
          </a:p>
        </p:txBody>
      </p:sp>
    </p:spTree>
    <p:extLst>
      <p:ext uri="{BB962C8B-B14F-4D97-AF65-F5344CB8AC3E}">
        <p14:creationId xmlns:p14="http://schemas.microsoft.com/office/powerpoint/2010/main" val="10462768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88B05B-036B-438D-A209-6E9DE5A47E2F}"/>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Sau khi patch: tạo lại stego H.264</a:t>
            </a:r>
          </a:p>
        </p:txBody>
      </p:sp>
      <p:sp>
        <p:nvSpPr>
          <p:cNvPr id="2" name="Rectangle 1">
            <a:extLst>
              <a:ext uri="{FF2B5EF4-FFF2-40B4-BE49-F238E27FC236}">
                <a16:creationId xmlns:a16="http://schemas.microsoft.com/office/drawing/2014/main" id="{D9524956-B84F-439D-BB2E-048AAF48877F}"/>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Writer lật bit trong RBSP tại offset đã ghi, rồi chèn lại emulation-prevention byte khi đóng gói NAL.</a:t>
            </a:r>
          </a:p>
        </p:txBody>
      </p:sp>
      <p:sp>
        <p:nvSpPr>
          <p:cNvPr id="3" name="Straight Connector 2">
            <a:extLst>
              <a:ext uri="{FF2B5EF4-FFF2-40B4-BE49-F238E27FC236}">
                <a16:creationId xmlns:a16="http://schemas.microsoft.com/office/drawing/2014/main" id="{C1CCF4D8-C809-4079-AB73-31482F3F7D84}"/>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2" name="Picture 11"/>
          <p:cNvPicPr>
            <a:picLocks noChangeAspect="1"/>
          </p:cNvPicPr>
          <p:nvPr/>
        </p:nvPicPr>
        <p:blipFill>
          <a:blip r:embed="rId3"/>
          <a:stretch/>
        </p:blipFill>
        <p:spPr>
          <a:xfrm>
            <a:off x="2990384" y="1666875"/>
            <a:ext cx="6211231" cy="3495675"/>
          </a:xfrm>
          <a:prstGeom prst="rect">
            <a:avLst/>
          </a:prstGeom>
        </p:spPr>
      </p:pic>
      <p:sp>
        <p:nvSpPr>
          <p:cNvPr id="5" name="Rectangle 4">
            <a:extLst>
              <a:ext uri="{FF2B5EF4-FFF2-40B4-BE49-F238E27FC236}">
                <a16:creationId xmlns:a16="http://schemas.microsoft.com/office/drawing/2014/main" id="{9535A5E7-1133-49D2-BA79-A945AC7F6680}"/>
              </a:ext>
            </a:extLst>
          </p:cNvPr>
          <p:cNvSpPr>
            <a:spLocks noGrp="1"/>
          </p:cNvSpPr>
          <p:nvPr/>
        </p:nvSpPr>
        <p:spPr>
          <a:xfrm>
            <a:off x="1628775" y="5343525"/>
            <a:ext cx="89535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14 — Block đã patch được ghi lại thành stego H.264. Độ dài bit RBSP không đổi; độ dài byte EBSP có thể lệch vài byte.</a:t>
            </a:r>
          </a:p>
        </p:txBody>
      </p:sp>
      <p:sp>
        <p:nvSpPr>
          <p:cNvPr id="6" name="Rectangle 5">
            <a:extLst>
              <a:ext uri="{FF2B5EF4-FFF2-40B4-BE49-F238E27FC236}">
                <a16:creationId xmlns:a16="http://schemas.microsoft.com/office/drawing/2014/main" id="{45458ADB-490C-4E8E-B840-AF7649904EEC}"/>
              </a:ext>
            </a:extLst>
          </p:cNvPr>
          <p:cNvSpPr>
            <a:spLocks noGrp="1"/>
          </p:cNvSpPr>
          <p:nvPr/>
        </p:nvSpPr>
        <p:spPr>
          <a:xfrm>
            <a:off x="1628775" y="5638800"/>
            <a:ext cx="8953500" cy="457200"/>
          </a:xfrm>
          <a:prstGeom prst="rect">
            <a:avLst/>
          </a:prstGeom>
          <a:noFill/>
          <a:ln w="0">
            <a:noFill/>
          </a:ln>
        </p:spPr>
        <p:txBody>
          <a:bodyPr>
            <a:normAutofit fontScale="75000"/>
          </a:bodyPr>
          <a:lstStyle/>
          <a:p>
            <a:pPr>
              <a:defRPr sz="1425">
                <a:solidFill>
                  <a:srgbClr val="5A6780"/>
                </a:solidFill>
                <a:latin typeface="Arial"/>
                <a:ea typeface="Arial"/>
                <a:cs typeface="Arial"/>
              </a:defRPr>
            </a:pPr>
            <a:r>
              <a:rPr sz="1425">
                <a:solidFill>
                  <a:srgbClr val="5A6780"/>
                </a:solidFill>
                <a:latin typeface="Arial"/>
                <a:ea typeface="Arial"/>
                <a:cs typeface="Arial"/>
              </a:rPr>
              <a:t>Không có quality gate trong đường nhúng. Test/demo kiểm strict decode FFmpeg, trích mù và từ chối sai khóa; PSNR chỉ được đo trong demo/benchmark.</a:t>
            </a:r>
          </a:p>
        </p:txBody>
      </p:sp>
      <p:sp>
        <p:nvSpPr>
          <p:cNvPr id="7" name="Rectangle 6">
            <a:extLst>
              <a:ext uri="{FF2B5EF4-FFF2-40B4-BE49-F238E27FC236}">
                <a16:creationId xmlns:a16="http://schemas.microsoft.com/office/drawing/2014/main" id="{1D14BFF4-FCEA-46D5-B75A-3FB6BE241701}"/>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8" name="Rectangle 7">
            <a:extLst>
              <a:ext uri="{FF2B5EF4-FFF2-40B4-BE49-F238E27FC236}">
                <a16:creationId xmlns:a16="http://schemas.microsoft.com/office/drawing/2014/main" id="{41D682FF-F0E0-4752-B6D0-4B34D81B5966}"/>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14</a:t>
            </a:r>
          </a:p>
        </p:txBody>
      </p:sp>
    </p:spTree>
    <p:extLst>
      <p:ext uri="{BB962C8B-B14F-4D97-AF65-F5344CB8AC3E}">
        <p14:creationId xmlns:p14="http://schemas.microsoft.com/office/powerpoint/2010/main" val="1125478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1053E4-8C52-4799-AA3F-D8472743B853}"/>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Trích xuất đi ngược chiều nhúng</a:t>
            </a:r>
          </a:p>
        </p:txBody>
      </p:sp>
      <p:sp>
        <p:nvSpPr>
          <p:cNvPr id="3" name="Straight Connector 2">
            <a:extLst>
              <a:ext uri="{FF2B5EF4-FFF2-40B4-BE49-F238E27FC236}">
                <a16:creationId xmlns:a16="http://schemas.microsoft.com/office/drawing/2014/main" id="{6AE9ECFD-573D-4985-9CE2-3B2142ABC9BF}"/>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2" name="Picture 11"/>
          <p:cNvPicPr>
            <a:picLocks noChangeAspect="1"/>
          </p:cNvPicPr>
          <p:nvPr/>
        </p:nvPicPr>
        <p:blipFill>
          <a:blip r:embed="rId3"/>
          <a:stretch/>
        </p:blipFill>
        <p:spPr>
          <a:xfrm>
            <a:off x="1851755" y="1350644"/>
            <a:ext cx="8490109" cy="4073191"/>
          </a:xfrm>
          <a:prstGeom prst="rect">
            <a:avLst/>
          </a:prstGeom>
        </p:spPr>
      </p:pic>
      <p:sp>
        <p:nvSpPr>
          <p:cNvPr id="5" name="Rectangle 4">
            <a:extLst>
              <a:ext uri="{FF2B5EF4-FFF2-40B4-BE49-F238E27FC236}">
                <a16:creationId xmlns:a16="http://schemas.microsoft.com/office/drawing/2014/main" id="{05096D94-2373-4626-85B0-8057AF01132F}"/>
              </a:ext>
            </a:extLst>
          </p:cNvPr>
          <p:cNvSpPr>
            <a:spLocks noGrp="1"/>
          </p:cNvSpPr>
          <p:nvPr/>
        </p:nvSpPr>
        <p:spPr>
          <a:xfrm>
            <a:off x="1714500" y="5467350"/>
            <a:ext cx="87630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15 — Trích mù chỉ cần stego H.264 và khóa giấu tin: không cần video gốc hay file vị trí đi kèm.</a:t>
            </a:r>
          </a:p>
        </p:txBody>
      </p:sp>
      <p:sp>
        <p:nvSpPr>
          <p:cNvPr id="6" name="Rectangle 5">
            <a:extLst>
              <a:ext uri="{FF2B5EF4-FFF2-40B4-BE49-F238E27FC236}">
                <a16:creationId xmlns:a16="http://schemas.microsoft.com/office/drawing/2014/main" id="{5DC9CEFE-D4FC-4516-80DE-7DCEC5AF6393}"/>
              </a:ext>
            </a:extLst>
          </p:cNvPr>
          <p:cNvSpPr>
            <a:spLocks noGrp="1"/>
          </p:cNvSpPr>
          <p:nvPr/>
        </p:nvSpPr>
        <p:spPr>
          <a:xfrm>
            <a:off x="1714500" y="5760720"/>
            <a:ext cx="8763000" cy="502920"/>
          </a:xfrm>
          <a:prstGeom prst="rect">
            <a:avLst/>
          </a:prstGeom>
          <a:noFill/>
          <a:ln w="0">
            <a:noFill/>
          </a:ln>
        </p:spPr>
        <p:txBody>
          <a:bodyPr>
            <a:normAutofit fontScale="80000"/>
          </a:bodyPr>
          <a:lstStyle/>
          <a:p>
            <a:pPr>
              <a:defRPr sz="1350">
                <a:solidFill>
                  <a:srgbClr val="5A6780"/>
                </a:solidFill>
                <a:latin typeface="Arial"/>
                <a:ea typeface="Arial"/>
                <a:cs typeface="Arial"/>
              </a:defRPr>
            </a:pPr>
            <a:r>
              <a:rPr sz="1350">
                <a:solidFill>
                  <a:srgbClr val="5A6780"/>
                </a:solidFill>
                <a:latin typeface="Arial"/>
                <a:ea typeface="Arial"/>
                <a:cs typeface="Arial"/>
              </a:rPr>
              <a:t>Parse lại IDR → dựng lại cùng lịch theo khóa → đọc bit → bỏ làm trắng → kiểm version 0x03 và độ dài → payload. Sai khóa → từ chối; payload chỉ là ứng viên ("verified": false) cho tới khi Groth16 verify.</a:t>
            </a:r>
          </a:p>
        </p:txBody>
      </p:sp>
      <p:sp>
        <p:nvSpPr>
          <p:cNvPr id="7" name="Rectangle 6">
            <a:extLst>
              <a:ext uri="{FF2B5EF4-FFF2-40B4-BE49-F238E27FC236}">
                <a16:creationId xmlns:a16="http://schemas.microsoft.com/office/drawing/2014/main" id="{8595B4D3-42CA-47B3-AB22-6615CFFB8D3E}"/>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8" name="Rectangle 7">
            <a:extLst>
              <a:ext uri="{FF2B5EF4-FFF2-40B4-BE49-F238E27FC236}">
                <a16:creationId xmlns:a16="http://schemas.microsoft.com/office/drawing/2014/main" id="{9463FAF4-CB3D-449B-A2B8-4ACCFBC1588E}"/>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15</a:t>
            </a:r>
          </a:p>
        </p:txBody>
      </p:sp>
    </p:spTree>
    <p:extLst>
      <p:ext uri="{BB962C8B-B14F-4D97-AF65-F5344CB8AC3E}">
        <p14:creationId xmlns:p14="http://schemas.microsoft.com/office/powerpoint/2010/main" val="2136298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0439AF72-FCAC-4071-B541-518873460806}"/>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Payload trở lại thành proof camera Groth16</a:t>
            </a:r>
          </a:p>
        </p:txBody>
      </p:sp>
      <p:sp>
        <p:nvSpPr>
          <p:cNvPr id="2" name="Rectangle 1">
            <a:extLst>
              <a:ext uri="{FF2B5EF4-FFF2-40B4-BE49-F238E27FC236}">
                <a16:creationId xmlns:a16="http://schemas.microsoft.com/office/drawing/2014/main" id="{59CD1AE1-4D3A-48D2-9EBE-1905A0D17016}"/>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Proof nói: một camera trong sổ đăng ký xác nhận đúng video này và message này. Verify bắt buộc: chỉ proof hợp lệ mới trả message.</a:t>
            </a:r>
          </a:p>
        </p:txBody>
      </p:sp>
      <p:sp>
        <p:nvSpPr>
          <p:cNvPr id="3" name="Straight Connector 2">
            <a:extLst>
              <a:ext uri="{FF2B5EF4-FFF2-40B4-BE49-F238E27FC236}">
                <a16:creationId xmlns:a16="http://schemas.microsoft.com/office/drawing/2014/main" id="{BBC3B13B-8E32-46E8-9916-8DEB189BCFD5}"/>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pic>
        <p:nvPicPr>
          <p:cNvPr id="19" name="Picture 18"/>
          <p:cNvPicPr>
            <a:picLocks noChangeAspect="1"/>
          </p:cNvPicPr>
          <p:nvPr/>
        </p:nvPicPr>
        <p:blipFill>
          <a:blip r:embed="rId3"/>
          <a:stretch/>
        </p:blipFill>
        <p:spPr>
          <a:xfrm>
            <a:off x="3721805" y="1685925"/>
            <a:ext cx="6634340" cy="3733800"/>
          </a:xfrm>
          <a:prstGeom prst="rect">
            <a:avLst/>
          </a:prstGeom>
        </p:spPr>
      </p:pic>
      <p:sp>
        <p:nvSpPr>
          <p:cNvPr id="5" name="Rectangle: Rounded Corners 4">
            <a:extLst>
              <a:ext uri="{FF2B5EF4-FFF2-40B4-BE49-F238E27FC236}">
                <a16:creationId xmlns:a16="http://schemas.microsoft.com/office/drawing/2014/main" id="{2A4FD487-3B2F-4432-8966-205D8853EEC3}"/>
              </a:ext>
            </a:extLst>
          </p:cNvPr>
          <p:cNvSpPr>
            <a:spLocks noGrp="1"/>
          </p:cNvSpPr>
          <p:nvPr/>
        </p:nvSpPr>
        <p:spPr>
          <a:xfrm>
            <a:off x="552450" y="2007108"/>
            <a:ext cx="1981200" cy="1325880"/>
          </a:xfrm>
          <a:prstGeom prst="roundRect">
            <a:avLst>
              <a:gd name="adj" fmla="val 7143"/>
            </a:avLst>
          </a:prstGeom>
          <a:solidFill>
            <a:srgbClr val="FFFFFF"/>
          </a:solidFill>
          <a:ln w="9525">
            <a:solidFill>
              <a:srgbClr val="D6DFEB"/>
            </a:solidFill>
          </a:ln>
        </p:spPr>
        <p:txBody>
          <a:bodyPr/>
          <a:lstStyle/>
          <a:p>
            <a:endParaRPr lang="en-US"/>
          </a:p>
        </p:txBody>
      </p:sp>
      <p:sp>
        <p:nvSpPr>
          <p:cNvPr id="6" name="Rectangle: Rounded Corners 5">
            <a:extLst>
              <a:ext uri="{FF2B5EF4-FFF2-40B4-BE49-F238E27FC236}">
                <a16:creationId xmlns:a16="http://schemas.microsoft.com/office/drawing/2014/main" id="{04990BF7-03F9-4FC0-AA00-A98830122A09}"/>
              </a:ext>
            </a:extLst>
          </p:cNvPr>
          <p:cNvSpPr>
            <a:spLocks noGrp="1"/>
          </p:cNvSpPr>
          <p:nvPr/>
        </p:nvSpPr>
        <p:spPr>
          <a:xfrm>
            <a:off x="704850" y="2159508"/>
            <a:ext cx="361950" cy="361950"/>
          </a:xfrm>
          <a:prstGeom prst="roundRect">
            <a:avLst>
              <a:gd name="adj" fmla="val 21053"/>
            </a:avLst>
          </a:prstGeom>
          <a:solidFill>
            <a:srgbClr val="2667D8">
              <a:alpha val="8627"/>
            </a:srgbClr>
          </a:solidFill>
          <a:ln w="9525">
            <a:solidFill>
              <a:srgbClr val="2667D8"/>
            </a:solidFill>
          </a:ln>
        </p:spPr>
        <p:txBody>
          <a:bodyPr/>
          <a:lstStyle/>
          <a:p>
            <a:endParaRPr lang="en-US"/>
          </a:p>
        </p:txBody>
      </p:sp>
      <p:sp>
        <p:nvSpPr>
          <p:cNvPr id="7" name="Rectangle 6">
            <a:extLst>
              <a:ext uri="{FF2B5EF4-FFF2-40B4-BE49-F238E27FC236}">
                <a16:creationId xmlns:a16="http://schemas.microsoft.com/office/drawing/2014/main" id="{FF6A76C3-A962-4CA8-8422-F1B0974B6784}"/>
              </a:ext>
            </a:extLst>
          </p:cNvPr>
          <p:cNvSpPr>
            <a:spLocks noGrp="1"/>
          </p:cNvSpPr>
          <p:nvPr/>
        </p:nvSpPr>
        <p:spPr>
          <a:xfrm>
            <a:off x="1181100" y="2169033"/>
            <a:ext cx="1200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Payload blob</a:t>
            </a:r>
          </a:p>
        </p:txBody>
      </p:sp>
      <p:sp>
        <p:nvSpPr>
          <p:cNvPr id="8" name="Rectangle 7">
            <a:extLst>
              <a:ext uri="{FF2B5EF4-FFF2-40B4-BE49-F238E27FC236}">
                <a16:creationId xmlns:a16="http://schemas.microsoft.com/office/drawing/2014/main" id="{591A2FC8-9679-4DCE-BB0C-246CDEEBDB10}"/>
              </a:ext>
            </a:extLst>
          </p:cNvPr>
          <p:cNvSpPr>
            <a:spLocks noGrp="1"/>
          </p:cNvSpPr>
          <p:nvPr/>
        </p:nvSpPr>
        <p:spPr>
          <a:xfrm>
            <a:off x="742950" y="2635758"/>
            <a:ext cx="1600200" cy="566928"/>
          </a:xfrm>
          <a:prstGeom prst="rect">
            <a:avLst/>
          </a:prstGeom>
          <a:noFill/>
          <a:ln w="0">
            <a:noFill/>
          </a:ln>
        </p:spPr>
        <p:txBody>
          <a:bodyPr>
            <a:noAutofit/>
          </a:bodyPr>
          <a:lstStyle/>
          <a:p>
            <a:pPr>
              <a:defRPr sz="1350">
                <a:solidFill>
                  <a:srgbClr val="5A6780"/>
                </a:solidFill>
                <a:latin typeface="Arial"/>
                <a:ea typeface="Arial"/>
                <a:cs typeface="Arial"/>
              </a:defRPr>
            </a:pPr>
            <a:r>
              <a:rPr sz="1200">
                <a:solidFill>
                  <a:srgbClr val="5A6780"/>
                </a:solidFill>
                <a:latin typeface="Arial"/>
                <a:ea typeface="Arial"/>
                <a:cs typeface="Arial"/>
              </a:rPr>
              <a:t>mode + len + message + proof 129 B</a:t>
            </a:r>
          </a:p>
        </p:txBody>
      </p:sp>
      <p:sp>
        <p:nvSpPr>
          <p:cNvPr id="9" name="Rectangle: Rounded Corners 8">
            <a:extLst>
              <a:ext uri="{FF2B5EF4-FFF2-40B4-BE49-F238E27FC236}">
                <a16:creationId xmlns:a16="http://schemas.microsoft.com/office/drawing/2014/main" id="{9C8EF325-5E0C-47C0-8F2D-7A9C22CBDC26}"/>
              </a:ext>
            </a:extLst>
          </p:cNvPr>
          <p:cNvSpPr>
            <a:spLocks noGrp="1"/>
          </p:cNvSpPr>
          <p:nvPr/>
        </p:nvSpPr>
        <p:spPr>
          <a:xfrm>
            <a:off x="552450" y="3590925"/>
            <a:ext cx="1981200" cy="1066800"/>
          </a:xfrm>
          <a:prstGeom prst="roundRect">
            <a:avLst>
              <a:gd name="adj" fmla="val 7143"/>
            </a:avLst>
          </a:prstGeom>
          <a:solidFill>
            <a:srgbClr val="FFFFFF"/>
          </a:solidFill>
          <a:ln w="9525">
            <a:solidFill>
              <a:srgbClr val="D6DFEB"/>
            </a:solidFill>
          </a:ln>
        </p:spPr>
        <p:txBody>
          <a:bodyPr/>
          <a:lstStyle/>
          <a:p>
            <a:endParaRPr lang="en-US"/>
          </a:p>
        </p:txBody>
      </p:sp>
      <p:sp>
        <p:nvSpPr>
          <p:cNvPr id="10" name="Rectangle: Rounded Corners 9">
            <a:extLst>
              <a:ext uri="{FF2B5EF4-FFF2-40B4-BE49-F238E27FC236}">
                <a16:creationId xmlns:a16="http://schemas.microsoft.com/office/drawing/2014/main" id="{EB3F1EC9-FDF5-49EF-B521-D0C813CDBCD4}"/>
              </a:ext>
            </a:extLst>
          </p:cNvPr>
          <p:cNvSpPr>
            <a:spLocks noGrp="1"/>
          </p:cNvSpPr>
          <p:nvPr/>
        </p:nvSpPr>
        <p:spPr>
          <a:xfrm>
            <a:off x="704850" y="3676650"/>
            <a:ext cx="361950" cy="361950"/>
          </a:xfrm>
          <a:prstGeom prst="roundRect">
            <a:avLst>
              <a:gd name="adj" fmla="val 21053"/>
            </a:avLst>
          </a:prstGeom>
          <a:solidFill>
            <a:srgbClr val="25A36F">
              <a:alpha val="8627"/>
            </a:srgbClr>
          </a:solidFill>
          <a:ln w="9525">
            <a:solidFill>
              <a:srgbClr val="25A36F"/>
            </a:solidFill>
          </a:ln>
        </p:spPr>
        <p:txBody>
          <a:bodyPr/>
          <a:lstStyle/>
          <a:p>
            <a:endParaRPr lang="en-US"/>
          </a:p>
        </p:txBody>
      </p:sp>
      <p:sp>
        <p:nvSpPr>
          <p:cNvPr id="11" name="Rectangle 10">
            <a:extLst>
              <a:ext uri="{FF2B5EF4-FFF2-40B4-BE49-F238E27FC236}">
                <a16:creationId xmlns:a16="http://schemas.microsoft.com/office/drawing/2014/main" id="{60ACBDF3-6088-4E6E-8AAC-9EA01394A7DF}"/>
              </a:ext>
            </a:extLst>
          </p:cNvPr>
          <p:cNvSpPr>
            <a:spLocks noGrp="1"/>
          </p:cNvSpPr>
          <p:nvPr/>
        </p:nvSpPr>
        <p:spPr>
          <a:xfrm>
            <a:off x="1181100" y="3686175"/>
            <a:ext cx="120015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Verifier</a:t>
            </a:r>
          </a:p>
        </p:txBody>
      </p:sp>
      <p:sp>
        <p:nvSpPr>
          <p:cNvPr id="12" name="Rectangle 11">
            <a:extLst>
              <a:ext uri="{FF2B5EF4-FFF2-40B4-BE49-F238E27FC236}">
                <a16:creationId xmlns:a16="http://schemas.microsoft.com/office/drawing/2014/main" id="{0934A3A3-C8CE-4CB4-BA9D-F86346D60656}"/>
              </a:ext>
            </a:extLst>
          </p:cNvPr>
          <p:cNvSpPr>
            <a:spLocks noGrp="1"/>
          </p:cNvSpPr>
          <p:nvPr/>
        </p:nvSpPr>
        <p:spPr>
          <a:xfrm>
            <a:off x="1035755" y="3981450"/>
            <a:ext cx="1463040" cy="603504"/>
          </a:xfrm>
          <a:prstGeom prst="rect">
            <a:avLst/>
          </a:prstGeom>
          <a:noFill/>
          <a:ln w="0">
            <a:noFill/>
          </a:ln>
        </p:spPr>
        <p:txBody>
          <a:bodyPr>
            <a:noAutofit/>
          </a:bodyPr>
          <a:lstStyle/>
          <a:p>
            <a:pPr>
              <a:defRPr sz="1350">
                <a:solidFill>
                  <a:srgbClr val="5A6780"/>
                </a:solidFill>
                <a:latin typeface="Arial"/>
                <a:ea typeface="Arial"/>
                <a:cs typeface="Arial"/>
              </a:defRPr>
            </a:pPr>
            <a:r>
              <a:rPr sz="1200">
                <a:solidFill>
                  <a:srgbClr val="5A6780"/>
                </a:solidFill>
                <a:latin typeface="Arial"/>
                <a:ea typeface="Arial"/>
                <a:cs typeface="Arial"/>
              </a:rPr>
              <a:t>root + khóa giấu tin + VK; không cần secret camera</a:t>
            </a:r>
          </a:p>
        </p:txBody>
      </p:sp>
      <p:sp>
        <p:nvSpPr>
          <p:cNvPr id="13" name="Rectangle 12">
            <a:extLst>
              <a:ext uri="{FF2B5EF4-FFF2-40B4-BE49-F238E27FC236}">
                <a16:creationId xmlns:a16="http://schemas.microsoft.com/office/drawing/2014/main" id="{AF5C11DB-050D-4B23-8638-F00EAE641D7B}"/>
              </a:ext>
            </a:extLst>
          </p:cNvPr>
          <p:cNvSpPr>
            <a:spLocks noGrp="1"/>
          </p:cNvSpPr>
          <p:nvPr/>
        </p:nvSpPr>
        <p:spPr>
          <a:xfrm>
            <a:off x="2800350" y="5591175"/>
            <a:ext cx="847725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16 — camera_video.circom: pk = Poseidon(s), đường Merkle 16 tầng tới root; public [root, bindingHi, bindingLo]; 8 737 constraint.</a:t>
            </a:r>
          </a:p>
        </p:txBody>
      </p:sp>
      <p:sp>
        <p:nvSpPr>
          <p:cNvPr id="20" name="Limit Text"/>
          <p:cNvSpPr>
            <a:spLocks noGrp="1"/>
          </p:cNvSpPr>
          <p:nvPr/>
        </p:nvSpPr>
        <p:spPr>
          <a:xfrm>
            <a:off x="2798064" y="5870448"/>
            <a:ext cx="8476488" cy="457200"/>
          </a:xfrm>
          <a:prstGeom prst="rect">
            <a:avLst/>
          </a:prstGeom>
          <a:noFill/>
          <a:ln w="0">
            <a:noFill/>
          </a:ln>
        </p:spPr>
        <p:txBody>
          <a:bodyPr>
            <a:normAutofit fontScale="90000"/>
          </a:bodyPr>
          <a:lstStyle/>
          <a:p>
            <a:pPr>
              <a:defRPr sz="1200">
                <a:solidFill>
                  <a:srgbClr val="5A6780"/>
                </a:solidFill>
                <a:latin typeface="Arial"/>
                <a:ea typeface="Arial"/>
                <a:cs typeface="Arial"/>
              </a:defRPr>
            </a:pPr>
            <a:r>
              <a:rPr sz="1200">
                <a:solidFill>
                  <a:srgbClr val="5A6780"/>
                </a:solidFill>
                <a:latin typeface="Arial"/>
                <a:ea typeface="Arial"/>
                <a:cs typeface="Arial"/>
              </a:rPr>
              <a:t xml:space="preserve">snarkjs </a:t>
            </a:r>
            <a:r>
              <a:rPr sz="1200">
                <a:solidFill>
                  <a:srgbClr val="5A6780"/>
                </a:solidFill>
                <a:latin typeface="Arial"/>
                <a:ea typeface="Arial"/>
                <a:cs typeface="Arial"/>
              </a:rPr>
              <a:t xml:space="preserve">chỉ chấp nhận khi exit 0 và in "OK!"; verifier không biết camera nào. </a:t>
            </a:r>
            <a:r>
              <a:rPr sz="1200" b="1">
                <a:solidFill>
                  <a:srgbClr val="5A6780"/>
                </a:solidFill>
                <a:latin typeface="Arial"/>
                <a:ea typeface="Arial"/>
                <a:cs typeface="Arial"/>
              </a:rPr>
              <a:t xml:space="preserve">Đo 04/10: </a:t>
            </a:r>
            <a:r>
              <a:rPr sz="1200">
                <a:solidFill>
                  <a:srgbClr val="5A6780"/>
                </a:solidFill>
                <a:latin typeface="Arial"/>
                <a:ea typeface="Arial"/>
                <a:cs typeface="Arial"/>
              </a:rPr>
              <a:t>prove 1.5–1.8 s, verify ~0.9–1.0 s, proof 129 B (mạch SHA-256 cũ: 3.5–4.4 s).</a:t>
            </a:r>
          </a:p>
        </p:txBody>
      </p:sp>
      <p:sp>
        <p:nvSpPr>
          <p:cNvPr id="14" name="Rectangle 13">
            <a:extLst>
              <a:ext uri="{FF2B5EF4-FFF2-40B4-BE49-F238E27FC236}">
                <a16:creationId xmlns:a16="http://schemas.microsoft.com/office/drawing/2014/main" id="{709F9CF9-2B7C-4687-8ACB-3D8E6046264A}"/>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5" name="Rectangle 14">
            <a:extLst>
              <a:ext uri="{FF2B5EF4-FFF2-40B4-BE49-F238E27FC236}">
                <a16:creationId xmlns:a16="http://schemas.microsoft.com/office/drawing/2014/main" id="{6D5AB9D3-D316-4390-B52D-8BCCC3CA0C11}"/>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16</a:t>
            </a:r>
          </a:p>
        </p:txBody>
      </p:sp>
    </p:spTree>
    <p:extLst>
      <p:ext uri="{BB962C8B-B14F-4D97-AF65-F5344CB8AC3E}">
        <p14:creationId xmlns:p14="http://schemas.microsoft.com/office/powerpoint/2010/main" val="18427856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65E35067-3568-4939-A6EC-A1D490E0BF76}"/>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Hai cách hệ thống chạy</a:t>
            </a:r>
          </a:p>
        </p:txBody>
      </p:sp>
      <p:sp>
        <p:nvSpPr>
          <p:cNvPr id="2" name="Rectangle 1">
            <a:extLst>
              <a:ext uri="{FF2B5EF4-FFF2-40B4-BE49-F238E27FC236}">
                <a16:creationId xmlns:a16="http://schemas.microsoft.com/office/drawing/2014/main" id="{32354D00-5EB9-4A78-ACDF-38B64DB394E2}"/>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Job HTTP và luồng WebSocket dùng chung native engine và cùng giao thức theo đoạn IDR; khác cách đưa dữ liệu vào và trả kết quả.</a:t>
            </a:r>
          </a:p>
        </p:txBody>
      </p:sp>
      <p:sp>
        <p:nvSpPr>
          <p:cNvPr id="3" name="Straight Connector 2">
            <a:extLst>
              <a:ext uri="{FF2B5EF4-FFF2-40B4-BE49-F238E27FC236}">
                <a16:creationId xmlns:a16="http://schemas.microsoft.com/office/drawing/2014/main" id="{03027005-1CA1-462B-BC5E-0F2F1D8CBF4F}"/>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3E47E13D-21D5-496B-930E-C6A352C971FE}"/>
              </a:ext>
            </a:extLst>
          </p:cNvPr>
          <p:cNvSpPr>
            <a:spLocks noGrp="1"/>
          </p:cNvSpPr>
          <p:nvPr/>
        </p:nvSpPr>
        <p:spPr>
          <a:xfrm>
            <a:off x="676275" y="2000250"/>
            <a:ext cx="4972050" cy="2143125"/>
          </a:xfrm>
          <a:prstGeom prst="roundRect">
            <a:avLst>
              <a:gd name="adj" fmla="val 3556"/>
            </a:avLst>
          </a:prstGeom>
          <a:solidFill>
            <a:srgbClr val="FFFFFF"/>
          </a:solidFill>
          <a:ln w="9525">
            <a:solidFill>
              <a:srgbClr val="D6DFEB"/>
            </a:solidFill>
          </a:ln>
        </p:spPr>
        <p:txBody>
          <a:bodyPr/>
          <a:lstStyle/>
          <a:p>
            <a:endParaRPr lang="en-US"/>
          </a:p>
        </p:txBody>
      </p:sp>
      <p:sp>
        <p:nvSpPr>
          <p:cNvPr id="5" name="Rectangle: Rounded Corners 4">
            <a:extLst>
              <a:ext uri="{FF2B5EF4-FFF2-40B4-BE49-F238E27FC236}">
                <a16:creationId xmlns:a16="http://schemas.microsoft.com/office/drawing/2014/main" id="{7F57D7C0-E52A-4E21-BF16-232C7F3FBF27}"/>
              </a:ext>
            </a:extLst>
          </p:cNvPr>
          <p:cNvSpPr>
            <a:spLocks noGrp="1"/>
          </p:cNvSpPr>
          <p:nvPr/>
        </p:nvSpPr>
        <p:spPr>
          <a:xfrm>
            <a:off x="828675" y="2152650"/>
            <a:ext cx="361950" cy="361950"/>
          </a:xfrm>
          <a:prstGeom prst="roundRect">
            <a:avLst>
              <a:gd name="adj" fmla="val 21053"/>
            </a:avLst>
          </a:prstGeom>
          <a:solidFill>
            <a:srgbClr val="2667D8">
              <a:alpha val="8627"/>
            </a:srgbClr>
          </a:solidFill>
          <a:ln w="9525">
            <a:solidFill>
              <a:srgbClr val="2667D8"/>
            </a:solidFill>
          </a:ln>
        </p:spPr>
        <p:txBody>
          <a:bodyPr/>
          <a:lstStyle/>
          <a:p>
            <a:endParaRPr lang="en-US"/>
          </a:p>
        </p:txBody>
      </p:sp>
      <p:sp>
        <p:nvSpPr>
          <p:cNvPr id="6" name="Rectangle 5">
            <a:extLst>
              <a:ext uri="{FF2B5EF4-FFF2-40B4-BE49-F238E27FC236}">
                <a16:creationId xmlns:a16="http://schemas.microsoft.com/office/drawing/2014/main" id="{EFECC663-4688-4F5E-B776-8CF9E88C423D}"/>
              </a:ext>
            </a:extLst>
          </p:cNvPr>
          <p:cNvSpPr>
            <a:spLocks noGrp="1"/>
          </p:cNvSpPr>
          <p:nvPr/>
        </p:nvSpPr>
        <p:spPr>
          <a:xfrm>
            <a:off x="1304925" y="2162175"/>
            <a:ext cx="41910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HTTP job</a:t>
            </a:r>
          </a:p>
        </p:txBody>
      </p:sp>
      <p:sp>
        <p:nvSpPr>
          <p:cNvPr id="7" name="Rectangle 6">
            <a:extLst>
              <a:ext uri="{FF2B5EF4-FFF2-40B4-BE49-F238E27FC236}">
                <a16:creationId xmlns:a16="http://schemas.microsoft.com/office/drawing/2014/main" id="{25BBE746-A68B-4704-A7D9-B8F530412625}"/>
              </a:ext>
            </a:extLst>
          </p:cNvPr>
          <p:cNvSpPr>
            <a:spLocks noGrp="1"/>
          </p:cNvSpPr>
          <p:nvPr/>
        </p:nvSpPr>
        <p:spPr>
          <a:xfrm>
            <a:off x="866775" y="2628900"/>
            <a:ext cx="4591050" cy="1381125"/>
          </a:xfrm>
          <a:prstGeom prst="rect">
            <a:avLst/>
          </a:prstGeom>
          <a:noFill/>
          <a:ln w="0">
            <a:noFill/>
          </a:ln>
        </p:spPr>
        <p:txBody>
          <a:bodyPr>
            <a:normAutofit/>
          </a:bodyPr>
          <a:lstStyle/>
          <a:p>
            <a:pPr>
              <a:defRPr sz="1350">
                <a:solidFill>
                  <a:srgbClr val="5A6780"/>
                </a:solidFill>
                <a:latin typeface="Arial"/>
                <a:ea typeface="Arial"/>
                <a:cs typeface="Arial"/>
              </a:defRPr>
            </a:pPr>
            <a:r>
              <a:rPr sz="1350">
                <a:solidFill>
                  <a:srgbClr val="5A6780"/>
                </a:solidFill>
                <a:latin typeface="Arial"/>
                <a:ea typeface="Arial"/>
                <a:cs typeface="Arial"/>
              </a:rPr>
              <a:t>Upload .h264 + khóa → hàng đợi → native worker. Job verify: trích mù → digest file tải lên → Groth16 với root sổ đăng ký (ZK_STEGO_CAMERA_REGISTRY) → succeeded + message + video_bound, ngược lại rejected. Job extract trả "verified": false.</a:t>
            </a:r>
          </a:p>
        </p:txBody>
      </p:sp>
      <p:sp>
        <p:nvSpPr>
          <p:cNvPr id="8" name="Rectangle: Rounded Corners 7">
            <a:extLst>
              <a:ext uri="{FF2B5EF4-FFF2-40B4-BE49-F238E27FC236}">
                <a16:creationId xmlns:a16="http://schemas.microsoft.com/office/drawing/2014/main" id="{3CF455BB-24B2-40FA-B365-FA24A26B9712}"/>
              </a:ext>
            </a:extLst>
          </p:cNvPr>
          <p:cNvSpPr>
            <a:spLocks noGrp="1"/>
          </p:cNvSpPr>
          <p:nvPr/>
        </p:nvSpPr>
        <p:spPr>
          <a:xfrm>
            <a:off x="6543675" y="2000250"/>
            <a:ext cx="4972050" cy="2143125"/>
          </a:xfrm>
          <a:prstGeom prst="roundRect">
            <a:avLst>
              <a:gd name="adj" fmla="val 3556"/>
            </a:avLst>
          </a:prstGeom>
          <a:solidFill>
            <a:srgbClr val="FFFFFF"/>
          </a:solidFill>
          <a:ln w="9525">
            <a:solidFill>
              <a:srgbClr val="D6DFEB"/>
            </a:solidFill>
          </a:ln>
        </p:spPr>
        <p:txBody>
          <a:bodyPr/>
          <a:lstStyle/>
          <a:p>
            <a:endParaRPr lang="en-US"/>
          </a:p>
        </p:txBody>
      </p:sp>
      <p:sp>
        <p:nvSpPr>
          <p:cNvPr id="9" name="Rectangle: Rounded Corners 8">
            <a:extLst>
              <a:ext uri="{FF2B5EF4-FFF2-40B4-BE49-F238E27FC236}">
                <a16:creationId xmlns:a16="http://schemas.microsoft.com/office/drawing/2014/main" id="{5B87C59F-A6C9-4669-A0B3-2ED0ED27E9C6}"/>
              </a:ext>
            </a:extLst>
          </p:cNvPr>
          <p:cNvSpPr>
            <a:spLocks noGrp="1"/>
          </p:cNvSpPr>
          <p:nvPr/>
        </p:nvSpPr>
        <p:spPr>
          <a:xfrm>
            <a:off x="6696075" y="2152650"/>
            <a:ext cx="361950" cy="361950"/>
          </a:xfrm>
          <a:prstGeom prst="roundRect">
            <a:avLst>
              <a:gd name="adj" fmla="val 21053"/>
            </a:avLst>
          </a:prstGeom>
          <a:solidFill>
            <a:srgbClr val="16A4C7">
              <a:alpha val="8627"/>
            </a:srgbClr>
          </a:solidFill>
          <a:ln w="9525">
            <a:solidFill>
              <a:srgbClr val="16A4C7"/>
            </a:solidFill>
          </a:ln>
        </p:spPr>
        <p:txBody>
          <a:bodyPr/>
          <a:lstStyle/>
          <a:p>
            <a:endParaRPr lang="en-US"/>
          </a:p>
        </p:txBody>
      </p:sp>
      <p:sp>
        <p:nvSpPr>
          <p:cNvPr id="10" name="Rectangle 9">
            <a:extLst>
              <a:ext uri="{FF2B5EF4-FFF2-40B4-BE49-F238E27FC236}">
                <a16:creationId xmlns:a16="http://schemas.microsoft.com/office/drawing/2014/main" id="{08B1D061-8C8B-441C-8C9D-FB21D1011C7F}"/>
              </a:ext>
            </a:extLst>
          </p:cNvPr>
          <p:cNvSpPr>
            <a:spLocks noGrp="1"/>
          </p:cNvSpPr>
          <p:nvPr/>
        </p:nvSpPr>
        <p:spPr>
          <a:xfrm>
            <a:off x="7172325" y="2162175"/>
            <a:ext cx="41910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WebSocket live</a:t>
            </a:r>
          </a:p>
        </p:txBody>
      </p:sp>
      <p:sp>
        <p:nvSpPr>
          <p:cNvPr id="11" name="Rectangle 10">
            <a:extLst>
              <a:ext uri="{FF2B5EF4-FFF2-40B4-BE49-F238E27FC236}">
                <a16:creationId xmlns:a16="http://schemas.microsoft.com/office/drawing/2014/main" id="{20432E0E-215A-47D7-954A-D8C8E929AC58}"/>
              </a:ext>
            </a:extLst>
          </p:cNvPr>
          <p:cNvSpPr>
            <a:spLocks noGrp="1"/>
          </p:cNvSpPr>
          <p:nvPr/>
        </p:nvSpPr>
        <p:spPr>
          <a:xfrm>
            <a:off x="6734175" y="2628900"/>
            <a:ext cx="4591050" cy="1381125"/>
          </a:xfrm>
          <a:prstGeom prst="rect">
            <a:avLst/>
          </a:prstGeom>
          <a:noFill/>
          <a:ln w="0">
            <a:noFill/>
          </a:ln>
        </p:spPr>
        <p:txBody>
          <a:bodyPr>
            <a:normAutofit/>
          </a:bodyPr>
          <a:lstStyle/>
          <a:p>
            <a:pPr>
              <a:defRPr sz="1350">
                <a:solidFill>
                  <a:srgbClr val="5A6780"/>
                </a:solidFill>
                <a:latin typeface="Arial"/>
                <a:ea typeface="Arial"/>
                <a:cs typeface="Arial"/>
              </a:defRPr>
            </a:pPr>
            <a:r>
              <a:rPr sz="1350">
                <a:solidFill>
                  <a:srgbClr val="5A6780"/>
                </a:solidFill>
                <a:latin typeface="Arial"/>
                <a:ea typeface="Arial"/>
                <a:cs typeface="Arial"/>
              </a:rPr>
              <a:t>Camera/FFmpeg gửi chunk Annex-B → adapter backpressure → native stdin/stdout → chunk stego hoặc payload JSON ("verified": false). Live chỉ gắn được message (mode 1); job verify từ chối mode này trừ khi bật cờ cho phép.</a:t>
            </a:r>
          </a:p>
        </p:txBody>
      </p:sp>
      <p:sp>
        <p:nvSpPr>
          <p:cNvPr id="12" name="Rectangle 11">
            <a:extLst>
              <a:ext uri="{FF2B5EF4-FFF2-40B4-BE49-F238E27FC236}">
                <a16:creationId xmlns:a16="http://schemas.microsoft.com/office/drawing/2014/main" id="{1F76FCCC-1966-45EC-93D3-B851247DE472}"/>
              </a:ext>
            </a:extLst>
          </p:cNvPr>
          <p:cNvSpPr>
            <a:spLocks noGrp="1"/>
          </p:cNvSpPr>
          <p:nvPr/>
        </p:nvSpPr>
        <p:spPr>
          <a:xfrm>
            <a:off x="2000250" y="4495800"/>
            <a:ext cx="81915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18 — Bearer token ≥ 32 ký tự, kiểm trước khi đọc body; sai 10 lần trong 60 s → 429. Hai đường dùng chung native engine.</a:t>
            </a:r>
          </a:p>
        </p:txBody>
      </p:sp>
      <p:sp>
        <p:nvSpPr>
          <p:cNvPr id="13" name="Rectangle: Rounded Corners 12">
            <a:extLst>
              <a:ext uri="{FF2B5EF4-FFF2-40B4-BE49-F238E27FC236}">
                <a16:creationId xmlns:a16="http://schemas.microsoft.com/office/drawing/2014/main" id="{281B12CD-3588-4AD3-A6D1-F37F5D497A0A}"/>
              </a:ext>
            </a:extLst>
          </p:cNvPr>
          <p:cNvSpPr>
            <a:spLocks noGrp="1"/>
          </p:cNvSpPr>
          <p:nvPr/>
        </p:nvSpPr>
        <p:spPr>
          <a:xfrm>
            <a:off x="2190750" y="4810125"/>
            <a:ext cx="7810500" cy="600075"/>
          </a:xfrm>
          <a:prstGeom prst="roundRect">
            <a:avLst>
              <a:gd name="adj" fmla="val 12698"/>
            </a:avLst>
          </a:prstGeom>
          <a:solidFill>
            <a:srgbClr val="F5F8FC"/>
          </a:solidFill>
          <a:ln w="9525">
            <a:solidFill>
              <a:srgbClr val="D6DFEB"/>
            </a:solidFill>
          </a:ln>
        </p:spPr>
        <p:txBody>
          <a:bodyPr/>
          <a:lstStyle/>
          <a:p>
            <a:endParaRPr lang="en-US"/>
          </a:p>
        </p:txBody>
      </p:sp>
      <p:sp>
        <p:nvSpPr>
          <p:cNvPr id="14" name="Rectangle 13">
            <a:extLst>
              <a:ext uri="{FF2B5EF4-FFF2-40B4-BE49-F238E27FC236}">
                <a16:creationId xmlns:a16="http://schemas.microsoft.com/office/drawing/2014/main" id="{7EF3FF02-7F88-4669-AA07-10DE9DD12787}"/>
              </a:ext>
            </a:extLst>
          </p:cNvPr>
          <p:cNvSpPr>
            <a:spLocks noGrp="1"/>
          </p:cNvSpPr>
          <p:nvPr/>
        </p:nvSpPr>
        <p:spPr>
          <a:xfrm>
            <a:off x="2457450" y="4991100"/>
            <a:ext cx="7286625" cy="228600"/>
          </a:xfrm>
          <a:prstGeom prst="rect">
            <a:avLst/>
          </a:prstGeom>
          <a:noFill/>
          <a:ln w="0">
            <a:noFill/>
          </a:ln>
        </p:spPr>
        <p:txBody>
          <a:bodyPr>
            <a:normAutofit fontScale="66667"/>
          </a:bodyPr>
          <a:lstStyle/>
          <a:p>
            <a:pPr>
              <a:defRPr sz="1350">
                <a:solidFill>
                  <a:srgbClr val="5A6780"/>
                </a:solidFill>
                <a:latin typeface="Arial"/>
                <a:ea typeface="Arial"/>
                <a:cs typeface="Arial"/>
              </a:defRPr>
            </a:pPr>
            <a:r>
              <a:rPr sz="1350">
                <a:solidFill>
                  <a:srgbClr val="5A6780"/>
                </a:solidFill>
                <a:latin typeface="Arial"/>
                <a:ea typeface="Arial"/>
                <a:cs typeface="Arial"/>
              </a:rPr>
              <a:t>Native không gọi prover trong vòng lặp camera: proof tạo trước; verify Groth16 (kèm digest video) chạy trong job verify hoặc ở bên nhận.</a:t>
            </a:r>
          </a:p>
        </p:txBody>
      </p:sp>
      <p:sp>
        <p:nvSpPr>
          <p:cNvPr id="15" name="Rectangle 14">
            <a:extLst>
              <a:ext uri="{FF2B5EF4-FFF2-40B4-BE49-F238E27FC236}">
                <a16:creationId xmlns:a16="http://schemas.microsoft.com/office/drawing/2014/main" id="{3BB9C338-777A-4D9E-9075-79498332E26D}"/>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6" name="Rectangle 15">
            <a:extLst>
              <a:ext uri="{FF2B5EF4-FFF2-40B4-BE49-F238E27FC236}">
                <a16:creationId xmlns:a16="http://schemas.microsoft.com/office/drawing/2014/main" id="{487132A8-04BE-477F-BFB7-72A56B3C8366}"/>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18</a:t>
            </a:r>
          </a:p>
        </p:txBody>
      </p:sp>
    </p:spTree>
    <p:extLst>
      <p:ext uri="{BB962C8B-B14F-4D97-AF65-F5344CB8AC3E}">
        <p14:creationId xmlns:p14="http://schemas.microsoft.com/office/powerpoint/2010/main" val="4822206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9E3DE6D-8852-45A4-AAF0-E0DF35A426E2}"/>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Phạm vi kỹ thuật hiện tại</a:t>
            </a:r>
          </a:p>
        </p:txBody>
      </p:sp>
      <p:sp>
        <p:nvSpPr>
          <p:cNvPr id="3" name="Straight Connector 2">
            <a:extLst>
              <a:ext uri="{FF2B5EF4-FFF2-40B4-BE49-F238E27FC236}">
                <a16:creationId xmlns:a16="http://schemas.microsoft.com/office/drawing/2014/main" id="{3F22EA46-45A2-4DCF-B376-B6A6E974D06B}"/>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CF844E89-FF78-403E-A230-14CF5D21F8CC}"/>
              </a:ext>
            </a:extLst>
          </p:cNvPr>
          <p:cNvSpPr>
            <a:spLocks noGrp="1"/>
          </p:cNvSpPr>
          <p:nvPr/>
        </p:nvSpPr>
        <p:spPr>
          <a:xfrm>
            <a:off x="914400" y="1517904"/>
            <a:ext cx="10363200" cy="786384"/>
          </a:xfrm>
          <a:prstGeom prst="roundRect">
            <a:avLst>
              <a:gd name="adj" fmla="val 8511"/>
            </a:avLst>
          </a:prstGeom>
          <a:solidFill>
            <a:srgbClr val="25A36F">
              <a:alpha val="7059"/>
            </a:srgbClr>
          </a:solidFill>
          <a:ln w="9525">
            <a:solidFill>
              <a:srgbClr val="25A36F"/>
            </a:solidFill>
          </a:ln>
        </p:spPr>
        <p:txBody>
          <a:bodyPr/>
          <a:lstStyle/>
          <a:p>
            <a:endParaRPr lang="en-US"/>
          </a:p>
        </p:txBody>
      </p:sp>
      <p:sp>
        <p:nvSpPr>
          <p:cNvPr id="17" name="Row Card Metrics"/>
          <p:cNvSpPr>
            <a:spLocks noGrp="1"/>
          </p:cNvSpPr>
          <p:nvPr/>
        </p:nvSpPr>
        <p:spPr>
          <a:xfrm>
            <a:off x="914400" y="2450592"/>
            <a:ext cx="10363200" cy="786384"/>
          </a:xfrm>
          <a:prstGeom prst="roundRect">
            <a:avLst>
              <a:gd name="adj" fmla="val 8511"/>
            </a:avLst>
          </a:prstGeom>
          <a:solidFill>
            <a:srgbClr val="7555D9">
              <a:alpha val="7059"/>
            </a:srgbClr>
          </a:solidFill>
          <a:ln w="9525">
            <a:solidFill>
              <a:srgbClr val="7555D9"/>
            </a:solidFill>
          </a:ln>
        </p:spPr>
        <p:txBody>
          <a:bodyPr/>
          <a:lstStyle/>
          <a:p>
            <a:endParaRPr lang="en-US"/>
          </a:p>
        </p:txBody>
      </p:sp>
      <p:sp>
        <p:nvSpPr>
          <p:cNvPr id="18" name="Row Label Metrics"/>
          <p:cNvSpPr>
            <a:spLocks noGrp="1"/>
          </p:cNvSpPr>
          <p:nvPr/>
        </p:nvSpPr>
        <p:spPr>
          <a:xfrm>
            <a:off x="1181100" y="2596896"/>
            <a:ext cx="1952625" cy="276225"/>
          </a:xfrm>
          <a:prstGeom prst="rect">
            <a:avLst/>
          </a:prstGeom>
          <a:noFill/>
          <a:ln w="0">
            <a:noFill/>
          </a:ln>
        </p:spPr>
        <p:txBody>
          <a:bodyPr>
            <a:normAutofit fontScale="67361"/>
          </a:bodyPr>
          <a:lstStyle/>
          <a:p>
            <a:pPr>
              <a:defRPr sz="1800" b="1">
                <a:solidFill>
                  <a:srgbClr val="7555D9"/>
                </a:solidFill>
                <a:latin typeface="Arial"/>
                <a:ea typeface="Arial"/>
                <a:cs typeface="Arial"/>
              </a:defRPr>
            </a:pPr>
            <a:r>
              <a:rPr sz="1800" b="1">
                <a:solidFill>
                  <a:srgbClr val="7555D9"/>
                </a:solidFill>
                <a:latin typeface="Arial"/>
                <a:ea typeface="Arial"/>
                <a:cs typeface="Arial"/>
              </a:rPr>
              <a:t>Số đo 04/10/2026</a:t>
            </a:r>
          </a:p>
        </p:txBody>
      </p:sp>
      <p:sp>
        <p:nvSpPr>
          <p:cNvPr id="19" name="Row Text Metrics"/>
          <p:cNvSpPr>
            <a:spLocks noGrp="1"/>
          </p:cNvSpPr>
          <p:nvPr/>
        </p:nvSpPr>
        <p:spPr>
          <a:xfrm>
            <a:off x="3381375" y="2560320"/>
            <a:ext cx="7543800" cy="566928"/>
          </a:xfrm>
          <a:prstGeom prst="rect">
            <a:avLst/>
          </a:prstGeom>
          <a:noFill/>
          <a:ln w="0">
            <a:noFill/>
          </a:ln>
        </p:spPr>
        <p:txBody>
          <a:bodyPr>
            <a:normAutofit fontScale="91667"/>
          </a:bodyPr>
          <a:lstStyle/>
          <a:p>
            <a:pPr>
              <a:defRPr sz="1650">
                <a:solidFill>
                  <a:srgbClr val="5A6780"/>
                </a:solidFill>
                <a:latin typeface="Arial"/>
                <a:ea typeface="Arial"/>
                <a:cs typeface="Arial"/>
              </a:defRPr>
            </a:pPr>
            <a:r>
              <a:rPr sz="1650">
                <a:solidFill>
                  <a:srgbClr val="5A6780"/>
                </a:solidFill>
                <a:latin typeface="Arial"/>
                <a:ea typeface="Arial"/>
                <a:cs typeface="Arial"/>
              </a:rPr>
              <a:t>Media 27/27, E2E 5/5, tấn công 11/11; Groth16 prove 1.5–1.8 s, verify ~1 s (PLONK ~22 s); PSNR-Y ≥ 44.03 dB, |z| ≤ 0.22</a:t>
            </a:r>
          </a:p>
        </p:txBody>
      </p:sp>
      <p:sp>
        <p:nvSpPr>
          <p:cNvPr id="5" name="Rectangle 4">
            <a:extLst>
              <a:ext uri="{FF2B5EF4-FFF2-40B4-BE49-F238E27FC236}">
                <a16:creationId xmlns:a16="http://schemas.microsoft.com/office/drawing/2014/main" id="{C9294D25-0C29-4B16-B12F-3F20E9354B49}"/>
              </a:ext>
            </a:extLst>
          </p:cNvPr>
          <p:cNvSpPr>
            <a:spLocks noGrp="1"/>
          </p:cNvSpPr>
          <p:nvPr/>
        </p:nvSpPr>
        <p:spPr>
          <a:xfrm>
            <a:off x="1181100" y="1664208"/>
            <a:ext cx="1952625" cy="276225"/>
          </a:xfrm>
          <a:prstGeom prst="rect">
            <a:avLst/>
          </a:prstGeom>
          <a:noFill/>
          <a:ln w="0">
            <a:noFill/>
          </a:ln>
        </p:spPr>
        <p:txBody>
          <a:bodyPr>
            <a:normAutofit fontScale="67361"/>
          </a:bodyPr>
          <a:lstStyle/>
          <a:p>
            <a:pPr>
              <a:defRPr sz="1800" b="1">
                <a:solidFill>
                  <a:srgbClr val="25A36F"/>
                </a:solidFill>
                <a:latin typeface="Arial"/>
                <a:ea typeface="Arial"/>
                <a:cs typeface="Arial"/>
              </a:defRPr>
            </a:pPr>
            <a:r>
              <a:rPr sz="1800" b="1">
                <a:solidFill>
                  <a:srgbClr val="25A36F"/>
                </a:solidFill>
                <a:latin typeface="Arial"/>
                <a:ea typeface="Arial"/>
                <a:cs typeface="Arial"/>
              </a:rPr>
              <a:t>Đã xác nhận</a:t>
            </a:r>
          </a:p>
        </p:txBody>
      </p:sp>
      <p:sp>
        <p:nvSpPr>
          <p:cNvPr id="6" name="Rectangle 5">
            <a:extLst>
              <a:ext uri="{FF2B5EF4-FFF2-40B4-BE49-F238E27FC236}">
                <a16:creationId xmlns:a16="http://schemas.microsoft.com/office/drawing/2014/main" id="{E9563763-7339-474C-8766-B9AFBC381D84}"/>
              </a:ext>
            </a:extLst>
          </p:cNvPr>
          <p:cNvSpPr>
            <a:spLocks noGrp="1"/>
          </p:cNvSpPr>
          <p:nvPr/>
        </p:nvSpPr>
        <p:spPr>
          <a:xfrm>
            <a:off x="3381375" y="1627632"/>
            <a:ext cx="7543800" cy="566928"/>
          </a:xfrm>
          <a:prstGeom prst="rect">
            <a:avLst/>
          </a:prstGeom>
          <a:noFill/>
          <a:ln w="0">
            <a:noFill/>
          </a:ln>
        </p:spPr>
        <p:txBody>
          <a:bodyPr>
            <a:normAutofit fontScale="91667"/>
          </a:bodyPr>
          <a:lstStyle/>
          <a:p>
            <a:pPr>
              <a:defRPr sz="1650">
                <a:solidFill>
                  <a:srgbClr val="5A6780"/>
                </a:solidFill>
                <a:latin typeface="Arial"/>
                <a:ea typeface="Arial"/>
                <a:cs typeface="Arial"/>
              </a:defRPr>
            </a:pPr>
            <a:r>
              <a:rPr sz="1650">
                <a:solidFill>
                  <a:srgbClr val="5A6780"/>
                </a:solidFill>
                <a:latin typeface="Arial"/>
                <a:ea typeface="Arial"/>
                <a:cs typeface="Arial"/>
              </a:rPr>
              <a:t>Baseline CAVLC, IDR, 1 slice/frame, giao thức v3, proof camera gắn video, Groth16 bắt buộc; 142/142 test (04/10/2026, Windows)</a:t>
            </a:r>
          </a:p>
        </p:txBody>
      </p:sp>
      <p:sp>
        <p:nvSpPr>
          <p:cNvPr id="7" name="Rectangle: Rounded Corners 6">
            <a:extLst>
              <a:ext uri="{FF2B5EF4-FFF2-40B4-BE49-F238E27FC236}">
                <a16:creationId xmlns:a16="http://schemas.microsoft.com/office/drawing/2014/main" id="{7928F499-9846-47E1-8DA3-EBCCCAA66E99}"/>
              </a:ext>
            </a:extLst>
          </p:cNvPr>
          <p:cNvSpPr>
            <a:spLocks noGrp="1"/>
          </p:cNvSpPr>
          <p:nvPr/>
        </p:nvSpPr>
        <p:spPr>
          <a:xfrm>
            <a:off x="914400" y="3383280"/>
            <a:ext cx="10363200" cy="786384"/>
          </a:xfrm>
          <a:prstGeom prst="roundRect">
            <a:avLst>
              <a:gd name="adj" fmla="val 8511"/>
            </a:avLst>
          </a:prstGeom>
          <a:solidFill>
            <a:srgbClr val="F2994A">
              <a:alpha val="7059"/>
            </a:srgbClr>
          </a:solidFill>
          <a:ln w="9525">
            <a:solidFill>
              <a:srgbClr val="F2994A"/>
            </a:solidFill>
          </a:ln>
        </p:spPr>
        <p:txBody>
          <a:bodyPr/>
          <a:lstStyle/>
          <a:p>
            <a:endParaRPr lang="en-US"/>
          </a:p>
        </p:txBody>
      </p:sp>
      <p:sp>
        <p:nvSpPr>
          <p:cNvPr id="8" name="Rectangle 7">
            <a:extLst>
              <a:ext uri="{FF2B5EF4-FFF2-40B4-BE49-F238E27FC236}">
                <a16:creationId xmlns:a16="http://schemas.microsoft.com/office/drawing/2014/main" id="{3765F878-B995-47AD-AF8A-C992ADA484E7}"/>
              </a:ext>
            </a:extLst>
          </p:cNvPr>
          <p:cNvSpPr>
            <a:spLocks noGrp="1"/>
          </p:cNvSpPr>
          <p:nvPr/>
        </p:nvSpPr>
        <p:spPr>
          <a:xfrm>
            <a:off x="1181100" y="3529584"/>
            <a:ext cx="1952625" cy="276225"/>
          </a:xfrm>
          <a:prstGeom prst="rect">
            <a:avLst/>
          </a:prstGeom>
          <a:noFill/>
          <a:ln w="0">
            <a:noFill/>
          </a:ln>
        </p:spPr>
        <p:txBody>
          <a:bodyPr>
            <a:normAutofit fontScale="67361"/>
          </a:bodyPr>
          <a:lstStyle/>
          <a:p>
            <a:pPr>
              <a:defRPr sz="1800" b="1">
                <a:solidFill>
                  <a:srgbClr val="F2994A"/>
                </a:solidFill>
                <a:latin typeface="Arial"/>
                <a:ea typeface="Arial"/>
                <a:cs typeface="Arial"/>
              </a:defRPr>
            </a:pPr>
            <a:r>
              <a:rPr sz="1800" b="1">
                <a:solidFill>
                  <a:srgbClr val="F2994A"/>
                </a:solidFill>
                <a:latin typeface="Arial"/>
                <a:ea typeface="Arial"/>
                <a:cs typeface="Arial"/>
              </a:rPr>
              <a:t>Chưa khẳng định</a:t>
            </a:r>
          </a:p>
        </p:txBody>
      </p:sp>
      <p:sp>
        <p:nvSpPr>
          <p:cNvPr id="9" name="Rectangle 8">
            <a:extLst>
              <a:ext uri="{FF2B5EF4-FFF2-40B4-BE49-F238E27FC236}">
                <a16:creationId xmlns:a16="http://schemas.microsoft.com/office/drawing/2014/main" id="{2BF3EEED-EFF5-4409-8E5E-263657CD62F0}"/>
              </a:ext>
            </a:extLst>
          </p:cNvPr>
          <p:cNvSpPr>
            <a:spLocks noGrp="1"/>
          </p:cNvSpPr>
          <p:nvPr/>
        </p:nvSpPr>
        <p:spPr>
          <a:xfrm>
            <a:off x="3381375" y="3493008"/>
            <a:ext cx="7543800" cy="566928"/>
          </a:xfrm>
          <a:prstGeom prst="rect">
            <a:avLst/>
          </a:prstGeom>
          <a:noFill/>
          <a:ln w="0">
            <a:noFill/>
          </a:ln>
        </p:spPr>
        <p:txBody>
          <a:bodyPr>
            <a:normAutofit fontScale="91667"/>
          </a:bodyPr>
          <a:lstStyle/>
          <a:p>
            <a:pPr>
              <a:defRPr sz="1650">
                <a:solidFill>
                  <a:srgbClr val="5A6780"/>
                </a:solidFill>
                <a:latin typeface="Arial"/>
                <a:ea typeface="Arial"/>
                <a:cs typeface="Arial"/>
              </a:defRPr>
            </a:pPr>
            <a:r>
              <a:rPr sz="1650">
                <a:solidFill>
                  <a:srgbClr val="5A6780"/>
                </a:solidFill>
                <a:latin typeface="Arial"/>
                <a:ea typeface="Arial"/>
                <a:cs typeface="Arial"/>
              </a:rPr>
              <a:t>CABAC, P/B làm vật mang; realtime 30 FPS (7.608 FPS là số đo v1, chưa đo lại); live chỉ gắn message; Phase 2 chỉ là demo; camera quay cảnh thật</a:t>
            </a:r>
          </a:p>
        </p:txBody>
      </p:sp>
      <p:sp>
        <p:nvSpPr>
          <p:cNvPr id="10" name="Rectangle: Rounded Corners 9">
            <a:extLst>
              <a:ext uri="{FF2B5EF4-FFF2-40B4-BE49-F238E27FC236}">
                <a16:creationId xmlns:a16="http://schemas.microsoft.com/office/drawing/2014/main" id="{0B795D1B-D47C-4519-9088-31B2EFFC4981}"/>
              </a:ext>
            </a:extLst>
          </p:cNvPr>
          <p:cNvSpPr>
            <a:spLocks noGrp="1"/>
          </p:cNvSpPr>
          <p:nvPr/>
        </p:nvSpPr>
        <p:spPr>
          <a:xfrm>
            <a:off x="914400" y="4315968"/>
            <a:ext cx="10363200" cy="786384"/>
          </a:xfrm>
          <a:prstGeom prst="roundRect">
            <a:avLst>
              <a:gd name="adj" fmla="val 8511"/>
            </a:avLst>
          </a:prstGeom>
          <a:solidFill>
            <a:srgbClr val="2667D8">
              <a:alpha val="7059"/>
            </a:srgbClr>
          </a:solidFill>
          <a:ln w="9525">
            <a:solidFill>
              <a:srgbClr val="2667D8"/>
            </a:solidFill>
          </a:ln>
        </p:spPr>
        <p:txBody>
          <a:bodyPr/>
          <a:lstStyle/>
          <a:p>
            <a:endParaRPr lang="en-US"/>
          </a:p>
        </p:txBody>
      </p:sp>
      <p:sp>
        <p:nvSpPr>
          <p:cNvPr id="11" name="Rectangle 10">
            <a:extLst>
              <a:ext uri="{FF2B5EF4-FFF2-40B4-BE49-F238E27FC236}">
                <a16:creationId xmlns:a16="http://schemas.microsoft.com/office/drawing/2014/main" id="{2A0BA284-80B0-441B-BAE3-BD87111114A5}"/>
              </a:ext>
            </a:extLst>
          </p:cNvPr>
          <p:cNvSpPr>
            <a:spLocks noGrp="1"/>
          </p:cNvSpPr>
          <p:nvPr/>
        </p:nvSpPr>
        <p:spPr>
          <a:xfrm>
            <a:off x="1181100" y="4462272"/>
            <a:ext cx="1952625" cy="276225"/>
          </a:xfrm>
          <a:prstGeom prst="rect">
            <a:avLst/>
          </a:prstGeom>
          <a:noFill/>
          <a:ln w="0">
            <a:noFill/>
          </a:ln>
        </p:spPr>
        <p:txBody>
          <a:bodyPr>
            <a:normAutofit fontScale="67361"/>
          </a:bodyPr>
          <a:lstStyle/>
          <a:p>
            <a:pPr>
              <a:defRPr sz="1800" b="1">
                <a:solidFill>
                  <a:srgbClr val="2667D8"/>
                </a:solidFill>
                <a:latin typeface="Arial"/>
                <a:ea typeface="Arial"/>
                <a:cs typeface="Arial"/>
              </a:defRPr>
            </a:pPr>
            <a:r>
              <a:rPr sz="1800" b="1">
                <a:solidFill>
                  <a:srgbClr val="2667D8"/>
                </a:solidFill>
                <a:latin typeface="Arial"/>
                <a:ea typeface="Arial"/>
                <a:cs typeface="Arial"/>
              </a:rPr>
              <a:t>Cách dùng đúng</a:t>
            </a:r>
          </a:p>
        </p:txBody>
      </p:sp>
      <p:sp>
        <p:nvSpPr>
          <p:cNvPr id="12" name="Rectangle 11">
            <a:extLst>
              <a:ext uri="{FF2B5EF4-FFF2-40B4-BE49-F238E27FC236}">
                <a16:creationId xmlns:a16="http://schemas.microsoft.com/office/drawing/2014/main" id="{71590AA7-BD9B-49E2-A046-617293DE7611}"/>
              </a:ext>
            </a:extLst>
          </p:cNvPr>
          <p:cNvSpPr>
            <a:spLocks noGrp="1"/>
          </p:cNvSpPr>
          <p:nvPr/>
        </p:nvSpPr>
        <p:spPr>
          <a:xfrm>
            <a:off x="3381375" y="4425696"/>
            <a:ext cx="7543800" cy="566928"/>
          </a:xfrm>
          <a:prstGeom prst="rect">
            <a:avLst/>
          </a:prstGeom>
          <a:noFill/>
          <a:ln w="0">
            <a:noFill/>
          </a:ln>
        </p:spPr>
        <p:txBody>
          <a:bodyPr>
            <a:normAutofit fontScale="91667"/>
          </a:bodyPr>
          <a:lstStyle/>
          <a:p>
            <a:pPr>
              <a:defRPr sz="1650">
                <a:solidFill>
                  <a:srgbClr val="5A6780"/>
                </a:solidFill>
                <a:latin typeface="Arial"/>
                <a:ea typeface="Arial"/>
                <a:cs typeface="Arial"/>
              </a:defRPr>
            </a:pPr>
            <a:r>
              <a:rPr sz="1650">
                <a:solidFill>
                  <a:srgbClr val="5A6780"/>
                </a:solidFill>
                <a:latin typeface="Arial"/>
                <a:ea typeface="Arial"/>
                <a:cs typeface="Arial"/>
              </a:rPr>
              <a:t>Encode về Baseline CAVLC Annex-B; hai đầu cùng khóa giấu tin và giới hạn bit/IDR; verifier chỉ cần root, VK và khóa giấu tin</a:t>
            </a:r>
          </a:p>
        </p:txBody>
      </p:sp>
      <p:sp>
        <p:nvSpPr>
          <p:cNvPr id="13" name="Rectangle 12">
            <a:extLst>
              <a:ext uri="{FF2B5EF4-FFF2-40B4-BE49-F238E27FC236}">
                <a16:creationId xmlns:a16="http://schemas.microsoft.com/office/drawing/2014/main" id="{30695898-D4BF-457E-B255-6CA286889123}"/>
              </a:ext>
            </a:extLst>
          </p:cNvPr>
          <p:cNvSpPr>
            <a:spLocks noGrp="1"/>
          </p:cNvSpPr>
          <p:nvPr/>
        </p:nvSpPr>
        <p:spPr>
          <a:xfrm>
            <a:off x="1466850" y="5504688"/>
            <a:ext cx="9239250" cy="266700"/>
          </a:xfrm>
          <a:prstGeom prst="rect">
            <a:avLst/>
          </a:prstGeom>
          <a:noFill/>
          <a:ln w="0">
            <a:noFill/>
          </a:ln>
        </p:spPr>
        <p:txBody>
          <a:bodyPr>
            <a:normAutofit fontScale="69697"/>
          </a:bodyPr>
          <a:lstStyle/>
          <a:p>
            <a:pPr>
              <a:defRPr sz="1650" b="1">
                <a:solidFill>
                  <a:srgbClr val="0B1B35"/>
                </a:solidFill>
                <a:latin typeface="Arial"/>
                <a:ea typeface="Arial"/>
                <a:cs typeface="Arial"/>
              </a:defRPr>
            </a:pPr>
            <a:r>
              <a:rPr sz="1650" b="1">
                <a:solidFill>
                  <a:srgbClr val="0B1B35"/>
                </a:solidFill>
                <a:latin typeface="Arial"/>
                <a:ea typeface="Arial"/>
                <a:cs typeface="Arial"/>
              </a:rPr>
              <a:t>Kết luận: lật dấu T1 giữ stream hợp lệ, khóa chọn vị trí, proof camera Groth16 xác thực payload và gắn nó với đúng video.</a:t>
            </a:r>
          </a:p>
        </p:txBody>
      </p:sp>
      <p:sp>
        <p:nvSpPr>
          <p:cNvPr id="14" name="Rectangle 13">
            <a:extLst>
              <a:ext uri="{FF2B5EF4-FFF2-40B4-BE49-F238E27FC236}">
                <a16:creationId xmlns:a16="http://schemas.microsoft.com/office/drawing/2014/main" id="{94105A04-AC15-467E-B9DF-B4E617D28842}"/>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15" name="Rectangle 14">
            <a:extLst>
              <a:ext uri="{FF2B5EF4-FFF2-40B4-BE49-F238E27FC236}">
                <a16:creationId xmlns:a16="http://schemas.microsoft.com/office/drawing/2014/main" id="{DEC1412A-BE55-45E7-B957-2C243E7A1A9F}"/>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19</a:t>
            </a:r>
          </a:p>
        </p:txBody>
      </p:sp>
    </p:spTree>
    <p:extLst>
      <p:ext uri="{BB962C8B-B14F-4D97-AF65-F5344CB8AC3E}">
        <p14:creationId xmlns:p14="http://schemas.microsoft.com/office/powerpoint/2010/main" val="3756576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BA9B85D8-3CCB-4E86-9838-79C1412BC6AA}"/>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Khóa và khung kênh v3 (không MAC)</a:t>
            </a:r>
          </a:p>
        </p:txBody>
      </p:sp>
      <p:sp>
        <p:nvSpPr>
          <p:cNvPr id="2" name="Rectangle 1">
            <a:extLst>
              <a:ext uri="{FF2B5EF4-FFF2-40B4-BE49-F238E27FC236}">
                <a16:creationId xmlns:a16="http://schemas.microsoft.com/office/drawing/2014/main" id="{183D9AFC-ECE3-4D23-9292-DBD1546DF259}"/>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Khóa giấu tin 32 byte sinh hai khóa con bằng HKDF-SHA256. Khung chỉ còn version, độ dài, payload; proof Groth16 là lớp xác thực.</a:t>
            </a:r>
          </a:p>
        </p:txBody>
      </p:sp>
      <p:sp>
        <p:nvSpPr>
          <p:cNvPr id="3" name="Straight Connector 2">
            <a:extLst>
              <a:ext uri="{FF2B5EF4-FFF2-40B4-BE49-F238E27FC236}">
                <a16:creationId xmlns:a16="http://schemas.microsoft.com/office/drawing/2014/main" id="{6A183C27-E115-4E8A-BB66-A65D220047E2}"/>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5" name="Rectangle: Rounded Corners 4">
            <a:extLst>
              <a:ext uri="{FF2B5EF4-FFF2-40B4-BE49-F238E27FC236}">
                <a16:creationId xmlns:a16="http://schemas.microsoft.com/office/drawing/2014/main" id="{2B6210EA-E5D4-4B08-B5A0-42296C4F7241}"/>
              </a:ext>
            </a:extLst>
          </p:cNvPr>
          <p:cNvSpPr>
            <a:spLocks noGrp="1"/>
          </p:cNvSpPr>
          <p:nvPr/>
        </p:nvSpPr>
        <p:spPr>
          <a:xfrm>
            <a:off x="514350" y="1581150"/>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6" name="Rectangle: Rounded Corners 5">
            <a:extLst>
              <a:ext uri="{FF2B5EF4-FFF2-40B4-BE49-F238E27FC236}">
                <a16:creationId xmlns:a16="http://schemas.microsoft.com/office/drawing/2014/main" id="{9611DD32-F85B-40BD-B881-5A6DF2E7D4F4}"/>
              </a:ext>
            </a:extLst>
          </p:cNvPr>
          <p:cNvSpPr>
            <a:spLocks noGrp="1"/>
          </p:cNvSpPr>
          <p:nvPr/>
        </p:nvSpPr>
        <p:spPr>
          <a:xfrm>
            <a:off x="666750" y="1733550"/>
            <a:ext cx="361950" cy="361950"/>
          </a:xfrm>
          <a:prstGeom prst="roundRect">
            <a:avLst>
              <a:gd name="adj" fmla="val 21053"/>
            </a:avLst>
          </a:prstGeom>
          <a:solidFill>
            <a:srgbClr val="2667D8">
              <a:alpha val="8627"/>
            </a:srgbClr>
          </a:solidFill>
          <a:ln w="9525">
            <a:solidFill>
              <a:srgbClr val="2667D8"/>
            </a:solidFill>
          </a:ln>
        </p:spPr>
        <p:txBody>
          <a:bodyPr/>
          <a:lstStyle/>
          <a:p>
            <a:endParaRPr lang="en-US"/>
          </a:p>
        </p:txBody>
      </p:sp>
      <p:sp>
        <p:nvSpPr>
          <p:cNvPr id="7" name="Rectangle 6">
            <a:extLst>
              <a:ext uri="{FF2B5EF4-FFF2-40B4-BE49-F238E27FC236}">
                <a16:creationId xmlns:a16="http://schemas.microsoft.com/office/drawing/2014/main" id="{43B2F69E-3C59-4EEA-B976-2844DC825547}"/>
              </a:ext>
            </a:extLst>
          </p:cNvPr>
          <p:cNvSpPr>
            <a:spLocks noGrp="1"/>
          </p:cNvSpPr>
          <p:nvPr/>
        </p:nvSpPr>
        <p:spPr>
          <a:xfrm>
            <a:off x="1143000" y="1743075"/>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HKDF khóa con</a:t>
            </a:r>
          </a:p>
        </p:txBody>
      </p:sp>
      <p:sp>
        <p:nvSpPr>
          <p:cNvPr id="8" name="Rectangle 7">
            <a:extLst>
              <a:ext uri="{FF2B5EF4-FFF2-40B4-BE49-F238E27FC236}">
                <a16:creationId xmlns:a16="http://schemas.microsoft.com/office/drawing/2014/main" id="{4B7C9B36-C4E7-4DEB-955C-37EE64D0ED35}"/>
              </a:ext>
            </a:extLst>
          </p:cNvPr>
          <p:cNvSpPr>
            <a:spLocks noGrp="1"/>
          </p:cNvSpPr>
          <p:nvPr/>
        </p:nvSpPr>
        <p:spPr>
          <a:xfrm>
            <a:off x="1143000" y="1974914"/>
            <a:ext cx="1600200" cy="304800"/>
          </a:xfrm>
          <a:prstGeom prst="rect">
            <a:avLst/>
          </a:prstGeom>
          <a:noFill/>
          <a:ln w="0">
            <a:noFill/>
          </a:ln>
        </p:spPr>
        <p:txBody>
          <a:bodyPr>
            <a:normAutofit fontScale="88991"/>
          </a:bodyPr>
          <a:lstStyle/>
          <a:p>
            <a:pPr>
              <a:defRPr sz="1200">
                <a:solidFill>
                  <a:srgbClr val="5A6780"/>
                </a:solidFill>
                <a:latin typeface="Arial"/>
                <a:ea typeface="Arial"/>
                <a:cs typeface="Arial"/>
              </a:defRPr>
            </a:pPr>
            <a:r>
              <a:rPr sz="1200">
                <a:solidFill>
                  <a:srgbClr val="5A6780"/>
                </a:solidFill>
                <a:latin typeface="Arial"/>
                <a:ea typeface="Arial"/>
                <a:cs typeface="Arial"/>
              </a:rPr>
              <a:t>khóa → 2 khóa con tách vai trò</a:t>
            </a:r>
          </a:p>
        </p:txBody>
      </p:sp>
      <p:sp>
        <p:nvSpPr>
          <p:cNvPr id="9" name="Rectangle: Rounded Corners 8">
            <a:extLst>
              <a:ext uri="{FF2B5EF4-FFF2-40B4-BE49-F238E27FC236}">
                <a16:creationId xmlns:a16="http://schemas.microsoft.com/office/drawing/2014/main" id="{DB8A1AF0-ECF6-4618-8293-0409677BA1C2}"/>
              </a:ext>
            </a:extLst>
          </p:cNvPr>
          <p:cNvSpPr>
            <a:spLocks noGrp="1"/>
          </p:cNvSpPr>
          <p:nvPr/>
        </p:nvSpPr>
        <p:spPr>
          <a:xfrm>
            <a:off x="514350" y="2543175"/>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10" name="Rectangle: Rounded Corners 9">
            <a:extLst>
              <a:ext uri="{FF2B5EF4-FFF2-40B4-BE49-F238E27FC236}">
                <a16:creationId xmlns:a16="http://schemas.microsoft.com/office/drawing/2014/main" id="{D0B570E4-0675-4051-8516-A5202230F238}"/>
              </a:ext>
            </a:extLst>
          </p:cNvPr>
          <p:cNvSpPr>
            <a:spLocks noGrp="1"/>
          </p:cNvSpPr>
          <p:nvPr/>
        </p:nvSpPr>
        <p:spPr>
          <a:xfrm>
            <a:off x="666750" y="2695575"/>
            <a:ext cx="361950" cy="361950"/>
          </a:xfrm>
          <a:prstGeom prst="roundRect">
            <a:avLst>
              <a:gd name="adj" fmla="val 21053"/>
            </a:avLst>
          </a:prstGeom>
          <a:solidFill>
            <a:srgbClr val="16A4C7">
              <a:alpha val="8627"/>
            </a:srgbClr>
          </a:solidFill>
          <a:ln w="9525">
            <a:solidFill>
              <a:srgbClr val="16A4C7"/>
            </a:solidFill>
          </a:ln>
        </p:spPr>
        <p:txBody>
          <a:bodyPr/>
          <a:lstStyle/>
          <a:p>
            <a:endParaRPr lang="en-US"/>
          </a:p>
        </p:txBody>
      </p:sp>
      <p:sp>
        <p:nvSpPr>
          <p:cNvPr id="11" name="Rectangle 10">
            <a:extLst>
              <a:ext uri="{FF2B5EF4-FFF2-40B4-BE49-F238E27FC236}">
                <a16:creationId xmlns:a16="http://schemas.microsoft.com/office/drawing/2014/main" id="{CAC00F4F-91B7-4B3F-AA2E-DF79EF25073A}"/>
              </a:ext>
            </a:extLst>
          </p:cNvPr>
          <p:cNvSpPr>
            <a:spLocks noGrp="1"/>
          </p:cNvSpPr>
          <p:nvPr/>
        </p:nvSpPr>
        <p:spPr>
          <a:xfrm>
            <a:off x="1143000" y="2705100"/>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Khung v3</a:t>
            </a:r>
          </a:p>
        </p:txBody>
      </p:sp>
      <p:sp>
        <p:nvSpPr>
          <p:cNvPr id="12" name="Rectangle 11">
            <a:extLst>
              <a:ext uri="{FF2B5EF4-FFF2-40B4-BE49-F238E27FC236}">
                <a16:creationId xmlns:a16="http://schemas.microsoft.com/office/drawing/2014/main" id="{1B70B37E-392F-4A9F-9609-8D36F8DE18AA}"/>
              </a:ext>
            </a:extLst>
          </p:cNvPr>
          <p:cNvSpPr>
            <a:spLocks noGrp="1"/>
          </p:cNvSpPr>
          <p:nvPr/>
        </p:nvSpPr>
        <p:spPr>
          <a:xfrm>
            <a:off x="1143000" y="2905125"/>
            <a:ext cx="1600200" cy="304800"/>
          </a:xfrm>
          <a:prstGeom prst="rect">
            <a:avLst/>
          </a:prstGeom>
          <a:noFill/>
          <a:ln w="0">
            <a:noFill/>
          </a:ln>
        </p:spPr>
        <p:txBody>
          <a:bodyPr>
            <a:noAutofit/>
          </a:bodyPr>
          <a:lstStyle/>
          <a:p>
            <a:pPr>
              <a:defRPr sz="1200">
                <a:solidFill>
                  <a:srgbClr val="5A6780"/>
                </a:solidFill>
                <a:latin typeface="Arial"/>
                <a:ea typeface="Arial"/>
                <a:cs typeface="Arial"/>
              </a:defRPr>
            </a:pPr>
            <a:r>
              <a:rPr sz="1200">
                <a:solidFill>
                  <a:srgbClr val="5A6780"/>
                </a:solidFill>
                <a:latin typeface="Arial"/>
                <a:ea typeface="Arial"/>
                <a:cs typeface="Arial"/>
              </a:rPr>
              <a:t>version, độ dài, payload</a:t>
            </a:r>
          </a:p>
        </p:txBody>
      </p:sp>
      <p:sp>
        <p:nvSpPr>
          <p:cNvPr id="13" name="Rectangle: Rounded Corners 12">
            <a:extLst>
              <a:ext uri="{FF2B5EF4-FFF2-40B4-BE49-F238E27FC236}">
                <a16:creationId xmlns:a16="http://schemas.microsoft.com/office/drawing/2014/main" id="{37FDAC00-8AD9-4506-84F8-F79CE4C49539}"/>
              </a:ext>
            </a:extLst>
          </p:cNvPr>
          <p:cNvSpPr>
            <a:spLocks noGrp="1"/>
          </p:cNvSpPr>
          <p:nvPr/>
        </p:nvSpPr>
        <p:spPr>
          <a:xfrm>
            <a:off x="514350" y="3505200"/>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14" name="Rectangle: Rounded Corners 13">
            <a:extLst>
              <a:ext uri="{FF2B5EF4-FFF2-40B4-BE49-F238E27FC236}">
                <a16:creationId xmlns:a16="http://schemas.microsoft.com/office/drawing/2014/main" id="{C6D276A1-3642-492F-9BF9-BF584766990D}"/>
              </a:ext>
            </a:extLst>
          </p:cNvPr>
          <p:cNvSpPr>
            <a:spLocks noGrp="1"/>
          </p:cNvSpPr>
          <p:nvPr/>
        </p:nvSpPr>
        <p:spPr>
          <a:xfrm>
            <a:off x="666750" y="3657600"/>
            <a:ext cx="361950" cy="361950"/>
          </a:xfrm>
          <a:prstGeom prst="roundRect">
            <a:avLst>
              <a:gd name="adj" fmla="val 21053"/>
            </a:avLst>
          </a:prstGeom>
          <a:solidFill>
            <a:srgbClr val="F2994A">
              <a:alpha val="8627"/>
            </a:srgbClr>
          </a:solidFill>
          <a:ln w="9525">
            <a:solidFill>
              <a:srgbClr val="F2994A"/>
            </a:solidFill>
          </a:ln>
        </p:spPr>
        <p:txBody>
          <a:bodyPr/>
          <a:lstStyle/>
          <a:p>
            <a:endParaRPr lang="en-US"/>
          </a:p>
        </p:txBody>
      </p:sp>
      <p:sp>
        <p:nvSpPr>
          <p:cNvPr id="15" name="Rectangle 14">
            <a:extLst>
              <a:ext uri="{FF2B5EF4-FFF2-40B4-BE49-F238E27FC236}">
                <a16:creationId xmlns:a16="http://schemas.microsoft.com/office/drawing/2014/main" id="{7867E2CB-35E0-4EB6-A0EC-3856DBEF627D}"/>
              </a:ext>
            </a:extLst>
          </p:cNvPr>
          <p:cNvSpPr>
            <a:spLocks noGrp="1"/>
          </p:cNvSpPr>
          <p:nvPr/>
        </p:nvSpPr>
        <p:spPr>
          <a:xfrm>
            <a:off x="1143000" y="3667125"/>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Làm trắng</a:t>
            </a:r>
          </a:p>
        </p:txBody>
      </p:sp>
      <p:sp>
        <p:nvSpPr>
          <p:cNvPr id="16" name="Rectangle 15">
            <a:extLst>
              <a:ext uri="{FF2B5EF4-FFF2-40B4-BE49-F238E27FC236}">
                <a16:creationId xmlns:a16="http://schemas.microsoft.com/office/drawing/2014/main" id="{E9D187FA-7A0E-43A2-93DB-FEF468B1C800}"/>
              </a:ext>
            </a:extLst>
          </p:cNvPr>
          <p:cNvSpPr>
            <a:spLocks noGrp="1"/>
          </p:cNvSpPr>
          <p:nvPr/>
        </p:nvSpPr>
        <p:spPr>
          <a:xfrm>
            <a:off x="1143000" y="3880485"/>
            <a:ext cx="1600200" cy="304800"/>
          </a:xfrm>
          <a:prstGeom prst="rect">
            <a:avLst/>
          </a:prstGeom>
          <a:noFill/>
          <a:ln w="0">
            <a:noFill/>
          </a:ln>
        </p:spPr>
        <p:txBody>
          <a:bodyPr>
            <a:noAutofit/>
          </a:bodyPr>
          <a:lstStyle/>
          <a:p>
            <a:pPr>
              <a:defRPr sz="1200">
                <a:solidFill>
                  <a:srgbClr val="5A6780"/>
                </a:solidFill>
                <a:latin typeface="Arial"/>
                <a:ea typeface="Arial"/>
                <a:cs typeface="Arial"/>
              </a:defRPr>
            </a:pPr>
            <a:r>
              <a:rPr sz="1200">
                <a:solidFill>
                  <a:srgbClr val="5A6780"/>
                </a:solidFill>
                <a:latin typeface="Arial"/>
                <a:ea typeface="Arial"/>
                <a:cs typeface="Arial"/>
              </a:rPr>
              <a:t>bit nhúng = f XOR keystream</a:t>
            </a:r>
          </a:p>
        </p:txBody>
      </p:sp>
      <p:sp>
        <p:nvSpPr>
          <p:cNvPr id="17" name="Rectangle: Rounded Corners 16">
            <a:extLst>
              <a:ext uri="{FF2B5EF4-FFF2-40B4-BE49-F238E27FC236}">
                <a16:creationId xmlns:a16="http://schemas.microsoft.com/office/drawing/2014/main" id="{37A90634-2E13-46D4-B568-B9E6203DC77B}"/>
              </a:ext>
            </a:extLst>
          </p:cNvPr>
          <p:cNvSpPr>
            <a:spLocks noGrp="1"/>
          </p:cNvSpPr>
          <p:nvPr/>
        </p:nvSpPr>
        <p:spPr>
          <a:xfrm>
            <a:off x="514350" y="4467225"/>
            <a:ext cx="2381250" cy="857250"/>
          </a:xfrm>
          <a:prstGeom prst="roundRect">
            <a:avLst>
              <a:gd name="adj" fmla="val 8889"/>
            </a:avLst>
          </a:prstGeom>
          <a:solidFill>
            <a:srgbClr val="FFFFFF"/>
          </a:solidFill>
          <a:ln w="9525">
            <a:solidFill>
              <a:srgbClr val="D6DFEB"/>
            </a:solidFill>
          </a:ln>
        </p:spPr>
        <p:txBody>
          <a:bodyPr/>
          <a:lstStyle/>
          <a:p>
            <a:endParaRPr lang="en-US"/>
          </a:p>
        </p:txBody>
      </p:sp>
      <p:sp>
        <p:nvSpPr>
          <p:cNvPr id="18" name="Rectangle: Rounded Corners 17">
            <a:extLst>
              <a:ext uri="{FF2B5EF4-FFF2-40B4-BE49-F238E27FC236}">
                <a16:creationId xmlns:a16="http://schemas.microsoft.com/office/drawing/2014/main" id="{6E344028-5453-4536-A1C9-347897C4C420}"/>
              </a:ext>
            </a:extLst>
          </p:cNvPr>
          <p:cNvSpPr>
            <a:spLocks noGrp="1"/>
          </p:cNvSpPr>
          <p:nvPr/>
        </p:nvSpPr>
        <p:spPr>
          <a:xfrm>
            <a:off x="666750" y="4619625"/>
            <a:ext cx="361950" cy="361950"/>
          </a:xfrm>
          <a:prstGeom prst="roundRect">
            <a:avLst>
              <a:gd name="adj" fmla="val 21053"/>
            </a:avLst>
          </a:prstGeom>
          <a:solidFill>
            <a:srgbClr val="25A36F">
              <a:alpha val="8627"/>
            </a:srgbClr>
          </a:solidFill>
          <a:ln w="9525">
            <a:solidFill>
              <a:srgbClr val="25A36F"/>
            </a:solidFill>
          </a:ln>
        </p:spPr>
        <p:txBody>
          <a:bodyPr/>
          <a:lstStyle/>
          <a:p>
            <a:endParaRPr lang="en-US"/>
          </a:p>
        </p:txBody>
      </p:sp>
      <p:sp>
        <p:nvSpPr>
          <p:cNvPr id="19" name="Rectangle 18">
            <a:extLst>
              <a:ext uri="{FF2B5EF4-FFF2-40B4-BE49-F238E27FC236}">
                <a16:creationId xmlns:a16="http://schemas.microsoft.com/office/drawing/2014/main" id="{713A12DE-F5B2-4A97-AF67-43699D59F951}"/>
              </a:ext>
            </a:extLst>
          </p:cNvPr>
          <p:cNvSpPr>
            <a:spLocks noGrp="1"/>
          </p:cNvSpPr>
          <p:nvPr/>
        </p:nvSpPr>
        <p:spPr>
          <a:xfrm>
            <a:off x="1143000" y="4629150"/>
            <a:ext cx="1600200"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Sai khóa</a:t>
            </a:r>
          </a:p>
        </p:txBody>
      </p:sp>
      <p:sp>
        <p:nvSpPr>
          <p:cNvPr id="20" name="Rectangle 19">
            <a:extLst>
              <a:ext uri="{FF2B5EF4-FFF2-40B4-BE49-F238E27FC236}">
                <a16:creationId xmlns:a16="http://schemas.microsoft.com/office/drawing/2014/main" id="{167D2489-3625-4B7A-B28E-A1AC6F434338}"/>
              </a:ext>
            </a:extLst>
          </p:cNvPr>
          <p:cNvSpPr>
            <a:spLocks noGrp="1"/>
          </p:cNvSpPr>
          <p:nvPr/>
        </p:nvSpPr>
        <p:spPr>
          <a:xfrm>
            <a:off x="1143000" y="4867275"/>
            <a:ext cx="1600200" cy="304800"/>
          </a:xfrm>
          <a:prstGeom prst="rect">
            <a:avLst/>
          </a:prstGeom>
          <a:noFill/>
          <a:ln w="0">
            <a:noFill/>
          </a:ln>
        </p:spPr>
        <p:txBody>
          <a:bodyPr>
            <a:noAutofit/>
          </a:bodyPr>
          <a:lstStyle/>
          <a:p>
            <a:pPr>
              <a:defRPr sz="1200">
                <a:solidFill>
                  <a:srgbClr val="5A6780"/>
                </a:solidFill>
                <a:latin typeface="Arial"/>
                <a:ea typeface="Arial"/>
                <a:cs typeface="Arial"/>
              </a:defRPr>
            </a:pPr>
            <a:r>
              <a:rPr sz="1200">
                <a:solidFill>
                  <a:srgbClr val="5A6780"/>
                </a:solidFill>
                <a:latin typeface="Arial"/>
                <a:ea typeface="Arial"/>
                <a:cs typeface="Arial"/>
              </a:rPr>
              <a:t>version/độ dài sai → từ chối</a:t>
            </a:r>
          </a:p>
        </p:txBody>
      </p:sp>
      <p:sp>
        <p:nvSpPr>
          <p:cNvPr id="25" name="Diagram Secret"/>
          <p:cNvSpPr/>
          <p:nvPr/>
        </p:nvSpPr>
        <p:spPr>
          <a:xfrm>
            <a:off x="3246120" y="1874519"/>
            <a:ext cx="1325880" cy="411480"/>
          </a:xfrm>
          <a:prstGeom prst="roundRect">
            <a:avLst>
              <a:gd name="adj" fmla="val 20000"/>
            </a:avLst>
          </a:prstGeom>
          <a:solidFill>
            <a:srgbClr val="10213D"/>
          </a:solidFill>
          <a:ln w="0">
            <a:noFill/>
          </a:ln>
        </p:spPr>
        <p:txBody>
          <a:bodyPr wrap="square" lIns="64008" tIns="27432" rIns="64008" bIns="27432" anchor="ctr" rtlCol="0">
            <a:noAutofit/>
          </a:bodyPr>
          <a:lstStyle/>
          <a:p>
            <a:pPr algn="ctr"/>
            <a:r>
              <a:rPr lang="vi-VN" sz="1200" b="1">
                <a:solidFill>
                  <a:srgbClr val="FFFFFF"/>
                </a:solidFill>
                <a:latin typeface="Arial"/>
                <a:ea typeface="Arial"/>
                <a:cs typeface="Arial"/>
              </a:rPr>
              <a:t>khóa 32 B</a:t>
            </a:r>
          </a:p>
        </p:txBody>
      </p:sp>
      <p:sp>
        <p:nvSpPr>
          <p:cNvPr id="26" name="Diagram HKDF"/>
          <p:cNvSpPr/>
          <p:nvPr/>
        </p:nvSpPr>
        <p:spPr>
          <a:xfrm>
            <a:off x="4617720" y="1874519"/>
            <a:ext cx="1645920" cy="411480"/>
          </a:xfrm>
          <a:prstGeom prst="rect">
            <a:avLst/>
          </a:prstGeom>
          <a:noFill/>
          <a:ln w="0">
            <a:noFill/>
          </a:ln>
        </p:spPr>
        <p:txBody>
          <a:bodyPr wrap="square" lIns="64008" tIns="27432" rIns="64008" bIns="27432" anchor="ctr" rtlCol="0">
            <a:noAutofit/>
          </a:bodyPr>
          <a:lstStyle/>
          <a:p>
            <a:pPr algn="ctr"/>
            <a:r>
              <a:rPr lang="vi-VN" sz="1100" b="1">
                <a:solidFill>
                  <a:srgbClr val="5A6780"/>
                </a:solidFill>
                <a:latin typeface="Arial"/>
                <a:ea typeface="Arial"/>
                <a:cs typeface="Arial"/>
              </a:rPr>
              <a:t>HKDF-SHA256 →</a:t>
            </a:r>
          </a:p>
        </p:txBody>
      </p:sp>
      <p:sp>
        <p:nvSpPr>
          <p:cNvPr id="27" name="Diagram Key 1"/>
          <p:cNvSpPr/>
          <p:nvPr/>
        </p:nvSpPr>
        <p:spPr>
          <a:xfrm>
            <a:off x="6309360" y="1517904"/>
            <a:ext cx="4937760" cy="329184"/>
          </a:xfrm>
          <a:prstGeom prst="roundRect">
            <a:avLst>
              <a:gd name="adj" fmla="val 30000"/>
            </a:avLst>
          </a:prstGeom>
          <a:solidFill>
            <a:srgbClr val="7555D9">
              <a:alpha val="12000"/>
            </a:srgbClr>
          </a:solidFill>
          <a:ln w="12700">
            <a:solidFill>
              <a:srgbClr val="7555D9"/>
            </a:solidFill>
          </a:ln>
        </p:spPr>
        <p:txBody>
          <a:bodyPr wrap="square" lIns="64008" tIns="27432" rIns="64008" bIns="27432" anchor="ctr" rtlCol="0">
            <a:noAutofit/>
          </a:bodyPr>
          <a:lstStyle/>
          <a:p>
            <a:pPr algn="l"/>
            <a:r>
              <a:rPr lang="vi-VN" sz="1100" b="1">
                <a:solidFill>
                  <a:srgbClr val="10213D"/>
                </a:solidFill>
                <a:latin typeface="Arial"/>
                <a:ea typeface="Arial"/>
                <a:cs typeface="Arial"/>
              </a:rPr>
              <a:t>schedule_key</a:t>
            </a:r>
            <a:r>
              <a:rPr lang="vi-VN" sz="1100">
                <a:solidFill>
                  <a:srgbClr val="5A6780"/>
                </a:solidFill>
                <a:latin typeface="Arial"/>
                <a:ea typeface="Arial"/>
                <a:cs typeface="Arial"/>
              </a:rPr>
              <a:t xml:space="preserve"> → lịch: chọn vị trí dấu T1 trong mỗi IDR</a:t>
            </a:r>
          </a:p>
        </p:txBody>
      </p:sp>
      <p:sp>
        <p:nvSpPr>
          <p:cNvPr id="28" name="Diagram Key 2"/>
          <p:cNvSpPr/>
          <p:nvPr/>
        </p:nvSpPr>
        <p:spPr>
          <a:xfrm>
            <a:off x="6309360" y="1911095"/>
            <a:ext cx="4937760" cy="329184"/>
          </a:xfrm>
          <a:prstGeom prst="roundRect">
            <a:avLst>
              <a:gd name="adj" fmla="val 30000"/>
            </a:avLst>
          </a:prstGeom>
          <a:solidFill>
            <a:srgbClr val="9AA4B2">
              <a:alpha val="12000"/>
            </a:srgbClr>
          </a:solidFill>
          <a:ln w="12700">
            <a:solidFill>
              <a:srgbClr val="9AA4B2"/>
            </a:solidFill>
          </a:ln>
        </p:spPr>
        <p:txBody>
          <a:bodyPr wrap="square" lIns="64008" tIns="27432" rIns="64008" bIns="27432" anchor="ctr" rtlCol="0">
            <a:noAutofit/>
          </a:bodyPr>
          <a:lstStyle/>
          <a:p>
            <a:pPr algn="l"/>
            <a:r>
              <a:rPr lang="vi-VN" sz="1100" b="1">
                <a:solidFill>
                  <a:srgbClr val="8B96A8"/>
                </a:solidFill>
                <a:latin typeface="Arial"/>
                <a:ea typeface="Arial"/>
                <a:cs typeface="Arial"/>
              </a:rPr>
              <a:t>frame_key</a:t>
            </a:r>
            <a:r>
              <a:rPr lang="vi-VN" sz="1100">
                <a:solidFill>
                  <a:srgbClr val="8B96A8"/>
                </a:solidFill>
                <a:latin typeface="Arial"/>
                <a:ea typeface="Arial"/>
                <a:cs typeface="Arial"/>
              </a:rPr>
              <a:t xml:space="preserve"> → tag HMAC 16 byte (v2): đã bỏ ở v3</a:t>
            </a:r>
          </a:p>
        </p:txBody>
      </p:sp>
      <p:sp>
        <p:nvSpPr>
          <p:cNvPr id="29" name="Diagram Key 3"/>
          <p:cNvSpPr/>
          <p:nvPr/>
        </p:nvSpPr>
        <p:spPr>
          <a:xfrm>
            <a:off x="6309360" y="2304288"/>
            <a:ext cx="4937760" cy="329184"/>
          </a:xfrm>
          <a:prstGeom prst="roundRect">
            <a:avLst>
              <a:gd name="adj" fmla="val 30000"/>
            </a:avLst>
          </a:prstGeom>
          <a:solidFill>
            <a:srgbClr val="F2994A">
              <a:alpha val="12000"/>
            </a:srgbClr>
          </a:solidFill>
          <a:ln w="12700">
            <a:solidFill>
              <a:srgbClr val="F2994A"/>
            </a:solidFill>
          </a:ln>
        </p:spPr>
        <p:txBody>
          <a:bodyPr wrap="square" lIns="64008" tIns="27432" rIns="64008" bIns="27432" anchor="ctr" rtlCol="0">
            <a:noAutofit/>
          </a:bodyPr>
          <a:lstStyle/>
          <a:p>
            <a:pPr algn="l"/>
            <a:r>
              <a:rPr lang="vi-VN" sz="1100" b="1">
                <a:solidFill>
                  <a:srgbClr val="10213D"/>
                </a:solidFill>
                <a:latin typeface="Arial"/>
                <a:ea typeface="Arial"/>
                <a:cs typeface="Arial"/>
              </a:rPr>
              <a:t>whitening_key</a:t>
            </a:r>
            <a:r>
              <a:rPr lang="vi-VN" sz="1100">
                <a:solidFill>
                  <a:srgbClr val="5A6780"/>
                </a:solidFill>
                <a:latin typeface="Arial"/>
                <a:ea typeface="Arial"/>
                <a:cs typeface="Arial"/>
              </a:rPr>
              <a:t xml:space="preserve"> → keystream để làm trắng bit khung</a:t>
            </a:r>
          </a:p>
        </p:txBody>
      </p:sp>
      <p:sp>
        <p:nvSpPr>
          <p:cNvPr id="30" name="Diagram Frame Label"/>
          <p:cNvSpPr/>
          <p:nvPr/>
        </p:nvSpPr>
        <p:spPr>
          <a:xfrm>
            <a:off x="3246120" y="2798064"/>
            <a:ext cx="8001000" cy="256032"/>
          </a:xfrm>
          <a:prstGeom prst="rect">
            <a:avLst/>
          </a:prstGeom>
          <a:noFill/>
          <a:ln w="0">
            <a:noFill/>
          </a:ln>
        </p:spPr>
        <p:txBody>
          <a:bodyPr wrap="square" lIns="64008" tIns="27432" rIns="64008" bIns="27432" anchor="ctr" rtlCol="0">
            <a:noAutofit/>
          </a:bodyPr>
          <a:lstStyle/>
          <a:p>
            <a:pPr algn="l"/>
            <a:r>
              <a:rPr lang="vi-VN" sz="1050" b="1">
                <a:solidFill>
                  <a:srgbClr val="5A6780"/>
                </a:solidFill>
                <a:latin typeface="Arial"/>
                <a:ea typeface="Arial"/>
                <a:cs typeface="Arial"/>
              </a:rPr>
              <a:t>Khung v3 (f)  =  1 + 2 + payload byte   (không có tag)</a:t>
            </a:r>
          </a:p>
        </p:txBody>
      </p:sp>
      <p:sp>
        <p:nvSpPr>
          <p:cNvPr id="31" name="Diagram Field 1"/>
          <p:cNvSpPr/>
          <p:nvPr/>
        </p:nvSpPr>
        <p:spPr>
          <a:xfrm>
            <a:off x="3246120" y="3072384"/>
            <a:ext cx="1005840" cy="530352"/>
          </a:xfrm>
          <a:prstGeom prst="rect">
            <a:avLst/>
          </a:prstGeom>
          <a:solidFill>
            <a:srgbClr val="7555D9">
              <a:alpha val="16000"/>
            </a:srgbClr>
          </a:solidFill>
          <a:ln w="12700">
            <a:solidFill>
              <a:srgbClr val="7555D9"/>
            </a:solidFill>
          </a:ln>
        </p:spPr>
        <p:txBody>
          <a:bodyPr wrap="square" lIns="64008" tIns="27432" rIns="64008" bIns="27432" anchor="ctr" rtlCol="0">
            <a:noAutofit/>
          </a:bodyPr>
          <a:lstStyle/>
          <a:p>
            <a:pPr algn="ctr"/>
            <a:r>
              <a:rPr lang="vi-VN" sz="1150" b="1">
                <a:solidFill>
                  <a:srgbClr val="10213D"/>
                </a:solidFill>
                <a:latin typeface="Arial"/>
                <a:ea typeface="Arial"/>
                <a:cs typeface="Arial"/>
              </a:rPr>
              <a:t>0x03</a:t>
            </a:r>
          </a:p>
          <a:p>
            <a:pPr algn="ctr"/>
            <a:r>
              <a:rPr lang="vi-VN" sz="950">
                <a:solidFill>
                  <a:srgbClr val="5A6780"/>
                </a:solidFill>
                <a:latin typeface="Arial"/>
                <a:ea typeface="Arial"/>
                <a:cs typeface="Arial"/>
              </a:rPr>
              <a:t>version</a:t>
            </a:r>
          </a:p>
        </p:txBody>
      </p:sp>
      <p:sp>
        <p:nvSpPr>
          <p:cNvPr id="32" name="Diagram Field 2"/>
          <p:cNvSpPr/>
          <p:nvPr/>
        </p:nvSpPr>
        <p:spPr>
          <a:xfrm>
            <a:off x="4251960" y="3072384"/>
            <a:ext cx="960120" cy="530352"/>
          </a:xfrm>
          <a:prstGeom prst="rect">
            <a:avLst/>
          </a:prstGeom>
          <a:solidFill>
            <a:srgbClr val="16A4C7">
              <a:alpha val="16000"/>
            </a:srgbClr>
          </a:solidFill>
          <a:ln w="12700">
            <a:solidFill>
              <a:srgbClr val="16A4C7"/>
            </a:solidFill>
          </a:ln>
        </p:spPr>
        <p:txBody>
          <a:bodyPr wrap="square" lIns="64008" tIns="27432" rIns="64008" bIns="27432" anchor="ctr" rtlCol="0">
            <a:noAutofit/>
          </a:bodyPr>
          <a:lstStyle/>
          <a:p>
            <a:pPr algn="ctr"/>
            <a:r>
              <a:rPr lang="vi-VN" sz="1150" b="1">
                <a:solidFill>
                  <a:srgbClr val="10213D"/>
                </a:solidFill>
                <a:latin typeface="Arial"/>
                <a:ea typeface="Arial"/>
                <a:cs typeface="Arial"/>
              </a:rPr>
              <a:t>len</a:t>
            </a:r>
          </a:p>
          <a:p>
            <a:pPr algn="ctr"/>
            <a:r>
              <a:rPr lang="vi-VN" sz="950">
                <a:solidFill>
                  <a:srgbClr val="5A6780"/>
                </a:solidFill>
                <a:latin typeface="Arial"/>
                <a:ea typeface="Arial"/>
                <a:cs typeface="Arial"/>
              </a:rPr>
              <a:t>2 byte</a:t>
            </a:r>
          </a:p>
        </p:txBody>
      </p:sp>
      <p:sp>
        <p:nvSpPr>
          <p:cNvPr id="33" name="Diagram Field 3"/>
          <p:cNvSpPr/>
          <p:nvPr/>
        </p:nvSpPr>
        <p:spPr>
          <a:xfrm>
            <a:off x="5212080" y="3072384"/>
            <a:ext cx="6035040" cy="530352"/>
          </a:xfrm>
          <a:prstGeom prst="rect">
            <a:avLst/>
          </a:prstGeom>
          <a:solidFill>
            <a:srgbClr val="F2994A">
              <a:alpha val="16000"/>
            </a:srgbClr>
          </a:solidFill>
          <a:ln w="12700">
            <a:solidFill>
              <a:srgbClr val="F2994A"/>
            </a:solidFill>
          </a:ln>
        </p:spPr>
        <p:txBody>
          <a:bodyPr wrap="square" lIns="64008" tIns="27432" rIns="64008" bIns="27432" anchor="ctr" rtlCol="0">
            <a:noAutofit/>
          </a:bodyPr>
          <a:lstStyle/>
          <a:p>
            <a:pPr algn="ctr"/>
            <a:r>
              <a:rPr lang="vi-VN" sz="1150" b="1">
                <a:solidFill>
                  <a:srgbClr val="10213D"/>
                </a:solidFill>
                <a:latin typeface="Arial"/>
                <a:ea typeface="Arial"/>
                <a:cs typeface="Arial"/>
              </a:rPr>
              <a:t>payload</a:t>
            </a:r>
          </a:p>
          <a:p>
            <a:pPr algn="ctr"/>
            <a:r>
              <a:rPr lang="vi-VN" sz="950">
                <a:solidFill>
                  <a:srgbClr val="5A6780"/>
                </a:solidFill>
                <a:latin typeface="Arial"/>
                <a:ea typeface="Arial"/>
                <a:cs typeface="Arial"/>
              </a:rPr>
              <a:t>[0x01][mode][len 2B][message][proof 129 B]</a:t>
            </a:r>
          </a:p>
        </p:txBody>
      </p:sp>
      <p:sp>
        <p:nvSpPr>
          <p:cNvPr id="35" name="Diagram Keystream"/>
          <p:cNvSpPr/>
          <p:nvPr/>
        </p:nvSpPr>
        <p:spPr>
          <a:xfrm>
            <a:off x="3246120" y="3749039"/>
            <a:ext cx="8001000" cy="384048"/>
          </a:xfrm>
          <a:prstGeom prst="rect">
            <a:avLst/>
          </a:prstGeom>
          <a:solidFill>
            <a:srgbClr val="F3F5F9"/>
          </a:solidFill>
          <a:ln w="12700">
            <a:solidFill>
              <a:srgbClr val="8B96A8"/>
            </a:solidFill>
            <a:prstDash val="dash"/>
          </a:ln>
        </p:spPr>
        <p:txBody>
          <a:bodyPr wrap="square" lIns="64008" tIns="27432" rIns="64008" bIns="27432" anchor="ctr" rtlCol="0">
            <a:noAutofit/>
          </a:bodyPr>
          <a:lstStyle/>
          <a:p>
            <a:pPr algn="ctr"/>
            <a:r>
              <a:rPr lang="vi-VN" sz="1150" b="1">
                <a:solidFill>
                  <a:srgbClr val="10213D"/>
                </a:solidFill>
                <a:latin typeface="Arial"/>
                <a:ea typeface="Arial"/>
                <a:cs typeface="Arial"/>
              </a:rPr>
              <a:t xml:space="preserve">XOR  </a:t>
            </a:r>
            <a:r>
              <a:rPr lang="vi-VN" sz="1050">
                <a:solidFill>
                  <a:srgbClr val="5A6780"/>
                </a:solidFill>
                <a:latin typeface="Arial"/>
                <a:ea typeface="Arial"/>
                <a:cs typeface="Arial"/>
              </a:rPr>
              <a:t>keystream k = HMAC(whitening_key, 0) ‖ HMAC(whitening_key, 1) ‖ …</a:t>
            </a:r>
          </a:p>
        </p:txBody>
      </p:sp>
      <p:sp>
        <p:nvSpPr>
          <p:cNvPr id="36" name="Diagram Embedded"/>
          <p:cNvSpPr/>
          <p:nvPr/>
        </p:nvSpPr>
        <p:spPr>
          <a:xfrm>
            <a:off x="3246120" y="4261104"/>
            <a:ext cx="8001000" cy="411480"/>
          </a:xfrm>
          <a:prstGeom prst="rect">
            <a:avLst/>
          </a:prstGeom>
          <a:solidFill>
            <a:srgbClr val="10213D"/>
          </a:solidFill>
          <a:ln w="0">
            <a:noFill/>
          </a:ln>
        </p:spPr>
        <p:txBody>
          <a:bodyPr wrap="square" lIns="64008" tIns="27432" rIns="64008" bIns="27432" anchor="ctr" rtlCol="0">
            <a:noAutofit/>
          </a:bodyPr>
          <a:lstStyle/>
          <a:p>
            <a:pPr algn="ctr"/>
            <a:r>
              <a:rPr lang="vi-VN" sz="1100" b="1">
                <a:solidFill>
                  <a:srgbClr val="FFFFFF"/>
                </a:solidFill>
                <a:latin typeface="Arial"/>
                <a:ea typeface="Arial"/>
                <a:cs typeface="Arial"/>
              </a:rPr>
              <a:t>=  bit nhúng e (trông như ngẫu nhiên)  →  lịch HMAC từng IDR  →  dấu T1</a:t>
            </a:r>
          </a:p>
        </p:txBody>
      </p:sp>
      <p:sp>
        <p:nvSpPr>
          <p:cNvPr id="37" name="Diagram Reject"/>
          <p:cNvSpPr/>
          <p:nvPr/>
        </p:nvSpPr>
        <p:spPr>
          <a:xfrm>
            <a:off x="3246120" y="4818888"/>
            <a:ext cx="8001000" cy="457200"/>
          </a:xfrm>
          <a:prstGeom prst="roundRect">
            <a:avLst>
              <a:gd name="adj" fmla="val 14000"/>
            </a:avLst>
          </a:prstGeom>
          <a:solidFill>
            <a:srgbClr val="FFF0F0"/>
          </a:solidFill>
          <a:ln w="12700">
            <a:solidFill>
              <a:srgbClr val="F1B6B6"/>
            </a:solidFill>
          </a:ln>
        </p:spPr>
        <p:txBody>
          <a:bodyPr wrap="square" lIns="64008" tIns="27432" rIns="64008" bIns="27432" anchor="ctr" rtlCol="0">
            <a:noAutofit/>
          </a:bodyPr>
          <a:lstStyle/>
          <a:p>
            <a:pPr algn="ctr"/>
            <a:r>
              <a:rPr lang="vi-VN" sz="1050" b="1">
                <a:solidFill>
                  <a:srgbClr val="A92B2B"/>
                </a:solidFill>
                <a:latin typeface="Arial"/>
                <a:ea typeface="Arial"/>
                <a:cs typeface="Arial"/>
              </a:rPr>
              <a:t>Bỏ làm trắng → version ≠ 0x03 hoặc độ dài vượt giới hạn ⇒ từ chối (sai khóa); payload bị sửa ⇒ Groth16 từ chối</a:t>
            </a:r>
          </a:p>
        </p:txBody>
      </p:sp>
      <p:sp>
        <p:nvSpPr>
          <p:cNvPr id="21" name="Rectangle 20">
            <a:extLst>
              <a:ext uri="{FF2B5EF4-FFF2-40B4-BE49-F238E27FC236}">
                <a16:creationId xmlns:a16="http://schemas.microsoft.com/office/drawing/2014/main" id="{455B5207-EF46-44A1-80D7-5DF2500D5CA5}"/>
              </a:ext>
            </a:extLst>
          </p:cNvPr>
          <p:cNvSpPr>
            <a:spLocks noGrp="1"/>
          </p:cNvSpPr>
          <p:nvPr/>
        </p:nvSpPr>
        <p:spPr>
          <a:xfrm>
            <a:off x="3048000" y="5600700"/>
            <a:ext cx="832485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13 — v2 còn tag HMAC 16 byte; v3 bỏ vì Groth16 đã bắt mọi sửa message/proof, tiết kiệm 128 bit (2 IDR ở 64 bit/IDR).</a:t>
            </a:r>
          </a:p>
        </p:txBody>
      </p:sp>
      <p:sp>
        <p:nvSpPr>
          <p:cNvPr id="22" name="Rectangle 21">
            <a:extLst>
              <a:ext uri="{FF2B5EF4-FFF2-40B4-BE49-F238E27FC236}">
                <a16:creationId xmlns:a16="http://schemas.microsoft.com/office/drawing/2014/main" id="{4DD149A6-5F52-4CE1-AF83-C47E436A9880}"/>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3" name="Rectangle 22">
            <a:extLst>
              <a:ext uri="{FF2B5EF4-FFF2-40B4-BE49-F238E27FC236}">
                <a16:creationId xmlns:a16="http://schemas.microsoft.com/office/drawing/2014/main" id="{BC750E75-463A-41F5-BE36-09A70F8A4284}"/>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13</a:t>
            </a:r>
          </a:p>
        </p:txBody>
      </p:sp>
    </p:spTree>
    <p:extLst>
      <p:ext uri="{BB962C8B-B14F-4D97-AF65-F5344CB8AC3E}">
        <p14:creationId xmlns:p14="http://schemas.microsoft.com/office/powerpoint/2010/main" val="1645539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A8BB2B3B-05A5-4598-A1CE-9CABDB8AAD9F}"/>
              </a:ext>
            </a:extLst>
          </p:cNvPr>
          <p:cNvSpPr>
            <a:spLocks noGrp="1"/>
          </p:cNvSpPr>
          <p:nvPr/>
        </p:nvSpPr>
        <p:spPr>
          <a:xfrm>
            <a:off x="419100" y="352425"/>
            <a:ext cx="10572750" cy="523875"/>
          </a:xfrm>
          <a:prstGeom prst="rect">
            <a:avLst/>
          </a:prstGeom>
          <a:noFill/>
          <a:ln w="0">
            <a:noFill/>
          </a:ln>
        </p:spPr>
        <p:txBody>
          <a:bodyPr>
            <a:normAutofit/>
          </a:bodyPr>
          <a:lstStyle/>
          <a:p>
            <a:pPr>
              <a:defRPr sz="2700" b="1">
                <a:solidFill>
                  <a:srgbClr val="10213D"/>
                </a:solidFill>
                <a:latin typeface="Arial"/>
                <a:ea typeface="Arial"/>
                <a:cs typeface="Arial"/>
              </a:defRPr>
            </a:pPr>
            <a:r>
              <a:rPr sz="2700" b="1">
                <a:solidFill>
                  <a:srgbClr val="10213D"/>
                </a:solidFill>
                <a:latin typeface="Arial"/>
                <a:ea typeface="Arial"/>
                <a:cs typeface="Arial"/>
              </a:rPr>
              <a:t>Sổ đăng ký camera + hash video: vì sao replay bị chặn</a:t>
            </a:r>
          </a:p>
        </p:txBody>
      </p:sp>
      <p:sp>
        <p:nvSpPr>
          <p:cNvPr id="2" name="Rectangle 1">
            <a:extLst>
              <a:ext uri="{FF2B5EF4-FFF2-40B4-BE49-F238E27FC236}">
                <a16:creationId xmlns:a16="http://schemas.microsoft.com/office/drawing/2014/main" id="{17185304-C581-4012-84D5-EBC4986FA526}"/>
              </a:ext>
            </a:extLst>
          </p:cNvPr>
          <p:cNvSpPr>
            <a:spLocks noGrp="1"/>
          </p:cNvSpPr>
          <p:nvPr/>
        </p:nvSpPr>
        <p:spPr>
          <a:xfrm>
            <a:off x="438150" y="933450"/>
            <a:ext cx="10668000" cy="257175"/>
          </a:xfrm>
          <a:prstGeom prst="rect">
            <a:avLst/>
          </a:prstGeom>
          <a:noFill/>
          <a:ln w="0">
            <a:noFill/>
          </a:ln>
        </p:spPr>
        <p:txBody>
          <a:bodyPr>
            <a:normAutofit fontScale="90625"/>
          </a:bodyPr>
          <a:lstStyle/>
          <a:p>
            <a:pPr>
              <a:defRPr sz="1200">
                <a:solidFill>
                  <a:srgbClr val="5A6780"/>
                </a:solidFill>
                <a:latin typeface="Arial"/>
                <a:ea typeface="Arial"/>
                <a:cs typeface="Arial"/>
              </a:defRPr>
            </a:pPr>
            <a:r>
              <a:rPr sz="1200">
                <a:solidFill>
                  <a:srgbClr val="5A6780"/>
                </a:solidFill>
                <a:latin typeface="Arial"/>
                <a:ea typeface="Arial"/>
                <a:cs typeface="Arial"/>
              </a:rPr>
              <a:t>Sổ đăng ký = cây Merkle Poseidon (sâu 16) của pk = Poseidon(s); verifier chỉ tin root. Digest = SHA-256 mọi RBSP, chỉ xóa bit carrier.</a:t>
            </a:r>
          </a:p>
        </p:txBody>
      </p:sp>
      <p:sp>
        <p:nvSpPr>
          <p:cNvPr id="3" name="Straight Connector 2">
            <a:extLst>
              <a:ext uri="{FF2B5EF4-FFF2-40B4-BE49-F238E27FC236}">
                <a16:creationId xmlns:a16="http://schemas.microsoft.com/office/drawing/2014/main" id="{6977752A-320D-423B-91A8-287F31174896}"/>
              </a:ext>
            </a:extLst>
          </p:cNvPr>
          <p:cNvSpPr>
            <a:spLocks noGrp="1"/>
          </p:cNvSpPr>
          <p:nvPr/>
        </p:nvSpPr>
        <p:spPr>
          <a:xfrm>
            <a:off x="419100" y="1304925"/>
            <a:ext cx="11353800" cy="0"/>
          </a:xfrm>
          <a:prstGeom prst="line">
            <a:avLst/>
          </a:prstGeom>
          <a:noFill/>
          <a:ln w="9525">
            <a:solidFill>
              <a:srgbClr val="D6DFEB"/>
            </a:solidFill>
          </a:ln>
        </p:spPr>
        <p:txBody>
          <a:bodyPr/>
          <a:lstStyle/>
          <a:p>
            <a:endParaRPr lang="en-US"/>
          </a:p>
        </p:txBody>
      </p:sp>
      <p:sp>
        <p:nvSpPr>
          <p:cNvPr id="4" name="Rectangle: Rounded Corners 3">
            <a:extLst>
              <a:ext uri="{FF2B5EF4-FFF2-40B4-BE49-F238E27FC236}">
                <a16:creationId xmlns:a16="http://schemas.microsoft.com/office/drawing/2014/main" id="{DE53ED49-7193-4314-978E-94723A7B676A}"/>
              </a:ext>
            </a:extLst>
          </p:cNvPr>
          <p:cNvSpPr>
            <a:spLocks noGrp="1"/>
          </p:cNvSpPr>
          <p:nvPr/>
        </p:nvSpPr>
        <p:spPr>
          <a:xfrm>
            <a:off x="509587" y="1495425"/>
            <a:ext cx="11201400" cy="3352800"/>
          </a:xfrm>
          <a:prstGeom prst="roundRect">
            <a:avLst>
              <a:gd name="adj" fmla="val 2273"/>
            </a:avLst>
          </a:prstGeom>
          <a:solidFill>
            <a:srgbClr val="FFFFFF"/>
          </a:solidFill>
          <a:ln w="9525">
            <a:solidFill>
              <a:srgbClr val="D6DFEB"/>
            </a:solidFill>
          </a:ln>
        </p:spPr>
        <p:txBody>
          <a:bodyPr/>
          <a:lstStyle/>
          <a:p>
            <a:endParaRPr lang="en-US"/>
          </a:p>
        </p:txBody>
      </p:sp>
      <p:sp>
        <p:nvSpPr>
          <p:cNvPr id="5" name="Rectangle 4">
            <a:extLst>
              <a:ext uri="{FF2B5EF4-FFF2-40B4-BE49-F238E27FC236}">
                <a16:creationId xmlns:a16="http://schemas.microsoft.com/office/drawing/2014/main" id="{A283B172-CA85-400A-8240-1FDB1D31B8F2}"/>
              </a:ext>
            </a:extLst>
          </p:cNvPr>
          <p:cNvSpPr>
            <a:spLocks noGrp="1"/>
          </p:cNvSpPr>
          <p:nvPr/>
        </p:nvSpPr>
        <p:spPr>
          <a:xfrm>
            <a:off x="781050" y="1809750"/>
            <a:ext cx="25717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Tấn công (11 ca)</a:t>
            </a:r>
          </a:p>
        </p:txBody>
      </p:sp>
      <p:sp>
        <p:nvSpPr>
          <p:cNvPr id="6" name="Rectangle 5">
            <a:extLst>
              <a:ext uri="{FF2B5EF4-FFF2-40B4-BE49-F238E27FC236}">
                <a16:creationId xmlns:a16="http://schemas.microsoft.com/office/drawing/2014/main" id="{ABD274DC-05D6-40CE-A837-42B21264ABA7}"/>
              </a:ext>
            </a:extLst>
          </p:cNvPr>
          <p:cNvSpPr>
            <a:spLocks noGrp="1"/>
          </p:cNvSpPr>
          <p:nvPr/>
        </p:nvSpPr>
        <p:spPr>
          <a:xfrm>
            <a:off x="3714750" y="1809750"/>
            <a:ext cx="20002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Kết quả</a:t>
            </a:r>
          </a:p>
        </p:txBody>
      </p:sp>
      <p:sp>
        <p:nvSpPr>
          <p:cNvPr id="7" name="Rectangle 6">
            <a:extLst>
              <a:ext uri="{FF2B5EF4-FFF2-40B4-BE49-F238E27FC236}">
                <a16:creationId xmlns:a16="http://schemas.microsoft.com/office/drawing/2014/main" id="{16E33814-A8A9-4140-BD60-8A5199888BDA}"/>
              </a:ext>
            </a:extLst>
          </p:cNvPr>
          <p:cNvSpPr>
            <a:spLocks noGrp="1"/>
          </p:cNvSpPr>
          <p:nvPr/>
        </p:nvSpPr>
        <p:spPr>
          <a:xfrm>
            <a:off x="6048375" y="1809750"/>
            <a:ext cx="4857750" cy="228600"/>
          </a:xfrm>
          <a:prstGeom prst="rect">
            <a:avLst/>
          </a:prstGeom>
          <a:noFill/>
          <a:ln w="0">
            <a:noFill/>
          </a:ln>
        </p:spPr>
        <p:txBody>
          <a:bodyPr>
            <a:normAutofit fontScale="60000"/>
          </a:bodyPr>
          <a:lstStyle/>
          <a:p>
            <a:pPr>
              <a:defRPr sz="1500" b="1">
                <a:solidFill>
                  <a:srgbClr val="2667D8"/>
                </a:solidFill>
                <a:latin typeface="Arial"/>
                <a:ea typeface="Arial"/>
                <a:cs typeface="Arial"/>
              </a:defRPr>
            </a:pPr>
            <a:r>
              <a:rPr sz="1500" b="1">
                <a:solidFill>
                  <a:srgbClr val="2667D8"/>
                </a:solidFill>
                <a:latin typeface="Arial"/>
                <a:ea typeface="Arial"/>
                <a:cs typeface="Arial"/>
              </a:rPr>
              <a:t>Vì sao bị chặn</a:t>
            </a:r>
          </a:p>
        </p:txBody>
      </p:sp>
      <p:sp>
        <p:nvSpPr>
          <p:cNvPr id="8" name="Straight Connector 7">
            <a:extLst>
              <a:ext uri="{FF2B5EF4-FFF2-40B4-BE49-F238E27FC236}">
                <a16:creationId xmlns:a16="http://schemas.microsoft.com/office/drawing/2014/main" id="{2F56268C-C771-4B67-A544-F9B3E4D03560}"/>
              </a:ext>
            </a:extLst>
          </p:cNvPr>
          <p:cNvSpPr>
            <a:spLocks noGrp="1"/>
          </p:cNvSpPr>
          <p:nvPr/>
        </p:nvSpPr>
        <p:spPr>
          <a:xfrm>
            <a:off x="742950" y="2143125"/>
            <a:ext cx="10706100" cy="0"/>
          </a:xfrm>
          <a:prstGeom prst="line">
            <a:avLst/>
          </a:prstGeom>
          <a:noFill/>
          <a:ln w="9525">
            <a:solidFill>
              <a:srgbClr val="D6DFEB"/>
            </a:solidFill>
          </a:ln>
        </p:spPr>
        <p:txBody>
          <a:bodyPr/>
          <a:lstStyle/>
          <a:p>
            <a:endParaRPr lang="en-US"/>
          </a:p>
        </p:txBody>
      </p:sp>
      <p:sp>
        <p:nvSpPr>
          <p:cNvPr id="9" name="Rectangle 8">
            <a:extLst>
              <a:ext uri="{FF2B5EF4-FFF2-40B4-BE49-F238E27FC236}">
                <a16:creationId xmlns:a16="http://schemas.microsoft.com/office/drawing/2014/main" id="{18B424B8-DB06-490E-8681-14E8F567A67B}"/>
              </a:ext>
            </a:extLst>
          </p:cNvPr>
          <p:cNvSpPr>
            <a:spLocks noGrp="1"/>
          </p:cNvSpPr>
          <p:nvPr/>
        </p:nvSpPr>
        <p:spPr>
          <a:xfrm>
            <a:off x="781050" y="2314575"/>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Sai khóa · bỏ IDR · mã hóa lại</a:t>
            </a:r>
          </a:p>
        </p:txBody>
      </p:sp>
      <p:sp>
        <p:nvSpPr>
          <p:cNvPr id="10" name="Rectangle 9">
            <a:extLst>
              <a:ext uri="{FF2B5EF4-FFF2-40B4-BE49-F238E27FC236}">
                <a16:creationId xmlns:a16="http://schemas.microsoft.com/office/drawing/2014/main" id="{561CDB8D-84BB-49A1-AA8F-E4AA4E5053A4}"/>
              </a:ext>
            </a:extLst>
          </p:cNvPr>
          <p:cNvSpPr>
            <a:spLocks noGrp="1"/>
          </p:cNvSpPr>
          <p:nvPr/>
        </p:nvSpPr>
        <p:spPr>
          <a:xfrm>
            <a:off x="3714750" y="2314575"/>
            <a:ext cx="2000250" cy="266700"/>
          </a:xfrm>
          <a:prstGeom prst="rect">
            <a:avLst/>
          </a:prstGeom>
          <a:noFill/>
          <a:ln w="0">
            <a:noFill/>
          </a:ln>
        </p:spPr>
        <p:txBody>
          <a:bodyPr>
            <a:normAutofit fontScale="76667"/>
          </a:bodyPr>
          <a:lstStyle/>
          <a:p>
            <a:pPr>
              <a:defRPr sz="1500" b="1">
                <a:solidFill>
                  <a:srgbClr val="A92B2B"/>
                </a:solidFill>
                <a:latin typeface="Arial"/>
                <a:ea typeface="Arial"/>
                <a:cs typeface="Arial"/>
              </a:defRPr>
            </a:pPr>
            <a:r>
              <a:rPr sz="1500" b="1">
                <a:solidFill>
                  <a:srgbClr val="A92B2B"/>
                </a:solidFill>
                <a:latin typeface="Arial"/>
                <a:ea typeface="Arial"/>
                <a:cs typeface="Arial"/>
              </a:rPr>
              <a:t>Không thấy khung</a:t>
            </a:r>
          </a:p>
        </p:txBody>
      </p:sp>
      <p:sp>
        <p:nvSpPr>
          <p:cNvPr id="11" name="Rectangle 10">
            <a:extLst>
              <a:ext uri="{FF2B5EF4-FFF2-40B4-BE49-F238E27FC236}">
                <a16:creationId xmlns:a16="http://schemas.microsoft.com/office/drawing/2014/main" id="{FF1748BF-AEE6-4A98-A66E-D90FEC0EEF87}"/>
              </a:ext>
            </a:extLst>
          </p:cNvPr>
          <p:cNvSpPr>
            <a:spLocks noGrp="1"/>
          </p:cNvSpPr>
          <p:nvPr/>
        </p:nvSpPr>
        <p:spPr>
          <a:xfrm>
            <a:off x="6048375" y="2194560"/>
            <a:ext cx="5095875" cy="530352"/>
          </a:xfrm>
          <a:prstGeom prst="rect">
            <a:avLst/>
          </a:prstGeom>
          <a:noFill/>
          <a:ln w="0">
            <a:noFill/>
          </a:ln>
        </p:spPr>
        <p:txBody>
          <a:bodyPr anchor="ctr">
            <a:normAutofit/>
          </a:bodyPr>
          <a:lstStyle/>
          <a:p>
            <a:pPr>
              <a:defRPr sz="1400">
                <a:solidFill>
                  <a:srgbClr val="5A6780"/>
                </a:solidFill>
                <a:latin typeface="Arial"/>
                <a:ea typeface="Arial"/>
                <a:cs typeface="Arial"/>
              </a:defRPr>
            </a:pPr>
            <a:r>
              <a:rPr sz="1400">
                <a:solidFill>
                  <a:srgbClr val="5A6780"/>
                </a:solidFill>
                <a:latin typeface="Arial"/>
                <a:ea typeface="Arial"/>
                <a:cs typeface="Arial"/>
              </a:rPr>
              <a:t>Lịch và làm trắng lệch → version/độ dài sai</a:t>
            </a:r>
          </a:p>
        </p:txBody>
      </p:sp>
      <p:sp>
        <p:nvSpPr>
          <p:cNvPr id="12" name="Straight Connector 11">
            <a:extLst>
              <a:ext uri="{FF2B5EF4-FFF2-40B4-BE49-F238E27FC236}">
                <a16:creationId xmlns:a16="http://schemas.microsoft.com/office/drawing/2014/main" id="{7FBE73AB-F431-40FA-BD98-C7E92A35F783}"/>
              </a:ext>
            </a:extLst>
          </p:cNvPr>
          <p:cNvSpPr>
            <a:spLocks noGrp="1"/>
          </p:cNvSpPr>
          <p:nvPr/>
        </p:nvSpPr>
        <p:spPr>
          <a:xfrm>
            <a:off x="742950" y="2781300"/>
            <a:ext cx="10706100" cy="0"/>
          </a:xfrm>
          <a:prstGeom prst="line">
            <a:avLst/>
          </a:prstGeom>
          <a:noFill/>
          <a:ln w="9525">
            <a:solidFill>
              <a:srgbClr val="E8EDF4"/>
            </a:solidFill>
          </a:ln>
        </p:spPr>
        <p:txBody>
          <a:bodyPr/>
          <a:lstStyle/>
          <a:p>
            <a:endParaRPr lang="en-US"/>
          </a:p>
        </p:txBody>
      </p:sp>
      <p:sp>
        <p:nvSpPr>
          <p:cNvPr id="13" name="Rectangle 12">
            <a:extLst>
              <a:ext uri="{FF2B5EF4-FFF2-40B4-BE49-F238E27FC236}">
                <a16:creationId xmlns:a16="http://schemas.microsoft.com/office/drawing/2014/main" id="{9AB7D901-0825-4EE7-A5D3-CC821AD01C71}"/>
              </a:ext>
            </a:extLst>
          </p:cNvPr>
          <p:cNvSpPr>
            <a:spLocks noGrp="1"/>
          </p:cNvSpPr>
          <p:nvPr/>
        </p:nvSpPr>
        <p:spPr>
          <a:xfrm>
            <a:off x="781050" y="2952750"/>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Lật một dấu carrier</a:t>
            </a:r>
          </a:p>
        </p:txBody>
      </p:sp>
      <p:sp>
        <p:nvSpPr>
          <p:cNvPr id="14" name="Rectangle 13">
            <a:extLst>
              <a:ext uri="{FF2B5EF4-FFF2-40B4-BE49-F238E27FC236}">
                <a16:creationId xmlns:a16="http://schemas.microsoft.com/office/drawing/2014/main" id="{9EA4AFA3-AE97-43DC-9989-74621F13FDBF}"/>
              </a:ext>
            </a:extLst>
          </p:cNvPr>
          <p:cNvSpPr>
            <a:spLocks noGrp="1"/>
          </p:cNvSpPr>
          <p:nvPr/>
        </p:nvSpPr>
        <p:spPr>
          <a:xfrm>
            <a:off x="3714750" y="2952750"/>
            <a:ext cx="2000250" cy="266700"/>
          </a:xfrm>
          <a:prstGeom prst="rect">
            <a:avLst/>
          </a:prstGeom>
          <a:noFill/>
          <a:ln w="0">
            <a:noFill/>
          </a:ln>
        </p:spPr>
        <p:txBody>
          <a:bodyPr>
            <a:normAutofit fontScale="76667"/>
          </a:bodyPr>
          <a:lstStyle/>
          <a:p>
            <a:pPr>
              <a:defRPr sz="1500" b="1">
                <a:solidFill>
                  <a:srgbClr val="A92B2B"/>
                </a:solidFill>
                <a:latin typeface="Arial"/>
                <a:ea typeface="Arial"/>
                <a:cs typeface="Arial"/>
              </a:defRPr>
            </a:pPr>
            <a:r>
              <a:rPr sz="1500" b="1">
                <a:solidFill>
                  <a:srgbClr val="A92B2B"/>
                </a:solidFill>
                <a:latin typeface="Arial"/>
                <a:ea typeface="Arial"/>
                <a:cs typeface="Arial"/>
              </a:rPr>
              <a:t>Proof hỏng / sai</a:t>
            </a:r>
          </a:p>
        </p:txBody>
      </p:sp>
      <p:sp>
        <p:nvSpPr>
          <p:cNvPr id="15" name="Rectangle 14">
            <a:extLst>
              <a:ext uri="{FF2B5EF4-FFF2-40B4-BE49-F238E27FC236}">
                <a16:creationId xmlns:a16="http://schemas.microsoft.com/office/drawing/2014/main" id="{4B34A15A-B5BC-4B4E-9C15-09A6F300534E}"/>
              </a:ext>
            </a:extLst>
          </p:cNvPr>
          <p:cNvSpPr>
            <a:spLocks noGrp="1"/>
          </p:cNvSpPr>
          <p:nvPr/>
        </p:nvSpPr>
        <p:spPr>
          <a:xfrm>
            <a:off x="6048375" y="2834640"/>
            <a:ext cx="5095875" cy="530352"/>
          </a:xfrm>
          <a:prstGeom prst="rect">
            <a:avLst/>
          </a:prstGeom>
          <a:noFill/>
          <a:ln w="0">
            <a:noFill/>
          </a:ln>
        </p:spPr>
        <p:txBody>
          <a:bodyPr anchor="ctr">
            <a:normAutofit/>
          </a:bodyPr>
          <a:lstStyle/>
          <a:p>
            <a:pPr>
              <a:defRPr sz="1400">
                <a:solidFill>
                  <a:srgbClr val="5A6780"/>
                </a:solidFill>
                <a:latin typeface="Arial"/>
                <a:ea typeface="Arial"/>
                <a:cs typeface="Arial"/>
              </a:defRPr>
            </a:pPr>
            <a:r>
              <a:rPr sz="1400">
                <a:solidFill>
                  <a:srgbClr val="5A6780"/>
                </a:solidFill>
                <a:latin typeface="Arial"/>
                <a:ea typeface="Arial"/>
                <a:cs typeface="Arial"/>
              </a:rPr>
              <a:t>Payload trích ra đổi → malformed hoặc proof_invalid</a:t>
            </a:r>
          </a:p>
        </p:txBody>
      </p:sp>
      <p:sp>
        <p:nvSpPr>
          <p:cNvPr id="16" name="Straight Connector 15">
            <a:extLst>
              <a:ext uri="{FF2B5EF4-FFF2-40B4-BE49-F238E27FC236}">
                <a16:creationId xmlns:a16="http://schemas.microsoft.com/office/drawing/2014/main" id="{6125129E-215F-4399-B840-F469DB9AA295}"/>
              </a:ext>
            </a:extLst>
          </p:cNvPr>
          <p:cNvSpPr>
            <a:spLocks noGrp="1"/>
          </p:cNvSpPr>
          <p:nvPr/>
        </p:nvSpPr>
        <p:spPr>
          <a:xfrm>
            <a:off x="742950" y="3419475"/>
            <a:ext cx="10706100" cy="0"/>
          </a:xfrm>
          <a:prstGeom prst="line">
            <a:avLst/>
          </a:prstGeom>
          <a:noFill/>
          <a:ln w="9525">
            <a:solidFill>
              <a:srgbClr val="E8EDF4"/>
            </a:solidFill>
          </a:ln>
        </p:spPr>
        <p:txBody>
          <a:bodyPr/>
          <a:lstStyle/>
          <a:p>
            <a:endParaRPr lang="en-US"/>
          </a:p>
        </p:txBody>
      </p:sp>
      <p:sp>
        <p:nvSpPr>
          <p:cNvPr id="17" name="Rectangle 16">
            <a:extLst>
              <a:ext uri="{FF2B5EF4-FFF2-40B4-BE49-F238E27FC236}">
                <a16:creationId xmlns:a16="http://schemas.microsoft.com/office/drawing/2014/main" id="{09CF18E1-71C5-4ABA-BF15-5D7A2349FE0E}"/>
              </a:ext>
            </a:extLst>
          </p:cNvPr>
          <p:cNvSpPr>
            <a:spLocks noGrp="1"/>
          </p:cNvSpPr>
          <p:nvPr/>
        </p:nvSpPr>
        <p:spPr>
          <a:xfrm>
            <a:off x="781050" y="3590925"/>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Sửa video / message</a:t>
            </a:r>
          </a:p>
        </p:txBody>
      </p:sp>
      <p:sp>
        <p:nvSpPr>
          <p:cNvPr id="18" name="Rectangle 17">
            <a:extLst>
              <a:ext uri="{FF2B5EF4-FFF2-40B4-BE49-F238E27FC236}">
                <a16:creationId xmlns:a16="http://schemas.microsoft.com/office/drawing/2014/main" id="{6B93EF7F-D159-4D1C-BC83-01024F2F56E4}"/>
              </a:ext>
            </a:extLst>
          </p:cNvPr>
          <p:cNvSpPr>
            <a:spLocks noGrp="1"/>
          </p:cNvSpPr>
          <p:nvPr/>
        </p:nvSpPr>
        <p:spPr>
          <a:xfrm>
            <a:off x="3714750" y="3590925"/>
            <a:ext cx="2000250" cy="266700"/>
          </a:xfrm>
          <a:prstGeom prst="rect">
            <a:avLst/>
          </a:prstGeom>
          <a:noFill/>
          <a:ln w="0">
            <a:noFill/>
          </a:ln>
        </p:spPr>
        <p:txBody>
          <a:bodyPr>
            <a:normAutofit fontScale="76667"/>
          </a:bodyPr>
          <a:lstStyle/>
          <a:p>
            <a:pPr>
              <a:defRPr sz="1500" b="1">
                <a:solidFill>
                  <a:srgbClr val="A92B2B"/>
                </a:solidFill>
                <a:latin typeface="Arial"/>
                <a:ea typeface="Arial"/>
                <a:cs typeface="Arial"/>
              </a:defRPr>
            </a:pPr>
            <a:r>
              <a:rPr sz="1500" b="1">
                <a:solidFill>
                  <a:srgbClr val="A92B2B"/>
                </a:solidFill>
                <a:latin typeface="Arial"/>
                <a:ea typeface="Arial"/>
                <a:cs typeface="Arial"/>
              </a:rPr>
              <a:t>proof_invalid</a:t>
            </a:r>
          </a:p>
        </p:txBody>
      </p:sp>
      <p:sp>
        <p:nvSpPr>
          <p:cNvPr id="19" name="Rectangle 18">
            <a:extLst>
              <a:ext uri="{FF2B5EF4-FFF2-40B4-BE49-F238E27FC236}">
                <a16:creationId xmlns:a16="http://schemas.microsoft.com/office/drawing/2014/main" id="{87CEFDB5-43D0-4231-B7F5-BEEB820E7037}"/>
              </a:ext>
            </a:extLst>
          </p:cNvPr>
          <p:cNvSpPr>
            <a:spLocks noGrp="1"/>
          </p:cNvSpPr>
          <p:nvPr/>
        </p:nvSpPr>
        <p:spPr>
          <a:xfrm>
            <a:off x="6048375" y="3474720"/>
            <a:ext cx="5095875" cy="530352"/>
          </a:xfrm>
          <a:prstGeom prst="rect">
            <a:avLst/>
          </a:prstGeom>
          <a:noFill/>
          <a:ln w="0">
            <a:noFill/>
          </a:ln>
        </p:spPr>
        <p:txBody>
          <a:bodyPr anchor="ctr">
            <a:normAutofit/>
          </a:bodyPr>
          <a:lstStyle/>
          <a:p>
            <a:pPr>
              <a:defRPr sz="1400">
                <a:solidFill>
                  <a:srgbClr val="5A6780"/>
                </a:solidFill>
                <a:latin typeface="Arial"/>
                <a:ea typeface="Arial"/>
                <a:cs typeface="Arial"/>
              </a:defRPr>
            </a:pPr>
            <a:r>
              <a:rPr sz="1400" dirty="0" err="1">
                <a:solidFill>
                  <a:srgbClr val="5A6780"/>
                </a:solidFill>
                <a:latin typeface="Arial"/>
                <a:ea typeface="Arial"/>
                <a:cs typeface="Arial"/>
              </a:rPr>
              <a:t>Dấu ngoài carrier, frame sau, cắt video, đổi message → digest/binding đổi</a:t>
            </a:r>
          </a:p>
        </p:txBody>
      </p:sp>
      <p:sp>
        <p:nvSpPr>
          <p:cNvPr id="20" name="Straight Connector 19">
            <a:extLst>
              <a:ext uri="{FF2B5EF4-FFF2-40B4-BE49-F238E27FC236}">
                <a16:creationId xmlns:a16="http://schemas.microsoft.com/office/drawing/2014/main" id="{12D26A29-FC84-4956-B5B4-752B2300A417}"/>
              </a:ext>
            </a:extLst>
          </p:cNvPr>
          <p:cNvSpPr>
            <a:spLocks noGrp="1"/>
          </p:cNvSpPr>
          <p:nvPr/>
        </p:nvSpPr>
        <p:spPr>
          <a:xfrm>
            <a:off x="742950" y="4057650"/>
            <a:ext cx="10706100" cy="0"/>
          </a:xfrm>
          <a:prstGeom prst="line">
            <a:avLst/>
          </a:prstGeom>
          <a:noFill/>
          <a:ln w="9525">
            <a:solidFill>
              <a:srgbClr val="E8EDF4"/>
            </a:solidFill>
          </a:ln>
        </p:spPr>
        <p:txBody>
          <a:bodyPr/>
          <a:lstStyle/>
          <a:p>
            <a:endParaRPr lang="en-US"/>
          </a:p>
        </p:txBody>
      </p:sp>
      <p:sp>
        <p:nvSpPr>
          <p:cNvPr id="21" name="Rectangle 20">
            <a:extLst>
              <a:ext uri="{FF2B5EF4-FFF2-40B4-BE49-F238E27FC236}">
                <a16:creationId xmlns:a16="http://schemas.microsoft.com/office/drawing/2014/main" id="{2ED401BE-28F9-4030-A178-85B12DD8978F}"/>
              </a:ext>
            </a:extLst>
          </p:cNvPr>
          <p:cNvSpPr>
            <a:spLocks noGrp="1"/>
          </p:cNvSpPr>
          <p:nvPr/>
        </p:nvSpPr>
        <p:spPr>
          <a:xfrm>
            <a:off x="781050" y="4229100"/>
            <a:ext cx="2619375" cy="266700"/>
          </a:xfrm>
          <a:prstGeom prst="rect">
            <a:avLst/>
          </a:prstGeom>
          <a:noFill/>
          <a:ln w="0">
            <a:noFill/>
          </a:ln>
        </p:spPr>
        <p:txBody>
          <a:bodyPr>
            <a:normAutofit fontScale="69697"/>
          </a:bodyPr>
          <a:lstStyle/>
          <a:p>
            <a:pPr>
              <a:defRPr sz="1650" b="1">
                <a:solidFill>
                  <a:srgbClr val="10213D"/>
                </a:solidFill>
                <a:latin typeface="Arial"/>
                <a:ea typeface="Arial"/>
                <a:cs typeface="Arial"/>
              </a:defRPr>
            </a:pPr>
            <a:r>
              <a:rPr sz="1650" b="1">
                <a:solidFill>
                  <a:srgbClr val="10213D"/>
                </a:solidFill>
                <a:latin typeface="Arial"/>
                <a:ea typeface="Arial"/>
                <a:cs typeface="Arial"/>
              </a:rPr>
              <a:t>Camera ngoài sổ · replay</a:t>
            </a:r>
          </a:p>
        </p:txBody>
      </p:sp>
      <p:sp>
        <p:nvSpPr>
          <p:cNvPr id="22" name="Rectangle 21">
            <a:extLst>
              <a:ext uri="{FF2B5EF4-FFF2-40B4-BE49-F238E27FC236}">
                <a16:creationId xmlns:a16="http://schemas.microsoft.com/office/drawing/2014/main" id="{065198DF-3FD9-4F56-AF24-A4AD6B3F0E2C}"/>
              </a:ext>
            </a:extLst>
          </p:cNvPr>
          <p:cNvSpPr>
            <a:spLocks noGrp="1"/>
          </p:cNvSpPr>
          <p:nvPr/>
        </p:nvSpPr>
        <p:spPr>
          <a:xfrm>
            <a:off x="3714750" y="4229100"/>
            <a:ext cx="2000250" cy="266700"/>
          </a:xfrm>
          <a:prstGeom prst="rect">
            <a:avLst/>
          </a:prstGeom>
          <a:noFill/>
          <a:ln w="0">
            <a:noFill/>
          </a:ln>
        </p:spPr>
        <p:txBody>
          <a:bodyPr>
            <a:normAutofit fontScale="76667"/>
          </a:bodyPr>
          <a:lstStyle/>
          <a:p>
            <a:pPr>
              <a:defRPr sz="1500" b="1">
                <a:solidFill>
                  <a:srgbClr val="A92B2B"/>
                </a:solidFill>
                <a:latin typeface="Arial"/>
                <a:ea typeface="Arial"/>
                <a:cs typeface="Arial"/>
              </a:defRPr>
            </a:pPr>
            <a:r>
              <a:rPr sz="1500" b="1">
                <a:solidFill>
                  <a:srgbClr val="A92B2B"/>
                </a:solidFill>
                <a:latin typeface="Arial"/>
                <a:ea typeface="Arial"/>
                <a:cs typeface="Arial"/>
              </a:rPr>
              <a:t>proof_invalid</a:t>
            </a:r>
          </a:p>
        </p:txBody>
      </p:sp>
      <p:sp>
        <p:nvSpPr>
          <p:cNvPr id="23" name="Rectangle 22">
            <a:extLst>
              <a:ext uri="{FF2B5EF4-FFF2-40B4-BE49-F238E27FC236}">
                <a16:creationId xmlns:a16="http://schemas.microsoft.com/office/drawing/2014/main" id="{2B474315-BB1A-4BA9-B386-3AA0011F93B4}"/>
              </a:ext>
            </a:extLst>
          </p:cNvPr>
          <p:cNvSpPr>
            <a:spLocks noGrp="1"/>
          </p:cNvSpPr>
          <p:nvPr/>
        </p:nvSpPr>
        <p:spPr>
          <a:xfrm>
            <a:off x="6048375" y="4114800"/>
            <a:ext cx="5400675" cy="530352"/>
          </a:xfrm>
          <a:prstGeom prst="rect">
            <a:avLst/>
          </a:prstGeom>
          <a:noFill/>
          <a:ln w="0">
            <a:noFill/>
          </a:ln>
        </p:spPr>
        <p:txBody>
          <a:bodyPr anchor="ctr">
            <a:normAutofit/>
          </a:bodyPr>
          <a:lstStyle/>
          <a:p>
            <a:pPr>
              <a:defRPr sz="1400">
                <a:solidFill>
                  <a:srgbClr val="5A6780"/>
                </a:solidFill>
                <a:latin typeface="Arial"/>
                <a:ea typeface="Arial"/>
                <a:cs typeface="Arial"/>
              </a:defRPr>
            </a:pPr>
            <a:r>
              <a:rPr sz="1400">
                <a:solidFill>
                  <a:srgbClr val="5A6780"/>
                </a:solidFill>
                <a:latin typeface="Arial"/>
                <a:ea typeface="Arial"/>
                <a:cs typeface="Arial"/>
              </a:rPr>
              <a:t>Không có đường Merkle tới root; video khác → digest khác binding</a:t>
            </a:r>
          </a:p>
        </p:txBody>
      </p:sp>
      <p:sp>
        <p:nvSpPr>
          <p:cNvPr id="24" name="Rectangle 23">
            <a:extLst>
              <a:ext uri="{FF2B5EF4-FFF2-40B4-BE49-F238E27FC236}">
                <a16:creationId xmlns:a16="http://schemas.microsoft.com/office/drawing/2014/main" id="{B3CFD278-D84C-4825-AD76-1E5A3BFEBE21}"/>
              </a:ext>
            </a:extLst>
          </p:cNvPr>
          <p:cNvSpPr>
            <a:spLocks noGrp="1"/>
          </p:cNvSpPr>
          <p:nvPr/>
        </p:nvSpPr>
        <p:spPr>
          <a:xfrm>
            <a:off x="1257300" y="5019675"/>
            <a:ext cx="9677400" cy="228600"/>
          </a:xfrm>
          <a:prstGeom prst="rect">
            <a:avLst/>
          </a:prstGeom>
          <a:noFill/>
          <a:ln w="0">
            <a:noFill/>
          </a:ln>
        </p:spPr>
        <p:txBody>
          <a:bodyPr>
            <a:normAutofit fontScale="70588"/>
          </a:bodyPr>
          <a:lstStyle/>
          <a:p>
            <a:pPr>
              <a:defRPr sz="1275" i="1">
                <a:solidFill>
                  <a:srgbClr val="63728A"/>
                </a:solidFill>
                <a:latin typeface="Arial"/>
                <a:ea typeface="Arial"/>
                <a:cs typeface="Arial"/>
              </a:defRPr>
            </a:pPr>
            <a:r>
              <a:rPr sz="1275" i="1">
                <a:solidFill>
                  <a:srgbClr val="63728A"/>
                </a:solidFill>
                <a:latin typeface="Arial"/>
                <a:ea typeface="Arial"/>
                <a:cs typeface="Arial"/>
              </a:rPr>
              <a:t>Hình 17 — Ma trận tấn công 11 ca (benchmark 04/10/2026): mọi bản sửa đều bị từ chối, chỉ video gốc không sửa được chấp nhận.</a:t>
            </a:r>
          </a:p>
        </p:txBody>
      </p:sp>
      <p:sp>
        <p:nvSpPr>
          <p:cNvPr id="25" name="Rectangle: Rounded Corners 24">
            <a:extLst>
              <a:ext uri="{FF2B5EF4-FFF2-40B4-BE49-F238E27FC236}">
                <a16:creationId xmlns:a16="http://schemas.microsoft.com/office/drawing/2014/main" id="{8B9CC88C-A4B4-4076-B11A-A10FDB192015}"/>
              </a:ext>
            </a:extLst>
          </p:cNvPr>
          <p:cNvSpPr>
            <a:spLocks noGrp="1"/>
          </p:cNvSpPr>
          <p:nvPr/>
        </p:nvSpPr>
        <p:spPr>
          <a:xfrm>
            <a:off x="1257300" y="5257800"/>
            <a:ext cx="9677400" cy="714375"/>
          </a:xfrm>
          <a:prstGeom prst="roundRect">
            <a:avLst>
              <a:gd name="adj" fmla="val 10667"/>
            </a:avLst>
          </a:prstGeom>
          <a:solidFill>
            <a:srgbClr val="FFF5E9"/>
          </a:solidFill>
          <a:ln w="9525">
            <a:solidFill>
              <a:srgbClr val="F7D2A5"/>
            </a:solidFill>
          </a:ln>
        </p:spPr>
        <p:txBody>
          <a:bodyPr/>
          <a:lstStyle/>
          <a:p>
            <a:endParaRPr lang="en-US"/>
          </a:p>
        </p:txBody>
      </p:sp>
      <p:sp>
        <p:nvSpPr>
          <p:cNvPr id="26" name="Rectangle 25">
            <a:extLst>
              <a:ext uri="{FF2B5EF4-FFF2-40B4-BE49-F238E27FC236}">
                <a16:creationId xmlns:a16="http://schemas.microsoft.com/office/drawing/2014/main" id="{11A95E50-3EA4-41B1-9FE2-DB8F971F53C0}"/>
              </a:ext>
            </a:extLst>
          </p:cNvPr>
          <p:cNvSpPr>
            <a:spLocks noGrp="1"/>
          </p:cNvSpPr>
          <p:nvPr/>
        </p:nvSpPr>
        <p:spPr>
          <a:xfrm>
            <a:off x="1562100" y="5448300"/>
            <a:ext cx="9096375" cy="352425"/>
          </a:xfrm>
          <a:prstGeom prst="rect">
            <a:avLst/>
          </a:prstGeom>
          <a:noFill/>
          <a:ln w="0">
            <a:noFill/>
          </a:ln>
        </p:spPr>
        <p:txBody>
          <a:bodyPr>
            <a:normAutofit fontScale="68539"/>
          </a:bodyPr>
          <a:lstStyle/>
          <a:p>
            <a:pPr>
              <a:defRPr sz="1425">
                <a:solidFill>
                  <a:srgbClr val="8A5017"/>
                </a:solidFill>
                <a:latin typeface="Arial"/>
                <a:ea typeface="Arial"/>
                <a:cs typeface="Arial"/>
              </a:defRPr>
            </a:pPr>
            <a:r>
              <a:rPr sz="1425">
                <a:solidFill>
                  <a:srgbClr val="8A5017"/>
                </a:solidFill>
                <a:latin typeface="Arial"/>
                <a:ea typeface="Arial"/>
                <a:cs typeface="Arial"/>
              </a:rPr>
              <a:t>Cover và stego có cùng digest vì nhúng chỉ đổi bit carrier. Trước đây payload chép sang video khác cùng khóa vẫn qua; nay digest đổi → Groth16 từ chối.</a:t>
            </a:r>
          </a:p>
        </p:txBody>
      </p:sp>
      <p:sp>
        <p:nvSpPr>
          <p:cNvPr id="27" name="Rectangle 26">
            <a:extLst>
              <a:ext uri="{FF2B5EF4-FFF2-40B4-BE49-F238E27FC236}">
                <a16:creationId xmlns:a16="http://schemas.microsoft.com/office/drawing/2014/main" id="{66911EA1-AABF-4FA7-8A62-130AFFB9606F}"/>
              </a:ext>
            </a:extLst>
          </p:cNvPr>
          <p:cNvSpPr>
            <a:spLocks noGrp="1"/>
          </p:cNvSpPr>
          <p:nvPr/>
        </p:nvSpPr>
        <p:spPr>
          <a:xfrm>
            <a:off x="400050" y="6486525"/>
            <a:ext cx="3048000" cy="133350"/>
          </a:xfrm>
          <a:prstGeom prst="rect">
            <a:avLst/>
          </a:prstGeom>
          <a:noFill/>
          <a:ln w="0">
            <a:noFill/>
          </a:ln>
        </p:spPr>
        <p:txBody>
          <a:bodyPr>
            <a:normAutofit fontScale="30556"/>
          </a:bodyPr>
          <a:lstStyle/>
          <a:p>
            <a:pPr>
              <a:defRPr sz="900">
                <a:solidFill>
                  <a:srgbClr val="8B96A8"/>
                </a:solidFill>
                <a:latin typeface="Arial"/>
                <a:ea typeface="Arial"/>
                <a:cs typeface="Arial"/>
              </a:defRPr>
            </a:pPr>
            <a:r>
              <a:rPr sz="900">
                <a:solidFill>
                  <a:srgbClr val="8B96A8"/>
                </a:solidFill>
                <a:latin typeface="Arial"/>
                <a:ea typeface="Arial"/>
                <a:cs typeface="Arial"/>
              </a:rPr>
              <a:t>ZK-SNARK × Video Steganography</a:t>
            </a:r>
          </a:p>
        </p:txBody>
      </p:sp>
      <p:sp>
        <p:nvSpPr>
          <p:cNvPr id="28" name="Rectangle 27">
            <a:extLst>
              <a:ext uri="{FF2B5EF4-FFF2-40B4-BE49-F238E27FC236}">
                <a16:creationId xmlns:a16="http://schemas.microsoft.com/office/drawing/2014/main" id="{3D31E12D-ABF1-4C2E-BAB5-28D308CE9E98}"/>
              </a:ext>
            </a:extLst>
          </p:cNvPr>
          <p:cNvSpPr>
            <a:spLocks noGrp="1"/>
          </p:cNvSpPr>
          <p:nvPr/>
        </p:nvSpPr>
        <p:spPr>
          <a:xfrm>
            <a:off x="11287125" y="6457950"/>
            <a:ext cx="476250" cy="133350"/>
          </a:xfrm>
          <a:prstGeom prst="rect">
            <a:avLst/>
          </a:prstGeom>
          <a:noFill/>
          <a:ln w="0">
            <a:noFill/>
          </a:ln>
        </p:spPr>
        <p:txBody>
          <a:bodyPr>
            <a:normAutofit fontScale="30556"/>
          </a:bodyPr>
          <a:lstStyle/>
          <a:p>
            <a:pPr>
              <a:defRPr sz="900" b="1">
                <a:solidFill>
                  <a:srgbClr val="8B96A8"/>
                </a:solidFill>
                <a:latin typeface="Arial"/>
                <a:ea typeface="Arial"/>
                <a:cs typeface="Arial"/>
              </a:defRPr>
            </a:pPr>
            <a:r>
              <a:rPr sz="900" b="1">
                <a:solidFill>
                  <a:srgbClr val="8B96A8"/>
                </a:solidFill>
                <a:latin typeface="Arial"/>
                <a:ea typeface="Arial"/>
                <a:cs typeface="Arial"/>
              </a:rPr>
              <a:t>17</a:t>
            </a:r>
          </a:p>
        </p:txBody>
      </p:sp>
    </p:spTree>
    <p:extLst>
      <p:ext uri="{BB962C8B-B14F-4D97-AF65-F5344CB8AC3E}">
        <p14:creationId xmlns:p14="http://schemas.microsoft.com/office/powerpoint/2010/main" val="172190805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4153</Words>
  <Application>Microsoft Office PowerPoint</Application>
  <DocSecurity>0</DocSecurity>
  <PresentationFormat>Widescreen</PresentationFormat>
  <Paragraphs>347</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Nguyen An Khanh 20224439</cp:lastModifiedBy>
  <cp:revision>1</cp:revision>
  <dcterms:created xsi:type="dcterms:W3CDTF">2026-09-25T20:40:39Z</dcterms:created>
  <dcterms:modified xsi:type="dcterms:W3CDTF">2026-09-29T00:36:48Z</dcterms:modified>
</cp:coreProperties>
</file>