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3" r:id="rId24"/>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  <Relationship Id="rId24" Type="http://schemas.openxmlformats.org/officeDocument/2006/relationships/slide" Target="slides/slide1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1 (Bức tranh tổng thể); README.md.</a:t>
            </a:r>
          </a:p>
          <a:p>
            <a:endParaRPr/>
          </a:p>
          <a:p>
            <a:r>
              <a:t>THUẬT NGỮ VÀ Ý NGHĨA</a:t>
            </a:r>
          </a:p>
          <a:p>
            <a:r>
              <a:t>ZK-SNARK là proof ngắn cho phép kiểm chứng một mệnh đề mà không lộ witness; hệ thống dùng Groth16 trên BN254. Video steganography là giấu dữ liệu trong video. H.264 là chuẩn nén video; CAVLC là entropy coding của profile Baseline, nơi native tìm kênh nhúng.</a:t>
            </a:r>
          </a:p>
          <a:p>
            <a:endParaRPr/>
          </a:p>
          <a:p>
            <a:r>
              <a:t>ẢNH HƯỞNG TỚI HỆ THỐNG</a:t>
            </a:r>
          </a:p>
          <a:p>
            <a:r>
              <a:t>Deck đi theo đúng đường dữ liệu của mã nguồn hiện tại: proof → payload → khung xác thực v2 → lật dấu trailing-one trong IDR theo lịch có khóa → trích mù → verify Groth16 bắt buộc. Chỉ còn một lõi media là native C++; nhánh Python cũ đã gỡ ngày 03/10/2026.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1 và mục 11 (luồng đầu-cuối); README.md, phần sơ đồ; src/native_blind_contract.py.</a:t>
            </a:r>
          </a:p>
          <a:p>
            <a:endParaRPr/>
          </a:p>
          <a:p>
            <a:r>
              <a:t>THUẬT NGỮ VÀ Ý NGHĨA</a:t>
            </a:r>
          </a:p>
          <a:p>
            <a:r>
              <a:t>ZK prover (src/zk_proof.py + circuits/payload_verify.circom) tạo proof Groth16 nén còn 129 byte. Payload = [len 4B][message][proof]. Khung xác thực v2 = [0x02][len 2B][payload][tag HMAC 16B], dùng khóa con HKDF và được làm trắng bằng keystream. Lịch có khóa chọn dấu T1 theo từng đoạn IDR. Trích mù = đọc lại không cần video gốc.</a:t>
            </a:r>
          </a:p>
          <a:p>
            <a:endParaRPr/>
          </a:p>
          <a:p>
            <a:r>
              <a:t>ẢNH HƯỞNG TỚI HỆ THỐNG</a:t>
            </a:r>
          </a:p>
          <a:p>
            <a:r>
              <a:t>Proof được tạo trước, ngoài vòng lặp video; native chỉ đọc và lật bit dấu. Bên nhận không chấp nhận message chỉ vì HMAC đúng: sau unpack bắt buộc verify Groth16. Ba lớp tách biệt: media (stream hợp lệ), kênh xác thực (khóa, HMAC), proof (quan hệ commitment).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5 và mục 7.3 (tác động lên ảnh).</a:t>
            </a:r>
          </a:p>
          <a:p>
            <a:endParaRPr/>
          </a:p>
          <a:p>
            <a:r>
              <a:t>THUẬT NGỮ VÀ Ý NGHĨA</a:t>
            </a:r>
          </a:p>
          <a:p>
            <a:r>
              <a:t>Cover video là video H.264 gốc dùng làm vật mang. Bitstream là chuỗi bit mã hóa của video. Residual là phần sai khác sau dự đoán; coefficient là giá trị sau biến đổi và lượng tử hóa. Trailing-one là hệ số ±1 ở cuối thứ tự quét.</a:t>
            </a:r>
          </a:p>
          <a:p>
            <a:endParaRPr/>
          </a:p>
          <a:p>
            <a:r>
              <a:t>ẢNH HƯỞNG TỚI HỆ THỐNG</a:t>
            </a:r>
          </a:p>
          <a:p>
            <a:r>
              <a:t>Hệ thống không sửa pixel mà lật dấu một số trailing-one. Mỗi lần lật đổi hệ số ±1 thành ∓1, tạo sai khác nhỏ có thể lan qua dự đoán intra và deblocking; demo đo PSNR Y/U/V và in bản đồ |ΔY| để quan sát, không dùng làm cổng chặn.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2.1 (lệnh FFmpeg) và mục 17; native/src/cavlc_stream.cpp (kiểm tra SPS/PPS/slice); demo/README.md.</a:t>
            </a:r>
          </a:p>
          <a:p>
            <a:endParaRPr/>
          </a:p>
          <a:p>
            <a:r>
              <a:t>THUẬT NGỮ VÀ Ý NGHĨA</a:t>
            </a:r>
          </a:p>
          <a:p>
            <a:r>
              <a:t>Annex-B là chuỗi NAL thô có start code. MP4, MOV, MKV là container, phải xuất ra Annex-B trước. Demo encode bằng libx264 -profile:v baseline, cabac=0, slices=1, -bf 0. Parser chỉ nhận entropy CAVLC (entropy_coding_mode_flag = 0), progressive, 4:2:0, một slice/frame bắt đầu ở MB 0, không I_PCM.</a:t>
            </a:r>
          </a:p>
          <a:p>
            <a:endParaRPr/>
          </a:p>
          <a:p>
            <a:r>
              <a:t>ẢNH HƯỞNG TỚI HỆ THỐNG</a:t>
            </a:r>
          </a:p>
          <a:p>
            <a:r>
              <a:t>Sai định dạng thì parser từ chối thay vì đọc lệch. CABAC không có bit dấu độc lập như CAVLC nên nằm ngoài phạm vi. P-frame vẫn được chấp nhận trong GOP &gt; 1 nhưng không mang dữ liệu; chỉ IDR có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3 (start code, NAL header, EBSP/RBSP, slice header). Dải hex trên slide là ví dụ giải thích; demo in bảng NAL thật của source.h264.</a:t>
            </a:r>
          </a:p>
          <a:p>
            <a:endParaRPr/>
          </a:p>
          <a:p>
            <a:r>
              <a:t>THUẬT NGỮ VÀ Ý NGHĨA</a:t>
            </a:r>
          </a:p>
          <a:p>
            <a:r>
              <a:t>Start code 00 00 01 hoặc 00 00 00 01 đánh dấu NAL mới. NAL header gồm forbidden bit, nal_ref_idc và nal_unit_type; 0x65 là IDR (type 5). EBSP là payload có emulation-prevention byte 0x03, RBSP là bản đã bỏ các byte đó; mọi offset bit của parser tính trên RBSP.</a:t>
            </a:r>
          </a:p>
          <a:p>
            <a:endParaRPr/>
          </a:p>
          <a:p>
            <a:r>
              <a:t>ẢNH HƯỞNG TỚI HỆ THỐNG</a:t>
            </a:r>
          </a:p>
          <a:p>
            <a:r>
              <a:t>Native phải tách đúng NAL và slice header trước khi tới residual. Header không bao giờ là vị trí nhúng. Demo đối chiếu vị trí bắt đầu slice data của native với trace_headers của FFmpeg.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4 (slice, macroblock, block). Minh họa là hình giải thích, không phải ảnh hệ thống thật.</a:t>
            </a:r>
          </a:p>
          <a:p>
            <a:endParaRPr/>
          </a:p>
          <a:p>
            <a:r>
              <a:t>THUẬT NGỮ VÀ Ý NGHĨA</a:t>
            </a:r>
          </a:p>
          <a:p>
            <a:r>
              <a:t>IDR frame là ảnh giải mã tức thời, không tham chiếu ảnh trước. Macroblock 16×16 là đơn vị mã hóa. Residual được chia thành các loại block LumaDC, Luma4x4, ChromaDC, ChromaAC; mỗi block là một tập coefficient.</a:t>
            </a:r>
          </a:p>
          <a:p>
            <a:endParaRPr/>
          </a:p>
          <a:p>
            <a:r>
              <a:t>ẢNH HƯỞNG TỚI HỆ THỐNG</a:t>
            </a:r>
          </a:p>
          <a:p>
            <a:r>
              <a:t>Dung lượng không tỉ lệ với thời lượng video mà bằng số block có trailing-one trong các IDR. Ví dụ clip demo 8 frame CIF, QP 22, GOP 1 có 3 660 ứng viên. Số này đo được bằng zkstego_inspect --segments.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4.2 và mục 5 (Intra4x4/Intra16x16, biến đổi, lượng tử). Minh họa là hình giải thích.</a:t>
            </a:r>
          </a:p>
          <a:p>
            <a:endParaRPr/>
          </a:p>
          <a:p>
            <a:r>
              <a:t>THUẬT NGỮ VÀ Ý NGHĨA</a:t>
            </a:r>
          </a:p>
          <a:p>
            <a:r>
              <a:t>Intra prediction ước lượng block từ mẫu lân cận đã tái tạo. Biến đổi nguyên 4×4 đưa residual sang coefficient; lượng tử hóa làm nhiều coefficient về 0. CAVLC nén các coefficient còn lại với bảng chọn theo ngữ cảnh nC.</a:t>
            </a:r>
          </a:p>
          <a:p>
            <a:endParaRPr/>
          </a:p>
          <a:p>
            <a:r>
              <a:t>ẢNH HƯỞNG TỚI HỆ THỐNG</a:t>
            </a:r>
          </a:p>
          <a:p>
            <a:r>
              <a:t>Native không đụng tới mode dự đoán, CBP hay QP. Nó chỉ lật bit dấu, nên mọi trường cú pháp khác giữ nguyên và decoder vẫn đi đúng cấu trúc của macroblock.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5.5 (ví dụ thật đi hết một khối). Minh họa pixel-to-coeff do AI tạo để giải thích trực quan.</a:t>
            </a:r>
          </a:p>
          <a:p>
            <a:endParaRPr/>
          </a:p>
          <a:p>
            <a:r>
              <a:t>THUẬT NGỮ VÀ Ý NGHĨA</a:t>
            </a:r>
          </a:p>
          <a:p>
            <a:r>
              <a:t>Pixel là giá trị hiển thị. Prediction tạo bản ước lượng. Residual = gốc − dự đoán. Coefficient 4×4 là residual sau biến đổi và lượng tử. CAVLC mã hóa các coefficient khác 0.</a:t>
            </a:r>
          </a:p>
          <a:p>
            <a:endParaRPr/>
          </a:p>
          <a:p>
            <a:r>
              <a:t>ẢNH HƯỞNG TỚI HỆ THỐNG</a:t>
            </a:r>
          </a:p>
          <a:p>
            <a:r>
              <a:t>Payload không chạm vào pixel. Ví dụ thật trong demo: hệ số −1 đổi thành +1 làm residual một hàng đổi từ [1,2,4,5] thành [5,4,2,1]; demo kiểm từng mẫu khớp ảnh FFmpeg -skip_loop_filter 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native/include/zkstego/cavlc_stream.hpp và native/src/cavlc_stream.cpp: decode_baseline_i_idr_slice, collect_cavlc_trailing_one_sign_candidates, select_keyed_cavlc_sign_candidates; native/tools/inspect.cpp (zkstego_inspect); doc/he_thong_hoat_dong.md, mục 11.3.</a:t>
            </a:r>
          </a:p>
          <a:p>
            <a:endParaRPr/>
          </a:p>
          <a:p>
            <a:r>
              <a:t>THUẬT NGỮ VÀ Ý NGHĨA</a:t>
            </a:r>
          </a:p>
          <a:p>
            <a:r>
              <a:t>Parse tách NAL, bỏ EPB và đọc slice. Decode đọc coeff_token, dấu, level, total_zeros, run_before. Record lưu một ứng viên mỗi block với định danh nal:mb:cat:blk:bitoff. Patch lật đúng bit dấu được lịch chọn. zkstego_inspect xuất JSON NAL/slice/ứng viên; --summary, --macroblock NAL MB và --segments MAX_BITS để soi chi tiết.</a:t>
            </a:r>
          </a:p>
          <a:p>
            <a:endParaRPr/>
          </a:p>
          <a:p>
            <a:r>
              <a:t>ẢNH HƯỞNG TỚI HỆ THỐNG</a:t>
            </a:r>
          </a:p>
          <a:p>
            <a:r>
              <a:t>Offset được ghi ngay lúc decode nên writer sửa đúng bit, không đoán lại. Vì lật dấu không đổi cấu trúc, bên nhận parse stego cũng ra đúng danh sách ứng viên đó: đây là nền tảng của trích mù.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6 (mã hóa entropy CAVLC, ví dụ bit 34640). Minh họa cavlc-ribbon do AI tạo để giải thích trực quan.</a:t>
            </a:r>
          </a:p>
          <a:p>
            <a:endParaRPr/>
          </a:p>
          <a:p>
            <a:r>
              <a:t>THUẬT NGỮ VÀ Ý NGHĨA</a:t>
            </a:r>
          </a:p>
          <a:p>
            <a:r>
              <a:t>coeff_token mã hóa (TotalCoeff, TrailingOnes). trailing_ones_sign_flag: 0 → +1, 1 → −1, tối đa ba cờ mỗi block. level là các coefficient còn lại. total_zeros là số 0 trước hệ số cuối; run_before phân bổ các số 0 đó.</a:t>
            </a:r>
          </a:p>
          <a:p>
            <a:endParaRPr/>
          </a:p>
          <a:p>
            <a:r>
              <a:t>ẢNH HƯỞNG TỚI HỆ THỐNG</a:t>
            </a:r>
          </a:p>
          <a:p>
            <a:r>
              <a:t>Chỉ cờ dấu T1 là 1 bit cố định, đổi giá trị không đổi độ dài. Native dùng cờ dấu của trailing-one đầu tiên trong mỗi block làm ứng viên duy nhất của block đó.</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7 (kênh nhúng) và mục 8 (lịch có khóa); native: collect_cavlc_trailing_one_sign_candidates, score_keyed_cavlc_sign_candidate, select_keyed_cavlc_sign_candidates; src/native_blind_contract.py (segment_schedule).</a:t>
            </a:r>
          </a:p>
          <a:p>
            <a:endParaRPr/>
          </a:p>
          <a:p>
            <a:r>
              <a:t>THUẬT NGỮ VÀ Ý NGHĨA</a:t>
            </a:r>
          </a:p>
          <a:p>
            <a:r>
              <a:t>Ứng viên = dấu trailing-one đầu tiên của mọi block LumaDC, Luma4x4, ChromaDC, ChromaAC trong slice IDR. score = HMAC-SHA256(schedule_key, "nal:mb:cat:blk:bitoff"); sắp xếp tăng dần theo (score, định danh); mỗi đoạn SPS+PPS+IDR mang tối đa max-bits-per-IDR bit (mặc định 64).</a:t>
            </a:r>
          </a:p>
          <a:p>
            <a:endParaRPr/>
          </a:p>
          <a:p>
            <a:r>
              <a:t>ẢNH HƯỞNG TỚI HỆ THỐNG</a:t>
            </a:r>
          </a:p>
          <a:p>
            <a:r>
              <a:t>Không có bộ lọc vị trí hay quality gate: lật dấu an toàn theo cấu tạo vì độ dài mã, TotalCoeff, TrailingOnes, nC và mọi cú pháp sau giữ nguyên. Tính decode được xác nhận bằng strict decode FFmpeg trong test và demo. Bên nhận phải dùng cùng secret và cùng max-bits-per-IDR, nếu không lịch lệch.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6 (ví dụ bit nhúng), mục 8 (bit nhúng 0 → dấu +, 1 → dấu −) và mục 9.1 (làm trắng). Minh họa là hình giải thích.</a:t>
            </a:r>
          </a:p>
          <a:p>
            <a:endParaRPr/>
          </a:p>
          <a:p>
            <a:r>
              <a:t>THUẬT NGỮ VÀ Ý NGHĨA</a:t>
            </a:r>
          </a:p>
          <a:p>
            <a:r>
              <a:t>Cờ dấu: 0 = +1, 1 = −1. Bit khung f_i là bit thứ i của khung v2 (MSB trước). Bit keystream k_i lấy từ HMAC(whitening_key, bộ đếm). Bit nhúng e_i = f_i XOR k_i được ghi vào ứng viên có thứ hạng i trong lịch.</a:t>
            </a:r>
          </a:p>
          <a:p>
            <a:endParaRPr/>
          </a:p>
          <a:p>
            <a:r>
              <a:t>ẢNH HƯỞNG TỚI HỆ THỐNG</a:t>
            </a:r>
          </a:p>
          <a:p>
            <a:r>
              <a:t>Hình minh họa e_i = 0: dấu đích là +, nên −1 đổi thành +1 (cờ 1 → 0). Nếu dấu hiện tại đã đúng thì không lật. Magnitude luôn giữ nguyên. Embed và extract dùng cùng quy ước, cùng keystream, nếu không payload sai dù video vẫn decode.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3.2 (EBSP/RBSP) và mục 16 (kiểm thử); native/src/cavlc_stream.cpp (writer theo đoạn); src/runtest/test_native_cli_fixture.py; demo/terminal_demo.py. Minh họa là hình giải thích.</a:t>
            </a:r>
          </a:p>
          <a:p>
            <a:endParaRPr/>
          </a:p>
          <a:p>
            <a:r>
              <a:t>THUẬT NGỮ VÀ Ý NGHĨA</a:t>
            </a:r>
          </a:p>
          <a:p>
            <a:r>
              <a:t>Writer lật bit tại offset RBSP đã ghi rồi đóng gói lại NAL, tính lại emulation-prevention byte. Strict decode là giải mã FFmpeg với kiểm lỗi chặt. PSNR là chỉ số đo sai khác giữa source.h264 và stego.h264.</a:t>
            </a:r>
          </a:p>
          <a:p>
            <a:endParaRPr/>
          </a:p>
          <a:p>
            <a:r>
              <a:t>ẢNH HƯỞNG TỚI HỆ THỐNG</a:t>
            </a:r>
          </a:p>
          <a:p>
            <a:r>
              <a:t>Đường nhúng không có quality gate. Bằng chứng đúng đắn đến từ test và demo: strict decode, trích mù ra đúng payload, sai khóa bị từ chối, output CLI trùng từng byte với job HTTP. PSNR chỉ được đo và in ra, không quyết định nhận hay loại.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9.2 (trích xuất mù và thông báo lỗi) và mục 11.2; zkstego_blind_bits extract-stream-auth. Minh họa là hình giải thích.</a:t>
            </a:r>
          </a:p>
          <a:p>
            <a:endParaRPr/>
          </a:p>
          <a:p>
            <a:r>
              <a:t>THUẬT NGỮ VÀ Ý NGHĨA</a:t>
            </a:r>
          </a:p>
          <a:p>
            <a:r>
              <a:t>Trích mù: bên nhận không cần video gốc hay file phụ. Các bước: parse IDR, liệt kê ứng viên, sinh lại khóa con và lịch, đọc bit, bỏ làm trắng 24 bit đầu để kiểm version 0x02 và độ dài, đọc đủ khung, so tag hằng thời gian.</a:t>
            </a:r>
          </a:p>
          <a:p>
            <a:endParaRPr/>
          </a:p>
          <a:p>
            <a:r>
              <a:t>ẢNH HƯỞNG TỚI HỆ THỐNG</a:t>
            </a:r>
          </a:p>
          <a:p>
            <a:r>
              <a:t>Mọi lỗi (tag sai, version sai, độ dài vượt giới hạn, thiếu dung lượng, hết video) thoát mã 2 và không trả payload. Khóa chỉ đi qua stdin, không qua tham số dòng lệnh.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10 (payload và proof Groth16); circuits/payload_verify.circom; src/zk_proof.py (ZKSnarkBridge, bytes_to_proof, verify_proof_for_payload). Minh họa là hình giải thích.</a:t>
            </a:r>
          </a:p>
          <a:p>
            <a:endParaRPr/>
          </a:p>
          <a:p>
            <a:r>
              <a:t>THUẬT NGỮ VÀ Ý NGHĨA</a:t>
            </a:r>
          </a:p>
          <a:p>
            <a:r>
              <a:t>Mạch chứng minh commitment = SHA256(SHA256(message) ‖ secret) với mọi tín hiệu hash, commitment, secret bị ép 0/1; 63 321 constraint, 513 public signal. Verifier tự tính public signals từ message và secret. snarkjs groth16 verify chỉ được chấp nhận khi exit 0 và có dòng OK!. Khóa proving/verification là thiết lập giáo dục cục bộ.</a:t>
            </a:r>
          </a:p>
          <a:p>
            <a:endParaRPr/>
          </a:p>
          <a:p>
            <a:r>
              <a:t>ẢNH HƯỞNG TỚI HỆ THỐNG</a:t>
            </a:r>
          </a:p>
          <a:p>
            <a:r>
              <a:t>Verify bắt buộc: proof hỏng hoặc sai → không trả message. Giới hạn: proof không gắn với video, frame hay camera nên có thể chép sang video khác cùng khóa; verifier phải giữ secret nên ai có khóa cũng tạo được proof. Hướng xử lý trong future_plan.md.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12 (dịch vụ HTTP/WebSocket); src/api/native_handlers.py; src/api/app.py.</a:t>
            </a:r>
          </a:p>
          <a:p>
            <a:endParaRPr/>
          </a:p>
          <a:p>
            <a:r>
              <a:t>THUẬT NGỮ VÀ Ý NGHĨA</a:t>
            </a:r>
          </a:p>
          <a:p>
            <a:r>
              <a:t>Job HTTP: POST /api/v1/jobs/embed, /extract, /verify; trạng thái queued, running, succeeded, rejected, failed; artifact tải một lần, hết hạn sau 10 phút. Job verify trả succeeded kèm message chỉ khi proof đúng, ngược lại rejected (payload_not_authenticated, malformed_proof_payload, proof_invalid). WebSocket /api/v1/stream nhận chunk Annex-B và dùng cùng giao thức theo đoạn IDR.</a:t>
            </a:r>
          </a:p>
          <a:p>
            <a:endParaRPr/>
          </a:p>
          <a:p>
            <a:r>
              <a:t>ẢNH HƯỞNG TỚI HỆ THỐNG</a:t>
            </a:r>
          </a:p>
          <a:p>
            <a:r>
              <a:t>Bearer token bắt buộc, tối thiểu 32 ký tự, kiểm trước khi đọc body; 10 lần sai/60 s → 429. Hàng đợi có giới hạn, native gọi không qua shell, có timeout. Native vẫn không gọi prover trong vòng lặp camera: proof tạo trước, verify nằm trong job verify hoặc ở bên nhận.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README.md (Status, Known limits); doc/he_thong_hoat_dong.md, mục 16 và mục 17; doc/completion_plan.md.</a:t>
            </a:r>
          </a:p>
          <a:p>
            <a:endParaRPr/>
          </a:p>
          <a:p>
            <a:r>
              <a:t>THUẬT NGỮ VÀ Ý NGHĨA</a:t>
            </a:r>
          </a:p>
          <a:p>
            <a:r>
              <a:t>Đã xác nhận: Annex-B H.264 Baseline CAVLC, IDR, một slice/frame, giao thức v2, trích mù + Groth16 bắt buộc, strict decode; run_all.py đạt 126/126 qua 12 phase ngày 03/10/2026 trên máy Windows (bằng chứng chức năng). Chưa khẳng định: CABAC, P/B làm vật mang, mọi camera/độ phân giải, realtime 30 FPS, ràng buộc proof với video.</a:t>
            </a:r>
          </a:p>
          <a:p>
            <a:endParaRPr/>
          </a:p>
          <a:p>
            <a:r>
              <a:t>ẢNH HƯỞNG TỚI HỆ THỐNG</a:t>
            </a:r>
          </a:p>
          <a:p>
            <a:r>
              <a:t>Realtime chưa đạt: E2E camera thật đo 7.608 FPS so với cổng 30 FPS, trước bản tăng tốc native ngày 02/10/2026 và chưa đo lại; chưa có kết quả trên thiết bị edge. Số liệu benchmark/camera đã ghi có trước giao thức v2 và mạch ràng buộc bit, cần chạy lại trước khi trích dẫn.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a:t>
            </a:r>
          </a:p>
          <a:p>
            <a:r>
              <a:t>doc/he_thong_hoat_dong.md, mục 8 (HKDF) và mục 9 (khung, làm trắng, trích mù); src/native_blind_contract.py (derive_channel_keys, pack_authenticated_frame, whiten_frame); native/src/cavlc_stream.cpp.</a:t>
            </a:r>
          </a:p>
          <a:p>
            <a:endParaRPr/>
          </a:p>
          <a:p>
            <a:r>
              <a:t>THUẬT NGỮ VÀ Ý NGHĨA</a:t>
            </a:r>
          </a:p>
          <a:p>
            <a:r>
              <a:t>HKDF-SHA256 (RFC 5869): PRK = HMAC-SHA256("zkstego-cavlc-v2-salt", secret); schedule_key, frame_key, whitening_key là HKDF-Expand với nhãn zkstego/cavlc/v2/schedule, frame-tag, whitening. Khung v2 = [version 0x02][len 2B big-endian][payload][tag 16B], tag = HMAC-SHA256(frame_key, version ‖ len ‖ payload)[0:16]. Làm trắng: e_i = f_i XOR k_i.</a:t>
            </a:r>
          </a:p>
          <a:p>
            <a:endParaRPr/>
          </a:p>
          <a:p>
            <a:r>
              <a:t>ẢNH HƯỞNG TỚI HỆ THỐNG</a:t>
            </a:r>
          </a:p>
          <a:p>
            <a:r>
              <a:t>Khóa tách vai trò: lộ một khóa con không lộ secret hay khóa khác. Làm trắng xóa thiên lệch của byte version cố định, trường độ dài nhỏ và cấu trúc proof. Sai khóa → byte version sau khi bỏ làm trắng gần như ngẫu nhiên → từ chối ngay; bit bị sửa → tag sai → từ chối. HMAC đúng vẫn không thay cho verify Groth16. Giao thức v2 không đọc được stego 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20FBC9-F815-4DDD-9404-D11134353E57}"/>
              </a:ext>
            </a:extLst>
          </p:cNvPr>
          <p:cNvSpPr>
            <a:spLocks noGrp="1"/>
          </p:cNvSpPr>
          <p:nvPr/>
        </p:nvSpPr>
        <p:spPr>
          <a:xfrm>
            <a:off x="459866" y="504062"/>
            <a:ext cx="10147174" cy="4205097"/>
          </a:xfrm>
          <a:prstGeom prst="rect">
            <a:avLst/>
          </a:prstGeom>
          <a:noFill/>
          <a:ln w="0">
            <a:noFill/>
          </a:ln>
        </p:spPr>
        <p:txBody>
          <a:bodyPr>
            <a:normAutofit fontScale="95307"/>
          </a:bodyPr>
          <a:lstStyle/>
          <a:p>
            <a:pPr>
              <a:defRPr sz="3750" b="1">
                <a:solidFill>
                  <a:srgbClr val="0B1B35"/>
                </a:solidFill>
                <a:latin typeface="Arial"/>
                <a:ea typeface="Arial"/>
                <a:cs typeface="Arial"/>
              </a:defRPr>
            </a:pPr>
            <a:r>
              <a:rPr lang="en-US" sz="4800" b="1" dirty="0">
                <a:solidFill>
                  <a:srgbClr val="0B1B35"/>
                </a:solidFill>
                <a:latin typeface="Arial"/>
                <a:ea typeface="Arial"/>
                <a:cs typeface="Arial"/>
              </a:rPr>
              <a:t>ZK-SNARK ×</a:t>
            </a:r>
          </a:p>
          <a:p>
            <a:pPr>
              <a:defRPr sz="3750" b="1">
                <a:solidFill>
                  <a:srgbClr val="0B1B35"/>
                </a:solidFill>
                <a:latin typeface="Arial"/>
                <a:ea typeface="Arial"/>
                <a:cs typeface="Arial"/>
              </a:defRPr>
            </a:pPr>
            <a:r>
              <a:rPr sz="4800" b="1" dirty="0">
                <a:solidFill>
                  <a:srgbClr val="0B1B35"/>
                </a:solidFill>
                <a:latin typeface="Arial"/>
                <a:ea typeface="Arial"/>
                <a:cs typeface="Arial"/>
              </a:rPr>
              <a:t>Video Steganography</a:t>
            </a:r>
          </a:p>
        </p:txBody>
      </p:sp>
    </p:spTree>
    <p:extLst>
      <p:ext uri="{BB962C8B-B14F-4D97-AF65-F5344CB8AC3E}">
        <p14:creationId xmlns:p14="http://schemas.microsoft.com/office/powerpoint/2010/main" val="236413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2DF5A579-BA4F-4204-A67C-018CE69BAE96}"/>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Sơ đồ hệ thống hiện tại</a:t>
            </a:r>
          </a:p>
        </p:txBody>
      </p:sp>
      <p:sp>
        <p:nvSpPr>
          <p:cNvPr id="2" name="Rectangle 1">
            <a:extLst>
              <a:ext uri="{FF2B5EF4-FFF2-40B4-BE49-F238E27FC236}">
                <a16:creationId xmlns:a16="http://schemas.microsoft.com/office/drawing/2014/main" id="{BA7D311E-CB64-48F2-943B-4FA4B828ED9B}"/>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Proof tạo trước rồi đóng vào khung xác thực v2. Native chỉ đọc và lật bit dấu trong H.264 theo lịch do khóa quyết định.</a:t>
            </a:r>
          </a:p>
        </p:txBody>
      </p:sp>
      <p:sp>
        <p:nvSpPr>
          <p:cNvPr id="3" name="Straight Connector 2">
            <a:extLst>
              <a:ext uri="{FF2B5EF4-FFF2-40B4-BE49-F238E27FC236}">
                <a16:creationId xmlns:a16="http://schemas.microsoft.com/office/drawing/2014/main" id="{C2677577-5813-4DFE-B6E1-C3570F5245E2}"/>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sp>
        <p:nvSpPr>
          <p:cNvPr id="4" name="Rectangle: Rounded Corners 3">
            <a:extLst>
              <a:ext uri="{FF2B5EF4-FFF2-40B4-BE49-F238E27FC236}">
                <a16:creationId xmlns:a16="http://schemas.microsoft.com/office/drawing/2014/main" id="{C612DE0B-F8A7-45CB-B744-23F2FE4C8C59}"/>
              </a:ext>
            </a:extLst>
          </p:cNvPr>
          <p:cNvSpPr>
            <a:spLocks noGrp="1"/>
          </p:cNvSpPr>
          <p:nvPr/>
        </p:nvSpPr>
        <p:spPr>
          <a:xfrm>
            <a:off x="400050" y="2333625"/>
            <a:ext cx="1885950" cy="1581150"/>
          </a:xfrm>
          <a:prstGeom prst="roundRect">
            <a:avLst>
              <a:gd name="adj" fmla="val 4819"/>
            </a:avLst>
          </a:prstGeom>
          <a:solidFill>
            <a:srgbClr val="FFFFFF"/>
          </a:solidFill>
          <a:ln w="19050">
            <a:solidFill>
              <a:srgbClr val="7555D9"/>
            </a:solidFill>
          </a:ln>
        </p:spPr>
        <p:txBody>
          <a:bodyPr/>
          <a:lstStyle/>
          <a:p>
            <a:endParaRPr lang="en-US"/>
          </a:p>
        </p:txBody>
      </p:sp>
      <p:sp>
        <p:nvSpPr>
          <p:cNvPr id="5" name="Rectangle 4">
            <a:extLst>
              <a:ext uri="{FF2B5EF4-FFF2-40B4-BE49-F238E27FC236}">
                <a16:creationId xmlns:a16="http://schemas.microsoft.com/office/drawing/2014/main" id="{81B39D04-834E-4432-BA43-636A75C8E44A}"/>
              </a:ext>
            </a:extLst>
          </p:cNvPr>
          <p:cNvSpPr>
            <a:spLocks noGrp="1"/>
          </p:cNvSpPr>
          <p:nvPr/>
        </p:nvSpPr>
        <p:spPr>
          <a:xfrm>
            <a:off x="400050" y="2333625"/>
            <a:ext cx="1885950" cy="95250"/>
          </a:xfrm>
          <a:prstGeom prst="rect">
            <a:avLst/>
          </a:prstGeom>
          <a:solidFill>
            <a:srgbClr val="7555D9"/>
          </a:solidFill>
          <a:ln w="0">
            <a:solidFill>
              <a:srgbClr val="7555D9"/>
            </a:solidFill>
          </a:ln>
        </p:spPr>
        <p:txBody>
          <a:bodyPr/>
          <a:lstStyle/>
          <a:p>
            <a:endParaRPr lang="en-US"/>
          </a:p>
        </p:txBody>
      </p:sp>
      <p:sp>
        <p:nvSpPr>
          <p:cNvPr id="6" name="Rectangle 5">
            <a:extLst>
              <a:ext uri="{FF2B5EF4-FFF2-40B4-BE49-F238E27FC236}">
                <a16:creationId xmlns:a16="http://schemas.microsoft.com/office/drawing/2014/main" id="{B384B09D-C449-4F7B-AA9B-5CAD7ABB8079}"/>
              </a:ext>
            </a:extLst>
          </p:cNvPr>
          <p:cNvSpPr>
            <a:spLocks noGrp="1"/>
          </p:cNvSpPr>
          <p:nvPr/>
        </p:nvSpPr>
        <p:spPr>
          <a:xfrm>
            <a:off x="552450" y="2647950"/>
            <a:ext cx="158115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1. ZK prover</a:t>
            </a:r>
          </a:p>
        </p:txBody>
      </p:sp>
      <p:sp>
        <p:nvSpPr>
          <p:cNvPr id="7" name="Rectangle 6">
            <a:extLst>
              <a:ext uri="{FF2B5EF4-FFF2-40B4-BE49-F238E27FC236}">
                <a16:creationId xmlns:a16="http://schemas.microsoft.com/office/drawing/2014/main" id="{7AB0ED5A-0A17-4932-A135-4E94385C7D0D}"/>
              </a:ext>
            </a:extLst>
          </p:cNvPr>
          <p:cNvSpPr>
            <a:spLocks noGrp="1"/>
          </p:cNvSpPr>
          <p:nvPr/>
        </p:nvSpPr>
        <p:spPr>
          <a:xfrm>
            <a:off x="552450" y="3133725"/>
            <a:ext cx="1581150" cy="457200"/>
          </a:xfrm>
          <a:prstGeom prst="rect">
            <a:avLst/>
          </a:prstGeom>
          <a:noFill/>
          <a:ln w="0">
            <a:noFill/>
          </a:ln>
        </p:spPr>
        <p:txBody>
          <a:bodyPr>
            <a:normAutofit fontScale="84211"/>
          </a:bodyPr>
          <a:lstStyle/>
          <a:p>
            <a:pPr>
              <a:defRPr sz="1425">
                <a:solidFill>
                  <a:srgbClr val="5A6780"/>
                </a:solidFill>
                <a:latin typeface="Arial"/>
                <a:ea typeface="Arial"/>
                <a:cs typeface="Arial"/>
              </a:defRPr>
            </a:pPr>
            <a:r>
              <a:rPr sz="1425">
                <a:solidFill>
                  <a:srgbClr val="5A6780"/>
                </a:solidFill>
                <a:latin typeface="Arial"/>
                <a:ea typeface="Arial"/>
                <a:cs typeface="Arial"/>
              </a:rPr>
              <a:t>message + secret</a:t>
            </a:r>
          </a:p>
          <a:p>
            <a:pPr>
              <a:defRPr sz="1425">
                <a:solidFill>
                  <a:srgbClr val="5A6780"/>
                </a:solidFill>
                <a:latin typeface="Arial"/>
                <a:ea typeface="Arial"/>
                <a:cs typeface="Arial"/>
              </a:defRPr>
            </a:pPr>
            <a:r>
              <a:rPr sz="1425">
                <a:solidFill>
                  <a:srgbClr val="5A6780"/>
                </a:solidFill>
                <a:latin typeface="Arial"/>
                <a:ea typeface="Arial"/>
                <a:cs typeface="Arial"/>
              </a:rPr>
              <a:t>→ proof 129 B</a:t>
            </a:r>
          </a:p>
        </p:txBody>
      </p:sp>
      <p:sp>
        <p:nvSpPr>
          <p:cNvPr id="8" name="Rectangle 7">
            <a:extLst>
              <a:ext uri="{FF2B5EF4-FFF2-40B4-BE49-F238E27FC236}">
                <a16:creationId xmlns:a16="http://schemas.microsoft.com/office/drawing/2014/main" id="{2CE03D12-BFBB-4018-AA7F-2DA308958626}"/>
              </a:ext>
            </a:extLst>
          </p:cNvPr>
          <p:cNvSpPr>
            <a:spLocks noGrp="1"/>
          </p:cNvSpPr>
          <p:nvPr/>
        </p:nvSpPr>
        <p:spPr>
          <a:xfrm>
            <a:off x="2295525" y="2876550"/>
            <a:ext cx="361950" cy="400050"/>
          </a:xfrm>
          <a:prstGeom prst="rect">
            <a:avLst/>
          </a:prstGeom>
          <a:noFill/>
          <a:ln w="0">
            <a:noFill/>
          </a:ln>
        </p:spPr>
        <p:txBody>
          <a:bodyPr>
            <a:normAutofit fontScale="50661"/>
          </a:bodyPr>
          <a:lstStyle/>
          <a:p>
            <a:pPr>
              <a:defRPr sz="2775" b="1">
                <a:solidFill>
                  <a:srgbClr val="7555D9"/>
                </a:solidFill>
                <a:latin typeface="Arial"/>
                <a:ea typeface="Arial"/>
                <a:cs typeface="Arial"/>
              </a:defRPr>
            </a:pPr>
            <a:r>
              <a:rPr sz="2775" b="1">
                <a:solidFill>
                  <a:srgbClr val="7555D9"/>
                </a:solidFill>
                <a:latin typeface="Arial"/>
                <a:ea typeface="Arial"/>
                <a:cs typeface="Arial"/>
              </a:rPr>
              <a:t>→</a:t>
            </a:r>
          </a:p>
        </p:txBody>
      </p:sp>
      <p:sp>
        <p:nvSpPr>
          <p:cNvPr id="9" name="Rectangle: Rounded Corners 8">
            <a:extLst>
              <a:ext uri="{FF2B5EF4-FFF2-40B4-BE49-F238E27FC236}">
                <a16:creationId xmlns:a16="http://schemas.microsoft.com/office/drawing/2014/main" id="{845B2BBD-9298-4CD4-B2B9-11F3DE280130}"/>
              </a:ext>
            </a:extLst>
          </p:cNvPr>
          <p:cNvSpPr>
            <a:spLocks noGrp="1"/>
          </p:cNvSpPr>
          <p:nvPr/>
        </p:nvSpPr>
        <p:spPr>
          <a:xfrm>
            <a:off x="2676525" y="2333625"/>
            <a:ext cx="1885950" cy="1581150"/>
          </a:xfrm>
          <a:prstGeom prst="roundRect">
            <a:avLst>
              <a:gd name="adj" fmla="val 4819"/>
            </a:avLst>
          </a:prstGeom>
          <a:solidFill>
            <a:srgbClr val="FFFFFF"/>
          </a:solidFill>
          <a:ln w="19050">
            <a:solidFill>
              <a:srgbClr val="16A4C7"/>
            </a:solidFill>
          </a:ln>
        </p:spPr>
        <p:txBody>
          <a:bodyPr/>
          <a:lstStyle/>
          <a:p>
            <a:endParaRPr lang="en-US"/>
          </a:p>
        </p:txBody>
      </p:sp>
      <p:sp>
        <p:nvSpPr>
          <p:cNvPr id="10" name="Rectangle 9">
            <a:extLst>
              <a:ext uri="{FF2B5EF4-FFF2-40B4-BE49-F238E27FC236}">
                <a16:creationId xmlns:a16="http://schemas.microsoft.com/office/drawing/2014/main" id="{2A4C2EFA-2998-4A44-9751-AB19CC2908F5}"/>
              </a:ext>
            </a:extLst>
          </p:cNvPr>
          <p:cNvSpPr>
            <a:spLocks noGrp="1"/>
          </p:cNvSpPr>
          <p:nvPr/>
        </p:nvSpPr>
        <p:spPr>
          <a:xfrm>
            <a:off x="2676525" y="2333625"/>
            <a:ext cx="1885950" cy="95250"/>
          </a:xfrm>
          <a:prstGeom prst="rect">
            <a:avLst/>
          </a:prstGeom>
          <a:solidFill>
            <a:srgbClr val="16A4C7"/>
          </a:solidFill>
          <a:ln w="0">
            <a:solidFill>
              <a:srgbClr val="16A4C7"/>
            </a:solidFill>
          </a:ln>
        </p:spPr>
        <p:txBody>
          <a:bodyPr/>
          <a:lstStyle/>
          <a:p>
            <a:endParaRPr lang="en-US"/>
          </a:p>
        </p:txBody>
      </p:sp>
      <p:sp>
        <p:nvSpPr>
          <p:cNvPr id="11" name="Rectangle 10">
            <a:extLst>
              <a:ext uri="{FF2B5EF4-FFF2-40B4-BE49-F238E27FC236}">
                <a16:creationId xmlns:a16="http://schemas.microsoft.com/office/drawing/2014/main" id="{040D57AB-1A83-4F9A-998A-CB3EA45A09A4}"/>
              </a:ext>
            </a:extLst>
          </p:cNvPr>
          <p:cNvSpPr>
            <a:spLocks noGrp="1"/>
          </p:cNvSpPr>
          <p:nvPr/>
        </p:nvSpPr>
        <p:spPr>
          <a:xfrm>
            <a:off x="2828925" y="2647950"/>
            <a:ext cx="158115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2. Khung xác thực</a:t>
            </a:r>
          </a:p>
        </p:txBody>
      </p:sp>
      <p:sp>
        <p:nvSpPr>
          <p:cNvPr id="12" name="Rectangle 11">
            <a:extLst>
              <a:ext uri="{FF2B5EF4-FFF2-40B4-BE49-F238E27FC236}">
                <a16:creationId xmlns:a16="http://schemas.microsoft.com/office/drawing/2014/main" id="{B50F26C5-6ED9-40E3-B8F6-3CA5D2FB5139}"/>
              </a:ext>
            </a:extLst>
          </p:cNvPr>
          <p:cNvSpPr>
            <a:spLocks noGrp="1"/>
          </p:cNvSpPr>
          <p:nvPr/>
        </p:nvSpPr>
        <p:spPr>
          <a:xfrm>
            <a:off x="2828925" y="3133725"/>
            <a:ext cx="1581150" cy="457200"/>
          </a:xfrm>
          <a:prstGeom prst="rect">
            <a:avLst/>
          </a:prstGeom>
          <a:noFill/>
          <a:ln w="0">
            <a:noFill/>
          </a:ln>
        </p:spPr>
        <p:txBody>
          <a:bodyPr>
            <a:normAutofit fontScale="84211"/>
          </a:bodyPr>
          <a:lstStyle/>
          <a:p>
            <a:pPr>
              <a:defRPr sz="1425">
                <a:solidFill>
                  <a:srgbClr val="5A6780"/>
                </a:solidFill>
                <a:latin typeface="Arial"/>
                <a:ea typeface="Arial"/>
                <a:cs typeface="Arial"/>
              </a:defRPr>
            </a:pPr>
            <a:r>
              <a:rPr sz="1425">
                <a:solidFill>
                  <a:srgbClr val="5A6780"/>
                </a:solidFill>
                <a:latin typeface="Arial"/>
                <a:ea typeface="Arial"/>
                <a:cs typeface="Arial"/>
              </a:rPr>
              <a:t>payload → khung v2</a:t>
            </a:r>
          </a:p>
          <a:p>
            <a:pPr>
              <a:defRPr sz="1425">
                <a:solidFill>
                  <a:srgbClr val="5A6780"/>
                </a:solidFill>
                <a:latin typeface="Arial"/>
                <a:ea typeface="Arial"/>
                <a:cs typeface="Arial"/>
              </a:defRPr>
            </a:pPr>
            <a:r>
              <a:rPr sz="1425">
                <a:solidFill>
                  <a:srgbClr val="5A6780"/>
                </a:solidFill>
                <a:latin typeface="Arial"/>
                <a:ea typeface="Arial"/>
                <a:cs typeface="Arial"/>
              </a:rPr>
              <a:t>HMAC + làm trắng</a:t>
            </a:r>
          </a:p>
        </p:txBody>
      </p:sp>
      <p:sp>
        <p:nvSpPr>
          <p:cNvPr id="13" name="Rectangle 12">
            <a:extLst>
              <a:ext uri="{FF2B5EF4-FFF2-40B4-BE49-F238E27FC236}">
                <a16:creationId xmlns:a16="http://schemas.microsoft.com/office/drawing/2014/main" id="{F753F94C-4C47-4A0C-A26C-77F07C0310AD}"/>
              </a:ext>
            </a:extLst>
          </p:cNvPr>
          <p:cNvSpPr>
            <a:spLocks noGrp="1"/>
          </p:cNvSpPr>
          <p:nvPr/>
        </p:nvSpPr>
        <p:spPr>
          <a:xfrm>
            <a:off x="4572000" y="2876550"/>
            <a:ext cx="361950" cy="400050"/>
          </a:xfrm>
          <a:prstGeom prst="rect">
            <a:avLst/>
          </a:prstGeom>
          <a:noFill/>
          <a:ln w="0">
            <a:noFill/>
          </a:ln>
        </p:spPr>
        <p:txBody>
          <a:bodyPr>
            <a:normAutofit fontScale="50661"/>
          </a:bodyPr>
          <a:lstStyle/>
          <a:p>
            <a:pPr>
              <a:defRPr sz="2775" b="1">
                <a:solidFill>
                  <a:srgbClr val="16A4C7"/>
                </a:solidFill>
                <a:latin typeface="Arial"/>
                <a:ea typeface="Arial"/>
                <a:cs typeface="Arial"/>
              </a:defRPr>
            </a:pPr>
            <a:r>
              <a:rPr sz="2775" b="1">
                <a:solidFill>
                  <a:srgbClr val="16A4C7"/>
                </a:solidFill>
                <a:latin typeface="Arial"/>
                <a:ea typeface="Arial"/>
                <a:cs typeface="Arial"/>
              </a:rPr>
              <a:t>→</a:t>
            </a:r>
          </a:p>
        </p:txBody>
      </p:sp>
      <p:sp>
        <p:nvSpPr>
          <p:cNvPr id="14" name="Rectangle: Rounded Corners 13">
            <a:extLst>
              <a:ext uri="{FF2B5EF4-FFF2-40B4-BE49-F238E27FC236}">
                <a16:creationId xmlns:a16="http://schemas.microsoft.com/office/drawing/2014/main" id="{8A5A11F0-4869-4906-83D1-F72DE38DED16}"/>
              </a:ext>
            </a:extLst>
          </p:cNvPr>
          <p:cNvSpPr>
            <a:spLocks noGrp="1"/>
          </p:cNvSpPr>
          <p:nvPr/>
        </p:nvSpPr>
        <p:spPr>
          <a:xfrm>
            <a:off x="4953000" y="2333625"/>
            <a:ext cx="1885950" cy="1581150"/>
          </a:xfrm>
          <a:prstGeom prst="roundRect">
            <a:avLst>
              <a:gd name="adj" fmla="val 4819"/>
            </a:avLst>
          </a:prstGeom>
          <a:solidFill>
            <a:srgbClr val="FFFFFF"/>
          </a:solidFill>
          <a:ln w="19050">
            <a:solidFill>
              <a:srgbClr val="F2994A"/>
            </a:solidFill>
          </a:ln>
        </p:spPr>
        <p:txBody>
          <a:bodyPr/>
          <a:lstStyle/>
          <a:p>
            <a:endParaRPr lang="en-US"/>
          </a:p>
        </p:txBody>
      </p:sp>
      <p:sp>
        <p:nvSpPr>
          <p:cNvPr id="15" name="Rectangle 14">
            <a:extLst>
              <a:ext uri="{FF2B5EF4-FFF2-40B4-BE49-F238E27FC236}">
                <a16:creationId xmlns:a16="http://schemas.microsoft.com/office/drawing/2014/main" id="{E0852C9D-FE3D-4A88-BF6D-9D8E4CC383F0}"/>
              </a:ext>
            </a:extLst>
          </p:cNvPr>
          <p:cNvSpPr>
            <a:spLocks noGrp="1"/>
          </p:cNvSpPr>
          <p:nvPr/>
        </p:nvSpPr>
        <p:spPr>
          <a:xfrm>
            <a:off x="4953000" y="2333625"/>
            <a:ext cx="1885950" cy="95250"/>
          </a:xfrm>
          <a:prstGeom prst="rect">
            <a:avLst/>
          </a:prstGeom>
          <a:solidFill>
            <a:srgbClr val="F2994A"/>
          </a:solidFill>
          <a:ln w="0">
            <a:solidFill>
              <a:srgbClr val="F2994A"/>
            </a:solidFill>
          </a:ln>
        </p:spPr>
        <p:txBody>
          <a:bodyPr/>
          <a:lstStyle/>
          <a:p>
            <a:endParaRPr lang="en-US"/>
          </a:p>
        </p:txBody>
      </p:sp>
      <p:sp>
        <p:nvSpPr>
          <p:cNvPr id="16" name="Rectangle 15">
            <a:extLst>
              <a:ext uri="{FF2B5EF4-FFF2-40B4-BE49-F238E27FC236}">
                <a16:creationId xmlns:a16="http://schemas.microsoft.com/office/drawing/2014/main" id="{F1F9F784-9988-4479-93F6-6ACB03C39E30}"/>
              </a:ext>
            </a:extLst>
          </p:cNvPr>
          <p:cNvSpPr>
            <a:spLocks noGrp="1"/>
          </p:cNvSpPr>
          <p:nvPr/>
        </p:nvSpPr>
        <p:spPr>
          <a:xfrm>
            <a:off x="5105400" y="2647950"/>
            <a:ext cx="158115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3. Native CAVLC</a:t>
            </a:r>
          </a:p>
        </p:txBody>
      </p:sp>
      <p:sp>
        <p:nvSpPr>
          <p:cNvPr id="17" name="Rectangle 16">
            <a:extLst>
              <a:ext uri="{FF2B5EF4-FFF2-40B4-BE49-F238E27FC236}">
                <a16:creationId xmlns:a16="http://schemas.microsoft.com/office/drawing/2014/main" id="{E37A6EA7-16AB-447F-8934-402EF651C2B7}"/>
              </a:ext>
            </a:extLst>
          </p:cNvPr>
          <p:cNvSpPr>
            <a:spLocks noGrp="1"/>
          </p:cNvSpPr>
          <p:nvPr/>
        </p:nvSpPr>
        <p:spPr>
          <a:xfrm>
            <a:off x="5105400" y="3133725"/>
            <a:ext cx="1581150" cy="457200"/>
          </a:xfrm>
          <a:prstGeom prst="rect">
            <a:avLst/>
          </a:prstGeom>
          <a:noFill/>
          <a:ln w="0">
            <a:noFill/>
          </a:ln>
        </p:spPr>
        <p:txBody>
          <a:bodyPr>
            <a:normAutofit fontScale="84211"/>
          </a:bodyPr>
          <a:lstStyle/>
          <a:p>
            <a:pPr>
              <a:defRPr sz="1425">
                <a:solidFill>
                  <a:srgbClr val="5A6780"/>
                </a:solidFill>
                <a:latin typeface="Arial"/>
                <a:ea typeface="Arial"/>
                <a:cs typeface="Arial"/>
              </a:defRPr>
            </a:pPr>
            <a:r>
              <a:rPr sz="1425">
                <a:solidFill>
                  <a:srgbClr val="5A6780"/>
                </a:solidFill>
                <a:latin typeface="Arial"/>
                <a:ea typeface="Arial"/>
                <a:cs typeface="Arial"/>
              </a:rPr>
              <a:t>lịch HMAC (khóa)</a:t>
            </a:r>
          </a:p>
          <a:p>
            <a:pPr>
              <a:defRPr sz="1425">
                <a:solidFill>
                  <a:srgbClr val="5A6780"/>
                </a:solidFill>
                <a:latin typeface="Arial"/>
                <a:ea typeface="Arial"/>
                <a:cs typeface="Arial"/>
              </a:defRPr>
            </a:pPr>
            <a:r>
              <a:rPr sz="1425">
                <a:solidFill>
                  <a:srgbClr val="5A6780"/>
                </a:solidFill>
                <a:latin typeface="Arial"/>
                <a:ea typeface="Arial"/>
                <a:cs typeface="Arial"/>
              </a:rPr>
              <a:t>chọn dấu T1</a:t>
            </a:r>
          </a:p>
        </p:txBody>
      </p:sp>
      <p:sp>
        <p:nvSpPr>
          <p:cNvPr id="18" name="Rectangle 17">
            <a:extLst>
              <a:ext uri="{FF2B5EF4-FFF2-40B4-BE49-F238E27FC236}">
                <a16:creationId xmlns:a16="http://schemas.microsoft.com/office/drawing/2014/main" id="{F7829447-F279-4A45-A630-BFBC38193D3F}"/>
              </a:ext>
            </a:extLst>
          </p:cNvPr>
          <p:cNvSpPr>
            <a:spLocks noGrp="1"/>
          </p:cNvSpPr>
          <p:nvPr/>
        </p:nvSpPr>
        <p:spPr>
          <a:xfrm>
            <a:off x="6848475" y="2876550"/>
            <a:ext cx="361950" cy="400050"/>
          </a:xfrm>
          <a:prstGeom prst="rect">
            <a:avLst/>
          </a:prstGeom>
          <a:noFill/>
          <a:ln w="0">
            <a:noFill/>
          </a:ln>
        </p:spPr>
        <p:txBody>
          <a:bodyPr>
            <a:normAutofit fontScale="50661"/>
          </a:bodyPr>
          <a:lstStyle/>
          <a:p>
            <a:pPr>
              <a:defRPr sz="2775" b="1">
                <a:solidFill>
                  <a:srgbClr val="F2994A"/>
                </a:solidFill>
                <a:latin typeface="Arial"/>
                <a:ea typeface="Arial"/>
                <a:cs typeface="Arial"/>
              </a:defRPr>
            </a:pPr>
            <a:r>
              <a:rPr sz="2775" b="1">
                <a:solidFill>
                  <a:srgbClr val="F2994A"/>
                </a:solidFill>
                <a:latin typeface="Arial"/>
                <a:ea typeface="Arial"/>
                <a:cs typeface="Arial"/>
              </a:rPr>
              <a:t>→</a:t>
            </a:r>
          </a:p>
        </p:txBody>
      </p:sp>
      <p:sp>
        <p:nvSpPr>
          <p:cNvPr id="19" name="Rectangle: Rounded Corners 18">
            <a:extLst>
              <a:ext uri="{FF2B5EF4-FFF2-40B4-BE49-F238E27FC236}">
                <a16:creationId xmlns:a16="http://schemas.microsoft.com/office/drawing/2014/main" id="{38A83D9A-F6CA-4797-A971-636B65169ADE}"/>
              </a:ext>
            </a:extLst>
          </p:cNvPr>
          <p:cNvSpPr>
            <a:spLocks noGrp="1"/>
          </p:cNvSpPr>
          <p:nvPr/>
        </p:nvSpPr>
        <p:spPr>
          <a:xfrm>
            <a:off x="7229475" y="2333625"/>
            <a:ext cx="1885950" cy="1581150"/>
          </a:xfrm>
          <a:prstGeom prst="roundRect">
            <a:avLst>
              <a:gd name="adj" fmla="val 4819"/>
            </a:avLst>
          </a:prstGeom>
          <a:solidFill>
            <a:srgbClr val="FFFFFF"/>
          </a:solidFill>
          <a:ln w="19050">
            <a:solidFill>
              <a:srgbClr val="2667D8"/>
            </a:solidFill>
          </a:ln>
        </p:spPr>
        <p:txBody>
          <a:bodyPr/>
          <a:lstStyle/>
          <a:p>
            <a:endParaRPr lang="en-US"/>
          </a:p>
        </p:txBody>
      </p:sp>
      <p:sp>
        <p:nvSpPr>
          <p:cNvPr id="20" name="Rectangle 19">
            <a:extLst>
              <a:ext uri="{FF2B5EF4-FFF2-40B4-BE49-F238E27FC236}">
                <a16:creationId xmlns:a16="http://schemas.microsoft.com/office/drawing/2014/main" id="{E138B7C8-7ED3-40D2-A67C-9CD167A65B89}"/>
              </a:ext>
            </a:extLst>
          </p:cNvPr>
          <p:cNvSpPr>
            <a:spLocks noGrp="1"/>
          </p:cNvSpPr>
          <p:nvPr/>
        </p:nvSpPr>
        <p:spPr>
          <a:xfrm>
            <a:off x="7229475" y="2333625"/>
            <a:ext cx="1885950" cy="95250"/>
          </a:xfrm>
          <a:prstGeom prst="rect">
            <a:avLst/>
          </a:prstGeom>
          <a:solidFill>
            <a:srgbClr val="2667D8"/>
          </a:solidFill>
          <a:ln w="0">
            <a:solidFill>
              <a:srgbClr val="2667D8"/>
            </a:solidFill>
          </a:ln>
        </p:spPr>
        <p:txBody>
          <a:bodyPr/>
          <a:lstStyle/>
          <a:p>
            <a:endParaRPr lang="en-US"/>
          </a:p>
        </p:txBody>
      </p:sp>
      <p:sp>
        <p:nvSpPr>
          <p:cNvPr id="21" name="Rectangle 20">
            <a:extLst>
              <a:ext uri="{FF2B5EF4-FFF2-40B4-BE49-F238E27FC236}">
                <a16:creationId xmlns:a16="http://schemas.microsoft.com/office/drawing/2014/main" id="{99057843-B793-4739-8A0F-20333C75BF82}"/>
              </a:ext>
            </a:extLst>
          </p:cNvPr>
          <p:cNvSpPr>
            <a:spLocks noGrp="1"/>
          </p:cNvSpPr>
          <p:nvPr/>
        </p:nvSpPr>
        <p:spPr>
          <a:xfrm>
            <a:off x="7381875" y="2647950"/>
            <a:ext cx="158115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4. Stego H.264</a:t>
            </a:r>
          </a:p>
        </p:txBody>
      </p:sp>
      <p:sp>
        <p:nvSpPr>
          <p:cNvPr id="22" name="Rectangle 21">
            <a:extLst>
              <a:ext uri="{FF2B5EF4-FFF2-40B4-BE49-F238E27FC236}">
                <a16:creationId xmlns:a16="http://schemas.microsoft.com/office/drawing/2014/main" id="{E80474C9-39B0-4EE5-ABE4-9E232013A886}"/>
              </a:ext>
            </a:extLst>
          </p:cNvPr>
          <p:cNvSpPr>
            <a:spLocks noGrp="1"/>
          </p:cNvSpPr>
          <p:nvPr/>
        </p:nvSpPr>
        <p:spPr>
          <a:xfrm>
            <a:off x="7381875" y="3133725"/>
            <a:ext cx="1581150" cy="457200"/>
          </a:xfrm>
          <a:prstGeom prst="rect">
            <a:avLst/>
          </a:prstGeom>
          <a:noFill/>
          <a:ln w="0">
            <a:noFill/>
          </a:ln>
        </p:spPr>
        <p:txBody>
          <a:bodyPr>
            <a:normAutofit fontScale="84211"/>
          </a:bodyPr>
          <a:lstStyle/>
          <a:p>
            <a:pPr>
              <a:defRPr sz="1425">
                <a:solidFill>
                  <a:srgbClr val="5A6780"/>
                </a:solidFill>
                <a:latin typeface="Arial"/>
                <a:ea typeface="Arial"/>
                <a:cs typeface="Arial"/>
              </a:defRPr>
            </a:pPr>
            <a:r>
              <a:rPr sz="1425">
                <a:solidFill>
                  <a:srgbClr val="5A6780"/>
                </a:solidFill>
                <a:latin typeface="Arial"/>
                <a:ea typeface="Arial"/>
                <a:cs typeface="Arial"/>
              </a:rPr>
              <a:t>lật bit dấu, video</a:t>
            </a:r>
          </a:p>
          <a:p>
            <a:pPr>
              <a:defRPr sz="1425">
                <a:solidFill>
                  <a:srgbClr val="5A6780"/>
                </a:solidFill>
                <a:latin typeface="Arial"/>
                <a:ea typeface="Arial"/>
                <a:cs typeface="Arial"/>
              </a:defRPr>
            </a:pPr>
            <a:r>
              <a:rPr sz="1425">
                <a:solidFill>
                  <a:srgbClr val="5A6780"/>
                </a:solidFill>
                <a:latin typeface="Arial"/>
                <a:ea typeface="Arial"/>
                <a:cs typeface="Arial"/>
              </a:rPr>
              <a:t>vẫn decode được</a:t>
            </a:r>
          </a:p>
        </p:txBody>
      </p:sp>
      <p:sp>
        <p:nvSpPr>
          <p:cNvPr id="23" name="Rectangle 22">
            <a:extLst>
              <a:ext uri="{FF2B5EF4-FFF2-40B4-BE49-F238E27FC236}">
                <a16:creationId xmlns:a16="http://schemas.microsoft.com/office/drawing/2014/main" id="{793EE663-2963-47F5-9BE9-7A0EBAB85801}"/>
              </a:ext>
            </a:extLst>
          </p:cNvPr>
          <p:cNvSpPr>
            <a:spLocks noGrp="1"/>
          </p:cNvSpPr>
          <p:nvPr/>
        </p:nvSpPr>
        <p:spPr>
          <a:xfrm>
            <a:off x="9124950" y="2876550"/>
            <a:ext cx="361950" cy="400050"/>
          </a:xfrm>
          <a:prstGeom prst="rect">
            <a:avLst/>
          </a:prstGeom>
          <a:noFill/>
          <a:ln w="0">
            <a:noFill/>
          </a:ln>
        </p:spPr>
        <p:txBody>
          <a:bodyPr>
            <a:normAutofit fontScale="50661"/>
          </a:bodyPr>
          <a:lstStyle/>
          <a:p>
            <a:pPr>
              <a:defRPr sz="2775" b="1">
                <a:solidFill>
                  <a:srgbClr val="2667D8"/>
                </a:solidFill>
                <a:latin typeface="Arial"/>
                <a:ea typeface="Arial"/>
                <a:cs typeface="Arial"/>
              </a:defRPr>
            </a:pPr>
            <a:r>
              <a:rPr sz="2775" b="1">
                <a:solidFill>
                  <a:srgbClr val="2667D8"/>
                </a:solidFill>
                <a:latin typeface="Arial"/>
                <a:ea typeface="Arial"/>
                <a:cs typeface="Arial"/>
              </a:rPr>
              <a:t>→</a:t>
            </a:r>
          </a:p>
        </p:txBody>
      </p:sp>
      <p:sp>
        <p:nvSpPr>
          <p:cNvPr id="24" name="Rectangle: Rounded Corners 23">
            <a:extLst>
              <a:ext uri="{FF2B5EF4-FFF2-40B4-BE49-F238E27FC236}">
                <a16:creationId xmlns:a16="http://schemas.microsoft.com/office/drawing/2014/main" id="{26431A5C-6753-4F89-A920-F4761C355F2E}"/>
              </a:ext>
            </a:extLst>
          </p:cNvPr>
          <p:cNvSpPr>
            <a:spLocks noGrp="1"/>
          </p:cNvSpPr>
          <p:nvPr/>
        </p:nvSpPr>
        <p:spPr>
          <a:xfrm>
            <a:off x="9505950" y="2333625"/>
            <a:ext cx="1885950" cy="1581150"/>
          </a:xfrm>
          <a:prstGeom prst="roundRect">
            <a:avLst>
              <a:gd name="adj" fmla="val 4819"/>
            </a:avLst>
          </a:prstGeom>
          <a:solidFill>
            <a:srgbClr val="FFFFFF"/>
          </a:solidFill>
          <a:ln w="19050">
            <a:solidFill>
              <a:srgbClr val="25A36F"/>
            </a:solidFill>
          </a:ln>
        </p:spPr>
        <p:txBody>
          <a:bodyPr/>
          <a:lstStyle/>
          <a:p>
            <a:endParaRPr lang="en-US"/>
          </a:p>
        </p:txBody>
      </p:sp>
      <p:sp>
        <p:nvSpPr>
          <p:cNvPr id="25" name="Rectangle 24">
            <a:extLst>
              <a:ext uri="{FF2B5EF4-FFF2-40B4-BE49-F238E27FC236}">
                <a16:creationId xmlns:a16="http://schemas.microsoft.com/office/drawing/2014/main" id="{B9933E11-ECEC-480D-B6F2-1C1B2EFA17D8}"/>
              </a:ext>
            </a:extLst>
          </p:cNvPr>
          <p:cNvSpPr>
            <a:spLocks noGrp="1"/>
          </p:cNvSpPr>
          <p:nvPr/>
        </p:nvSpPr>
        <p:spPr>
          <a:xfrm>
            <a:off x="9505950" y="2333625"/>
            <a:ext cx="1885950" cy="95250"/>
          </a:xfrm>
          <a:prstGeom prst="rect">
            <a:avLst/>
          </a:prstGeom>
          <a:solidFill>
            <a:srgbClr val="25A36F"/>
          </a:solidFill>
          <a:ln w="0">
            <a:solidFill>
              <a:srgbClr val="25A36F"/>
            </a:solidFill>
          </a:ln>
        </p:spPr>
        <p:txBody>
          <a:bodyPr/>
          <a:lstStyle/>
          <a:p>
            <a:endParaRPr lang="en-US"/>
          </a:p>
        </p:txBody>
      </p:sp>
      <p:sp>
        <p:nvSpPr>
          <p:cNvPr id="26" name="Rectangle 25">
            <a:extLst>
              <a:ext uri="{FF2B5EF4-FFF2-40B4-BE49-F238E27FC236}">
                <a16:creationId xmlns:a16="http://schemas.microsoft.com/office/drawing/2014/main" id="{2B5083C2-4B8A-4820-87F2-AA058C3B4822}"/>
              </a:ext>
            </a:extLst>
          </p:cNvPr>
          <p:cNvSpPr>
            <a:spLocks noGrp="1"/>
          </p:cNvSpPr>
          <p:nvPr/>
        </p:nvSpPr>
        <p:spPr>
          <a:xfrm>
            <a:off x="9658350" y="2647950"/>
            <a:ext cx="158115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5. Trích mù + verify</a:t>
            </a:r>
          </a:p>
        </p:txBody>
      </p:sp>
      <p:sp>
        <p:nvSpPr>
          <p:cNvPr id="27" name="Rectangle 26">
            <a:extLst>
              <a:ext uri="{FF2B5EF4-FFF2-40B4-BE49-F238E27FC236}">
                <a16:creationId xmlns:a16="http://schemas.microsoft.com/office/drawing/2014/main" id="{851E2FA1-A7D8-44C8-8922-74FA96720FB9}"/>
              </a:ext>
            </a:extLst>
          </p:cNvPr>
          <p:cNvSpPr>
            <a:spLocks noGrp="1"/>
          </p:cNvSpPr>
          <p:nvPr/>
        </p:nvSpPr>
        <p:spPr>
          <a:xfrm>
            <a:off x="9658350" y="3133725"/>
            <a:ext cx="1581150" cy="457200"/>
          </a:xfrm>
          <a:prstGeom prst="rect">
            <a:avLst/>
          </a:prstGeom>
          <a:noFill/>
          <a:ln w="0">
            <a:noFill/>
          </a:ln>
        </p:spPr>
        <p:txBody>
          <a:bodyPr>
            <a:normAutofit fontScale="84211"/>
          </a:bodyPr>
          <a:lstStyle/>
          <a:p>
            <a:pPr>
              <a:defRPr sz="1425">
                <a:solidFill>
                  <a:srgbClr val="5A6780"/>
                </a:solidFill>
                <a:latin typeface="Arial"/>
                <a:ea typeface="Arial"/>
                <a:cs typeface="Arial"/>
              </a:defRPr>
            </a:pPr>
            <a:r>
              <a:rPr sz="1425">
                <a:solidFill>
                  <a:srgbClr val="5A6780"/>
                </a:solidFill>
                <a:latin typeface="Arial"/>
                <a:ea typeface="Arial"/>
                <a:cs typeface="Arial"/>
              </a:rPr>
              <a:t>kiểm HMAC, rồi</a:t>
            </a:r>
          </a:p>
          <a:p>
            <a:pPr>
              <a:defRPr sz="1425">
                <a:solidFill>
                  <a:srgbClr val="5A6780"/>
                </a:solidFill>
                <a:latin typeface="Arial"/>
                <a:ea typeface="Arial"/>
                <a:cs typeface="Arial"/>
              </a:defRPr>
            </a:pPr>
            <a:r>
              <a:rPr sz="1425">
                <a:solidFill>
                  <a:srgbClr val="5A6780"/>
                </a:solidFill>
                <a:latin typeface="Arial"/>
                <a:ea typeface="Arial"/>
                <a:cs typeface="Arial"/>
              </a:rPr>
              <a:t>verify Groth16</a:t>
            </a:r>
          </a:p>
        </p:txBody>
      </p:sp>
      <p:sp>
        <p:nvSpPr>
          <p:cNvPr id="28" name="Rectangle 27">
            <a:extLst>
              <a:ext uri="{FF2B5EF4-FFF2-40B4-BE49-F238E27FC236}">
                <a16:creationId xmlns:a16="http://schemas.microsoft.com/office/drawing/2014/main" id="{9081C7EB-4524-496C-9866-C90563A0223A}"/>
              </a:ext>
            </a:extLst>
          </p:cNvPr>
          <p:cNvSpPr>
            <a:spLocks noGrp="1"/>
          </p:cNvSpPr>
          <p:nvPr/>
        </p:nvSpPr>
        <p:spPr>
          <a:xfrm>
            <a:off x="876300" y="4095750"/>
            <a:ext cx="104394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2 — Proof tạo trước; khung v2 đi qua lịch theo khóa; bên nhận trích mù bằng cùng khóa rồi bắt buộc verify Groth16.</a:t>
            </a:r>
          </a:p>
        </p:txBody>
      </p:sp>
      <p:sp>
        <p:nvSpPr>
          <p:cNvPr id="35" name="Pipeline Text"/>
          <p:cNvSpPr>
            <a:spLocks noGrp="1"/>
          </p:cNvSpPr>
          <p:nvPr/>
        </p:nvSpPr>
        <p:spPr>
          <a:xfrm>
            <a:off x="566928" y="4572000"/>
            <a:ext cx="10881360" cy="1371600"/>
          </a:xfrm>
          <a:prstGeom prst="rect">
            <a:avLst/>
          </a:prstGeom>
          <a:noFill/>
          <a:ln w="0">
            <a:noFill/>
          </a:ln>
        </p:spPr>
        <p:txBody>
          <a:bodyPr>
            <a:normAutofit/>
          </a:bodyPr>
          <a:lstStyle/>
          <a:p>
            <a:pPr>
              <a:defRPr sz="1200">
                <a:solidFill>
                  <a:srgbClr val="5A6780"/>
                </a:solidFill>
                <a:latin typeface="Arial"/>
                <a:ea typeface="Arial"/>
                <a:cs typeface="Arial"/>
              </a:defRPr>
            </a:pPr>
            <a:r>
              <a:rPr sz="1200" b="1">
                <a:solidFill>
                  <a:srgbClr val="5A6780"/>
                </a:solidFill>
                <a:latin typeface="Arial"/>
                <a:ea typeface="Arial"/>
                <a:cs typeface="Arial"/>
              </a:rPr>
              <a:t xml:space="preserve">Gửi:  </a:t>
            </a:r>
            <a:r>
              <a:rPr sz="1200">
                <a:solidFill>
                  <a:srgbClr val="5A6780"/>
                </a:solidFill>
                <a:latin typeface="Arial"/>
                <a:ea typeface="Arial"/>
                <a:cs typeface="Arial"/>
              </a:rPr>
              <a:t>message + secret → proof 129 B → payload [len 4B][message][proof] → khung [0x02][len 2B][payload][tag 16B] (khóa con HKDF) → XOR keystream → lịch HMAC mỗi IDR → lật dấu → stego.h264</a:t>
            </a:r>
          </a:p>
          <a:p>
            <a:pPr>
              <a:defRPr sz="1200">
                <a:solidFill>
                  <a:srgbClr val="5A6780"/>
                </a:solidFill>
                <a:latin typeface="Arial"/>
                <a:ea typeface="Arial"/>
                <a:cs typeface="Arial"/>
              </a:defRPr>
            </a:pPr>
            <a:r>
              <a:rPr sz="1200" b="1">
                <a:solidFill>
                  <a:srgbClr val="5A6780"/>
                </a:solidFill>
                <a:latin typeface="Arial"/>
                <a:ea typeface="Arial"/>
                <a:cs typeface="Arial"/>
              </a:rPr>
              <a:t xml:space="preserve">Nhận:  </a:t>
            </a:r>
            <a:r>
              <a:rPr sz="1200">
                <a:solidFill>
                  <a:srgbClr val="5A6780"/>
                </a:solidFill>
                <a:latin typeface="Arial"/>
                <a:ea typeface="Arial"/>
                <a:cs typeface="Arial"/>
              </a:rPr>
              <a:t>cùng khóa → cùng lịch → đọc bit → bỏ làm trắng → kiểm version 0x02 / độ dài / HMAC → unpack → Groth16 verify (bắt buộc) → message</a:t>
            </a:r>
          </a:p>
        </p:txBody>
      </p:sp>
      <p:sp>
        <p:nvSpPr>
          <p:cNvPr id="32" name="Rectangle 31">
            <a:extLst>
              <a:ext uri="{FF2B5EF4-FFF2-40B4-BE49-F238E27FC236}">
                <a16:creationId xmlns:a16="http://schemas.microsoft.com/office/drawing/2014/main" id="{EB010490-86EB-478F-A848-BCB1944780D4}"/>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33" name="Rectangle 32">
            <a:extLst>
              <a:ext uri="{FF2B5EF4-FFF2-40B4-BE49-F238E27FC236}">
                <a16:creationId xmlns:a16="http://schemas.microsoft.com/office/drawing/2014/main" id="{C4D16E39-3424-4BC9-8F54-7822C900FF59}"/>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02</a:t>
            </a:r>
          </a:p>
        </p:txBody>
      </p:sp>
    </p:spTree>
    <p:extLst>
      <p:ext uri="{BB962C8B-B14F-4D97-AF65-F5344CB8AC3E}">
        <p14:creationId xmlns:p14="http://schemas.microsoft.com/office/powerpoint/2010/main" val="800738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76FE96F-6680-4C97-AC59-6A46D82412E0}"/>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Cover video là gì?</a:t>
            </a:r>
          </a:p>
        </p:txBody>
      </p:sp>
      <p:sp>
        <p:nvSpPr>
          <p:cNvPr id="2" name="Rectangle 1">
            <a:extLst>
              <a:ext uri="{FF2B5EF4-FFF2-40B4-BE49-F238E27FC236}">
                <a16:creationId xmlns:a16="http://schemas.microsoft.com/office/drawing/2014/main" id="{5733BF26-B6D7-43A7-941C-774D6A4437CA}"/>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Đó là video gốc dùng làm vật mang. Người xem vẫn xem được video sau khi hệ thống lật một số bit dấu.</a:t>
            </a:r>
          </a:p>
        </p:txBody>
      </p:sp>
      <p:sp>
        <p:nvSpPr>
          <p:cNvPr id="3" name="Straight Connector 2">
            <a:extLst>
              <a:ext uri="{FF2B5EF4-FFF2-40B4-BE49-F238E27FC236}">
                <a16:creationId xmlns:a16="http://schemas.microsoft.com/office/drawing/2014/main" id="{C469F9CB-3C47-4493-BC1D-042E311808F1}"/>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17" name="Picture 16"/>
          <p:cNvPicPr>
            <a:picLocks noChangeAspect="1"/>
          </p:cNvPicPr>
          <p:nvPr/>
        </p:nvPicPr>
        <p:blipFill>
          <a:blip r:embed="rId3"/>
          <a:stretch/>
        </p:blipFill>
        <p:spPr>
          <a:xfrm>
            <a:off x="4955171" y="1676400"/>
            <a:ext cx="6177383" cy="3476625"/>
          </a:xfrm>
          <a:prstGeom prst="rect">
            <a:avLst/>
          </a:prstGeom>
        </p:spPr>
      </p:pic>
      <p:sp>
        <p:nvSpPr>
          <p:cNvPr id="5" name="Rectangle 4">
            <a:extLst>
              <a:ext uri="{FF2B5EF4-FFF2-40B4-BE49-F238E27FC236}">
                <a16:creationId xmlns:a16="http://schemas.microsoft.com/office/drawing/2014/main" id="{39C59A90-10D4-411B-AD1B-784E78526226}"/>
              </a:ext>
            </a:extLst>
          </p:cNvPr>
          <p:cNvSpPr>
            <a:spLocks noGrp="1"/>
          </p:cNvSpPr>
          <p:nvPr/>
        </p:nvSpPr>
        <p:spPr>
          <a:xfrm>
            <a:off x="4867275" y="4267200"/>
            <a:ext cx="6715125" cy="228600"/>
          </a:xfrm>
          <a:prstGeom prst="rect">
            <a:avLst/>
          </a:prstGeom>
          <a:noFill/>
          <a:ln w="0">
            <a:noFill/>
          </a:ln>
        </p:spPr>
        <p:txBody>
          <a:bodyPr>
            <a:normAutofit fontScale="78088" lnSpcReduction="10000"/>
          </a:bodyPr>
          <a:lstStyle/>
          <a:p>
            <a:pPr>
              <a:defRPr sz="1275" i="1">
                <a:solidFill>
                  <a:srgbClr val="63728A"/>
                </a:solidFill>
                <a:latin typeface="Arial"/>
                <a:ea typeface="Arial"/>
                <a:cs typeface="Arial"/>
              </a:defRPr>
            </a:pPr>
            <a:r>
              <a:rPr sz="1275" i="1" dirty="0" err="1">
                <a:solidFill>
                  <a:srgbClr val="63728A"/>
                </a:solidFill>
                <a:latin typeface="Arial"/>
                <a:ea typeface="Arial"/>
                <a:cs typeface="Arial"/>
              </a:rPr>
              <a:t>Hình</a:t>
            </a:r>
            <a:r>
              <a:rPr sz="1275" i="1" dirty="0">
                <a:solidFill>
                  <a:srgbClr val="63728A"/>
                </a:solidFill>
                <a:latin typeface="Arial"/>
                <a:ea typeface="Arial"/>
                <a:cs typeface="Arial"/>
              </a:rPr>
              <a:t> 3 — </a:t>
            </a:r>
            <a:r>
              <a:rPr sz="1275" i="1" dirty="0" err="1">
                <a:solidFill>
                  <a:srgbClr val="63728A"/>
                </a:solidFill>
                <a:latin typeface="Arial"/>
                <a:ea typeface="Arial"/>
                <a:cs typeface="Arial"/>
              </a:rPr>
              <a:t>Ví</a:t>
            </a:r>
            <a:r>
              <a:rPr sz="1275" i="1" dirty="0">
                <a:solidFill>
                  <a:srgbClr val="63728A"/>
                </a:solidFill>
                <a:latin typeface="Arial"/>
                <a:ea typeface="Arial"/>
                <a:cs typeface="Arial"/>
              </a:rPr>
              <a:t> </a:t>
            </a:r>
            <a:r>
              <a:rPr sz="1275" i="1" dirty="0" err="1">
                <a:solidFill>
                  <a:srgbClr val="63728A"/>
                </a:solidFill>
                <a:latin typeface="Arial"/>
                <a:ea typeface="Arial"/>
                <a:cs typeface="Arial"/>
              </a:rPr>
              <a:t>dụ</a:t>
            </a:r>
            <a:r>
              <a:rPr sz="1275" i="1" dirty="0">
                <a:solidFill>
                  <a:srgbClr val="63728A"/>
                </a:solidFill>
                <a:latin typeface="Arial"/>
                <a:ea typeface="Arial"/>
                <a:cs typeface="Arial"/>
              </a:rPr>
              <a:t>: cover video </a:t>
            </a:r>
            <a:r>
              <a:rPr sz="1275" i="1" dirty="0" err="1">
                <a:solidFill>
                  <a:srgbClr val="63728A"/>
                </a:solidFill>
                <a:latin typeface="Arial"/>
                <a:ea typeface="Arial"/>
                <a:cs typeface="Arial"/>
              </a:rPr>
              <a:t>được</a:t>
            </a:r>
            <a:r>
              <a:rPr sz="1275" i="1" dirty="0">
                <a:solidFill>
                  <a:srgbClr val="63728A"/>
                </a:solidFill>
                <a:latin typeface="Arial"/>
                <a:ea typeface="Arial"/>
                <a:cs typeface="Arial"/>
              </a:rPr>
              <a:t> </a:t>
            </a:r>
            <a:r>
              <a:rPr sz="1275" i="1" dirty="0" err="1">
                <a:solidFill>
                  <a:srgbClr val="63728A"/>
                </a:solidFill>
                <a:latin typeface="Arial"/>
                <a:ea typeface="Arial"/>
                <a:cs typeface="Arial"/>
              </a:rPr>
              <a:t>phóng</a:t>
            </a:r>
            <a:r>
              <a:rPr sz="1275" i="1" dirty="0">
                <a:solidFill>
                  <a:srgbClr val="63728A"/>
                </a:solidFill>
                <a:latin typeface="Arial"/>
                <a:ea typeface="Arial"/>
                <a:cs typeface="Arial"/>
              </a:rPr>
              <a:t> to </a:t>
            </a:r>
            <a:r>
              <a:rPr sz="1275" i="1" dirty="0" err="1">
                <a:solidFill>
                  <a:srgbClr val="63728A"/>
                </a:solidFill>
                <a:latin typeface="Arial"/>
                <a:ea typeface="Arial"/>
                <a:cs typeface="Arial"/>
              </a:rPr>
              <a:t>dần</a:t>
            </a:r>
            <a:r>
              <a:rPr sz="1275" i="1" dirty="0">
                <a:solidFill>
                  <a:srgbClr val="63728A"/>
                </a:solidFill>
                <a:latin typeface="Arial"/>
                <a:ea typeface="Arial"/>
                <a:cs typeface="Arial"/>
              </a:rPr>
              <a:t> </a:t>
            </a:r>
            <a:r>
              <a:rPr sz="1275" i="1" dirty="0" err="1">
                <a:solidFill>
                  <a:srgbClr val="63728A"/>
                </a:solidFill>
                <a:latin typeface="Arial"/>
                <a:ea typeface="Arial"/>
                <a:cs typeface="Arial"/>
              </a:rPr>
              <a:t>từ</a:t>
            </a:r>
            <a:r>
              <a:rPr sz="1275" i="1" dirty="0">
                <a:solidFill>
                  <a:srgbClr val="63728A"/>
                </a:solidFill>
                <a:latin typeface="Arial"/>
                <a:ea typeface="Arial"/>
                <a:cs typeface="Arial"/>
              </a:rPr>
              <a:t> frame </a:t>
            </a:r>
            <a:r>
              <a:rPr sz="1275" i="1" dirty="0" err="1">
                <a:solidFill>
                  <a:srgbClr val="63728A"/>
                </a:solidFill>
                <a:latin typeface="Arial"/>
                <a:ea typeface="Arial"/>
                <a:cs typeface="Arial"/>
              </a:rPr>
              <a:t>đến</a:t>
            </a:r>
            <a:r>
              <a:rPr sz="1275" i="1" dirty="0">
                <a:solidFill>
                  <a:srgbClr val="63728A"/>
                </a:solidFill>
                <a:latin typeface="Arial"/>
                <a:ea typeface="Arial"/>
                <a:cs typeface="Arial"/>
              </a:rPr>
              <a:t> coefficient, </a:t>
            </a:r>
            <a:r>
              <a:rPr sz="1275" i="1" dirty="0" err="1">
                <a:solidFill>
                  <a:srgbClr val="63728A"/>
                </a:solidFill>
                <a:latin typeface="Arial"/>
                <a:ea typeface="Arial"/>
                <a:cs typeface="Arial"/>
              </a:rPr>
              <a:t>không</a:t>
            </a:r>
            <a:r>
              <a:rPr sz="1275" i="1" dirty="0">
                <a:solidFill>
                  <a:srgbClr val="63728A"/>
                </a:solidFill>
                <a:latin typeface="Arial"/>
                <a:ea typeface="Arial"/>
                <a:cs typeface="Arial"/>
              </a:rPr>
              <a:t> </a:t>
            </a:r>
            <a:r>
              <a:rPr sz="1275" i="1" dirty="0" err="1">
                <a:solidFill>
                  <a:srgbClr val="63728A"/>
                </a:solidFill>
                <a:latin typeface="Arial"/>
                <a:ea typeface="Arial"/>
                <a:cs typeface="Arial"/>
              </a:rPr>
              <a:t>chỉnh</a:t>
            </a:r>
            <a:r>
              <a:rPr sz="1275" i="1" dirty="0">
                <a:solidFill>
                  <a:srgbClr val="63728A"/>
                </a:solidFill>
                <a:latin typeface="Arial"/>
                <a:ea typeface="Arial"/>
                <a:cs typeface="Arial"/>
              </a:rPr>
              <a:t> pixel </a:t>
            </a:r>
            <a:r>
              <a:rPr sz="1275" i="1" dirty="0" err="1">
                <a:solidFill>
                  <a:srgbClr val="63728A"/>
                </a:solidFill>
                <a:latin typeface="Arial"/>
                <a:ea typeface="Arial"/>
                <a:cs typeface="Arial"/>
              </a:rPr>
              <a:t>trực</a:t>
            </a:r>
            <a:r>
              <a:rPr sz="1275" i="1" dirty="0">
                <a:solidFill>
                  <a:srgbClr val="63728A"/>
                </a:solidFill>
                <a:latin typeface="Arial"/>
                <a:ea typeface="Arial"/>
                <a:cs typeface="Arial"/>
              </a:rPr>
              <a:t> </a:t>
            </a:r>
            <a:r>
              <a:rPr sz="1275" i="1" dirty="0" err="1">
                <a:solidFill>
                  <a:srgbClr val="63728A"/>
                </a:solidFill>
                <a:latin typeface="Arial"/>
                <a:ea typeface="Arial"/>
                <a:cs typeface="Arial"/>
              </a:rPr>
              <a:t>tiếp</a:t>
            </a:r>
            <a:r>
              <a:rPr sz="1275" i="1" dirty="0">
                <a:solidFill>
                  <a:srgbClr val="63728A"/>
                </a:solidFill>
                <a:latin typeface="Arial"/>
                <a:ea typeface="Arial"/>
                <a:cs typeface="Arial"/>
              </a:rPr>
              <a:t>.</a:t>
            </a:r>
          </a:p>
        </p:txBody>
      </p:sp>
      <p:sp>
        <p:nvSpPr>
          <p:cNvPr id="6" name="Rectangle 5">
            <a:extLst>
              <a:ext uri="{FF2B5EF4-FFF2-40B4-BE49-F238E27FC236}">
                <a16:creationId xmlns:a16="http://schemas.microsoft.com/office/drawing/2014/main" id="{F9662F9E-6F61-4293-88C6-BA402860343C}"/>
              </a:ext>
            </a:extLst>
          </p:cNvPr>
          <p:cNvSpPr>
            <a:spLocks noGrp="1"/>
          </p:cNvSpPr>
          <p:nvPr/>
        </p:nvSpPr>
        <p:spPr>
          <a:xfrm>
            <a:off x="609600" y="1771650"/>
            <a:ext cx="3619500" cy="342900"/>
          </a:xfrm>
          <a:prstGeom prst="rect">
            <a:avLst/>
          </a:prstGeom>
          <a:noFill/>
          <a:ln w="0">
            <a:noFill/>
          </a:ln>
        </p:spPr>
        <p:txBody>
          <a:bodyPr>
            <a:normAutofit fontScale="64706"/>
          </a:bodyPr>
          <a:lstStyle/>
          <a:p>
            <a:pPr>
              <a:defRPr sz="2550" b="1">
                <a:solidFill>
                  <a:srgbClr val="2667D8"/>
                </a:solidFill>
                <a:latin typeface="Arial"/>
                <a:ea typeface="Arial"/>
                <a:cs typeface="Arial"/>
              </a:defRPr>
            </a:pPr>
            <a:r>
              <a:rPr sz="2550" b="1">
                <a:solidFill>
                  <a:srgbClr val="2667D8"/>
                </a:solidFill>
                <a:latin typeface="Arial"/>
                <a:ea typeface="Arial"/>
                <a:cs typeface="Arial"/>
              </a:rPr>
              <a:t>Cover video</a:t>
            </a:r>
          </a:p>
        </p:txBody>
      </p:sp>
      <p:sp>
        <p:nvSpPr>
          <p:cNvPr id="7" name="Rectangle 6">
            <a:extLst>
              <a:ext uri="{FF2B5EF4-FFF2-40B4-BE49-F238E27FC236}">
                <a16:creationId xmlns:a16="http://schemas.microsoft.com/office/drawing/2014/main" id="{2AE646F9-2223-4A36-B8BD-42AF0557A37B}"/>
              </a:ext>
            </a:extLst>
          </p:cNvPr>
          <p:cNvSpPr>
            <a:spLocks noGrp="1"/>
          </p:cNvSpPr>
          <p:nvPr/>
        </p:nvSpPr>
        <p:spPr>
          <a:xfrm>
            <a:off x="609600" y="2343150"/>
            <a:ext cx="3714750" cy="295275"/>
          </a:xfrm>
          <a:prstGeom prst="rect">
            <a:avLst/>
          </a:prstGeom>
          <a:noFill/>
          <a:ln w="0">
            <a:noFill/>
          </a:ln>
        </p:spPr>
        <p:txBody>
          <a:bodyPr>
            <a:normAutofit fontScale="71333"/>
          </a:bodyPr>
          <a:lstStyle/>
          <a:p>
            <a:pPr>
              <a:defRPr sz="1875" b="1">
                <a:solidFill>
                  <a:srgbClr val="10213D"/>
                </a:solidFill>
                <a:latin typeface="Arial"/>
                <a:ea typeface="Arial"/>
                <a:cs typeface="Arial"/>
              </a:defRPr>
            </a:pPr>
            <a:r>
              <a:rPr sz="1875" b="1">
                <a:solidFill>
                  <a:srgbClr val="10213D"/>
                </a:solidFill>
                <a:latin typeface="Arial"/>
                <a:ea typeface="Arial"/>
                <a:cs typeface="Arial"/>
              </a:rPr>
              <a:t>Là video H.264 gốc dùng làm vật mang.</a:t>
            </a:r>
          </a:p>
        </p:txBody>
      </p:sp>
      <p:sp>
        <p:nvSpPr>
          <p:cNvPr id="8" name="Rectangle 7">
            <a:extLst>
              <a:ext uri="{FF2B5EF4-FFF2-40B4-BE49-F238E27FC236}">
                <a16:creationId xmlns:a16="http://schemas.microsoft.com/office/drawing/2014/main" id="{72A5845F-CB47-45C1-95E4-115A6F826539}"/>
              </a:ext>
            </a:extLst>
          </p:cNvPr>
          <p:cNvSpPr>
            <a:spLocks noGrp="1"/>
          </p:cNvSpPr>
          <p:nvPr/>
        </p:nvSpPr>
        <p:spPr>
          <a:xfrm>
            <a:off x="609600" y="2895600"/>
            <a:ext cx="3667125" cy="1047750"/>
          </a:xfrm>
          <a:prstGeom prst="rect">
            <a:avLst/>
          </a:prstGeom>
          <a:noFill/>
          <a:ln w="0">
            <a:noFill/>
          </a:ln>
        </p:spPr>
        <p:txBody>
          <a:bodyPr>
            <a:normAutofit fontScale="90942"/>
          </a:bodyPr>
          <a:lstStyle/>
          <a:p>
            <a:pPr>
              <a:defRPr sz="1725">
                <a:solidFill>
                  <a:srgbClr val="5A6780"/>
                </a:solidFill>
                <a:latin typeface="Arial"/>
                <a:ea typeface="Arial"/>
                <a:cs typeface="Arial"/>
              </a:defRPr>
            </a:pPr>
            <a:r>
              <a:rPr sz="1725">
                <a:solidFill>
                  <a:srgbClr val="5A6780"/>
                </a:solidFill>
                <a:latin typeface="Arial"/>
                <a:ea typeface="Arial"/>
                <a:cs typeface="Arial"/>
              </a:rPr>
              <a:t>Người xem vẫn thấy video bình thường. Hệ thống chỉ lật dấu của vài coefficient ±1; stream vẫn hợp lệ.</a:t>
            </a:r>
          </a:p>
        </p:txBody>
      </p:sp>
      <p:sp>
        <p:nvSpPr>
          <p:cNvPr id="9" name="Rectangle: Rounded Corners 8">
            <a:extLst>
              <a:ext uri="{FF2B5EF4-FFF2-40B4-BE49-F238E27FC236}">
                <a16:creationId xmlns:a16="http://schemas.microsoft.com/office/drawing/2014/main" id="{CA326DEA-1501-4A07-91FD-AB2909D1DB1E}"/>
              </a:ext>
            </a:extLst>
          </p:cNvPr>
          <p:cNvSpPr>
            <a:spLocks noGrp="1"/>
          </p:cNvSpPr>
          <p:nvPr/>
        </p:nvSpPr>
        <p:spPr>
          <a:xfrm>
            <a:off x="609600" y="4295775"/>
            <a:ext cx="3762375" cy="990600"/>
          </a:xfrm>
          <a:prstGeom prst="roundRect">
            <a:avLst>
              <a:gd name="adj" fmla="val 7692"/>
            </a:avLst>
          </a:prstGeom>
          <a:solidFill>
            <a:srgbClr val="EAF5FF"/>
          </a:solidFill>
          <a:ln w="9525">
            <a:solidFill>
              <a:srgbClr val="B7D8F5"/>
            </a:solidFill>
          </a:ln>
        </p:spPr>
        <p:txBody>
          <a:bodyPr/>
          <a:lstStyle/>
          <a:p>
            <a:endParaRPr lang="en-US"/>
          </a:p>
        </p:txBody>
      </p:sp>
      <p:sp>
        <p:nvSpPr>
          <p:cNvPr id="10" name="Rectangle 9">
            <a:extLst>
              <a:ext uri="{FF2B5EF4-FFF2-40B4-BE49-F238E27FC236}">
                <a16:creationId xmlns:a16="http://schemas.microsoft.com/office/drawing/2014/main" id="{E9514B41-42A3-4AC6-8800-AC13B897D8F6}"/>
              </a:ext>
            </a:extLst>
          </p:cNvPr>
          <p:cNvSpPr>
            <a:spLocks noGrp="1"/>
          </p:cNvSpPr>
          <p:nvPr/>
        </p:nvSpPr>
        <p:spPr>
          <a:xfrm>
            <a:off x="838200" y="4495800"/>
            <a:ext cx="2857500" cy="247650"/>
          </a:xfrm>
          <a:prstGeom prst="rect">
            <a:avLst/>
          </a:prstGeom>
          <a:noFill/>
          <a:ln w="0">
            <a:noFill/>
          </a:ln>
        </p:spPr>
        <p:txBody>
          <a:bodyPr>
            <a:normAutofit fontScale="64444" lnSpcReduction="10000"/>
          </a:bodyPr>
          <a:lstStyle/>
          <a:p>
            <a:pPr>
              <a:defRPr sz="1800" b="1">
                <a:solidFill>
                  <a:srgbClr val="2667D8"/>
                </a:solidFill>
                <a:latin typeface="Arial"/>
                <a:ea typeface="Arial"/>
                <a:cs typeface="Arial"/>
              </a:defRPr>
            </a:pPr>
            <a:r>
              <a:rPr sz="1800" b="1" dirty="0" err="1">
                <a:solidFill>
                  <a:srgbClr val="2667D8"/>
                </a:solidFill>
                <a:latin typeface="Arial"/>
                <a:ea typeface="Arial"/>
                <a:cs typeface="Arial"/>
              </a:rPr>
              <a:t>Đầu</a:t>
            </a:r>
            <a:r>
              <a:rPr sz="1800" b="1" dirty="0">
                <a:solidFill>
                  <a:srgbClr val="2667D8"/>
                </a:solidFill>
                <a:latin typeface="Arial"/>
                <a:ea typeface="Arial"/>
                <a:cs typeface="Arial"/>
              </a:rPr>
              <a:t> </a:t>
            </a:r>
            <a:r>
              <a:rPr sz="1800" b="1" dirty="0" err="1">
                <a:solidFill>
                  <a:srgbClr val="2667D8"/>
                </a:solidFill>
                <a:latin typeface="Arial"/>
                <a:ea typeface="Arial"/>
                <a:cs typeface="Arial"/>
              </a:rPr>
              <a:t>ra</a:t>
            </a:r>
            <a:r>
              <a:rPr sz="1800" b="1" dirty="0">
                <a:solidFill>
                  <a:srgbClr val="2667D8"/>
                </a:solidFill>
                <a:latin typeface="Arial"/>
                <a:ea typeface="Arial"/>
                <a:cs typeface="Arial"/>
              </a:rPr>
              <a:t>: stego.h264</a:t>
            </a:r>
          </a:p>
        </p:txBody>
      </p:sp>
      <p:sp>
        <p:nvSpPr>
          <p:cNvPr id="12" name="Rectangle 11">
            <a:extLst>
              <a:ext uri="{FF2B5EF4-FFF2-40B4-BE49-F238E27FC236}">
                <a16:creationId xmlns:a16="http://schemas.microsoft.com/office/drawing/2014/main" id="{988DE2CD-6527-42D4-97EC-842ADF526443}"/>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13" name="Rectangle 12">
            <a:extLst>
              <a:ext uri="{FF2B5EF4-FFF2-40B4-BE49-F238E27FC236}">
                <a16:creationId xmlns:a16="http://schemas.microsoft.com/office/drawing/2014/main" id="{EE63C10F-A7C2-4F99-95A2-12B5DDC270B5}"/>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03</a:t>
            </a:r>
          </a:p>
        </p:txBody>
      </p:sp>
    </p:spTree>
    <p:extLst>
      <p:ext uri="{BB962C8B-B14F-4D97-AF65-F5344CB8AC3E}">
        <p14:creationId xmlns:p14="http://schemas.microsoft.com/office/powerpoint/2010/main" val="1686630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8BB2B3B-05A5-4598-A1CE-9CABDB8AAD9F}"/>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Định dạng input mà Native CAVLC nhận</a:t>
            </a:r>
          </a:p>
        </p:txBody>
      </p:sp>
      <p:sp>
        <p:nvSpPr>
          <p:cNvPr id="2" name="Rectangle 1">
            <a:extLst>
              <a:ext uri="{FF2B5EF4-FFF2-40B4-BE49-F238E27FC236}">
                <a16:creationId xmlns:a16="http://schemas.microsoft.com/office/drawing/2014/main" id="{17185304-C581-4012-84D5-EBC4986FA526}"/>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Native path đọc elementary stream H.264 Annex-B. Container như MP4 không đi thẳng vào parser.</a:t>
            </a:r>
          </a:p>
        </p:txBody>
      </p:sp>
      <p:sp>
        <p:nvSpPr>
          <p:cNvPr id="3" name="Straight Connector 2">
            <a:extLst>
              <a:ext uri="{FF2B5EF4-FFF2-40B4-BE49-F238E27FC236}">
                <a16:creationId xmlns:a16="http://schemas.microsoft.com/office/drawing/2014/main" id="{6977752A-320D-423B-91A8-287F31174896}"/>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sp>
        <p:nvSpPr>
          <p:cNvPr id="4" name="Rectangle: Rounded Corners 3">
            <a:extLst>
              <a:ext uri="{FF2B5EF4-FFF2-40B4-BE49-F238E27FC236}">
                <a16:creationId xmlns:a16="http://schemas.microsoft.com/office/drawing/2014/main" id="{DE53ED49-7193-4314-978E-94723A7B676A}"/>
              </a:ext>
            </a:extLst>
          </p:cNvPr>
          <p:cNvSpPr>
            <a:spLocks noGrp="1"/>
          </p:cNvSpPr>
          <p:nvPr/>
        </p:nvSpPr>
        <p:spPr>
          <a:xfrm>
            <a:off x="509587" y="1495425"/>
            <a:ext cx="11201400" cy="3352800"/>
          </a:xfrm>
          <a:prstGeom prst="roundRect">
            <a:avLst>
              <a:gd name="adj" fmla="val 2273"/>
            </a:avLst>
          </a:prstGeom>
          <a:solidFill>
            <a:srgbClr val="FFFFFF"/>
          </a:solidFill>
          <a:ln w="9525">
            <a:solidFill>
              <a:srgbClr val="D6DFEB"/>
            </a:solidFill>
          </a:ln>
        </p:spPr>
        <p:txBody>
          <a:bodyPr/>
          <a:lstStyle/>
          <a:p>
            <a:endParaRPr lang="en-US"/>
          </a:p>
        </p:txBody>
      </p:sp>
      <p:sp>
        <p:nvSpPr>
          <p:cNvPr id="5" name="Rectangle 4">
            <a:extLst>
              <a:ext uri="{FF2B5EF4-FFF2-40B4-BE49-F238E27FC236}">
                <a16:creationId xmlns:a16="http://schemas.microsoft.com/office/drawing/2014/main" id="{A283B172-CA85-400A-8240-1FDB1D31B8F2}"/>
              </a:ext>
            </a:extLst>
          </p:cNvPr>
          <p:cNvSpPr>
            <a:spLocks noGrp="1"/>
          </p:cNvSpPr>
          <p:nvPr/>
        </p:nvSpPr>
        <p:spPr>
          <a:xfrm>
            <a:off x="781050" y="1809750"/>
            <a:ext cx="2571750" cy="228600"/>
          </a:xfrm>
          <a:prstGeom prst="rect">
            <a:avLst/>
          </a:prstGeom>
          <a:noFill/>
          <a:ln w="0">
            <a:noFill/>
          </a:ln>
        </p:spPr>
        <p:txBody>
          <a:bodyPr>
            <a:normAutofit fontScale="60000"/>
          </a:bodyPr>
          <a:lstStyle/>
          <a:p>
            <a:pPr>
              <a:defRPr sz="1500" b="1">
                <a:solidFill>
                  <a:srgbClr val="2667D8"/>
                </a:solidFill>
                <a:latin typeface="Arial"/>
                <a:ea typeface="Arial"/>
                <a:cs typeface="Arial"/>
              </a:defRPr>
            </a:pPr>
            <a:r>
              <a:rPr sz="1500" b="1">
                <a:solidFill>
                  <a:srgbClr val="2667D8"/>
                </a:solidFill>
                <a:latin typeface="Arial"/>
                <a:ea typeface="Arial"/>
                <a:cs typeface="Arial"/>
              </a:rPr>
              <a:t>Đầu vào</a:t>
            </a:r>
          </a:p>
        </p:txBody>
      </p:sp>
      <p:sp>
        <p:nvSpPr>
          <p:cNvPr id="6" name="Rectangle 5">
            <a:extLst>
              <a:ext uri="{FF2B5EF4-FFF2-40B4-BE49-F238E27FC236}">
                <a16:creationId xmlns:a16="http://schemas.microsoft.com/office/drawing/2014/main" id="{ABD274DC-05D6-40CE-A837-42B21264ABA7}"/>
              </a:ext>
            </a:extLst>
          </p:cNvPr>
          <p:cNvSpPr>
            <a:spLocks noGrp="1"/>
          </p:cNvSpPr>
          <p:nvPr/>
        </p:nvSpPr>
        <p:spPr>
          <a:xfrm>
            <a:off x="3714750" y="1809750"/>
            <a:ext cx="2000250" cy="228600"/>
          </a:xfrm>
          <a:prstGeom prst="rect">
            <a:avLst/>
          </a:prstGeom>
          <a:noFill/>
          <a:ln w="0">
            <a:noFill/>
          </a:ln>
        </p:spPr>
        <p:txBody>
          <a:bodyPr>
            <a:normAutofit fontScale="60000"/>
          </a:bodyPr>
          <a:lstStyle/>
          <a:p>
            <a:pPr>
              <a:defRPr sz="1500" b="1">
                <a:solidFill>
                  <a:srgbClr val="2667D8"/>
                </a:solidFill>
                <a:latin typeface="Arial"/>
                <a:ea typeface="Arial"/>
                <a:cs typeface="Arial"/>
              </a:defRPr>
            </a:pPr>
            <a:r>
              <a:rPr sz="1500" b="1">
                <a:solidFill>
                  <a:srgbClr val="2667D8"/>
                </a:solidFill>
                <a:latin typeface="Arial"/>
                <a:ea typeface="Arial"/>
                <a:cs typeface="Arial"/>
              </a:rPr>
              <a:t>Trạng thái</a:t>
            </a:r>
          </a:p>
        </p:txBody>
      </p:sp>
      <p:sp>
        <p:nvSpPr>
          <p:cNvPr id="7" name="Rectangle 6">
            <a:extLst>
              <a:ext uri="{FF2B5EF4-FFF2-40B4-BE49-F238E27FC236}">
                <a16:creationId xmlns:a16="http://schemas.microsoft.com/office/drawing/2014/main" id="{16E33814-A8A9-4140-BD60-8A5199888BDA}"/>
              </a:ext>
            </a:extLst>
          </p:cNvPr>
          <p:cNvSpPr>
            <a:spLocks noGrp="1"/>
          </p:cNvSpPr>
          <p:nvPr/>
        </p:nvSpPr>
        <p:spPr>
          <a:xfrm>
            <a:off x="6048375" y="1809750"/>
            <a:ext cx="4857750" cy="228600"/>
          </a:xfrm>
          <a:prstGeom prst="rect">
            <a:avLst/>
          </a:prstGeom>
          <a:noFill/>
          <a:ln w="0">
            <a:noFill/>
          </a:ln>
        </p:spPr>
        <p:txBody>
          <a:bodyPr>
            <a:normAutofit fontScale="60000"/>
          </a:bodyPr>
          <a:lstStyle/>
          <a:p>
            <a:pPr>
              <a:defRPr sz="1500" b="1">
                <a:solidFill>
                  <a:srgbClr val="2667D8"/>
                </a:solidFill>
                <a:latin typeface="Arial"/>
                <a:ea typeface="Arial"/>
                <a:cs typeface="Arial"/>
              </a:defRPr>
            </a:pPr>
            <a:r>
              <a:rPr sz="1500" b="1">
                <a:solidFill>
                  <a:srgbClr val="2667D8"/>
                </a:solidFill>
                <a:latin typeface="Arial"/>
                <a:ea typeface="Arial"/>
                <a:cs typeface="Arial"/>
              </a:rPr>
              <a:t>Native làm gì?</a:t>
            </a:r>
          </a:p>
        </p:txBody>
      </p:sp>
      <p:sp>
        <p:nvSpPr>
          <p:cNvPr id="8" name="Straight Connector 7">
            <a:extLst>
              <a:ext uri="{FF2B5EF4-FFF2-40B4-BE49-F238E27FC236}">
                <a16:creationId xmlns:a16="http://schemas.microsoft.com/office/drawing/2014/main" id="{2F56268C-C771-4B67-A544-F9B3E4D03560}"/>
              </a:ext>
            </a:extLst>
          </p:cNvPr>
          <p:cNvSpPr>
            <a:spLocks noGrp="1"/>
          </p:cNvSpPr>
          <p:nvPr/>
        </p:nvSpPr>
        <p:spPr>
          <a:xfrm>
            <a:off x="742950" y="2143125"/>
            <a:ext cx="10706100" cy="0"/>
          </a:xfrm>
          <a:prstGeom prst="line">
            <a:avLst/>
          </a:prstGeom>
          <a:noFill/>
          <a:ln w="9525">
            <a:solidFill>
              <a:srgbClr val="D6DFEB"/>
            </a:solidFill>
          </a:ln>
        </p:spPr>
        <p:txBody>
          <a:bodyPr/>
          <a:lstStyle/>
          <a:p>
            <a:endParaRPr lang="en-US"/>
          </a:p>
        </p:txBody>
      </p:sp>
      <p:sp>
        <p:nvSpPr>
          <p:cNvPr id="9" name="Rectangle 8">
            <a:extLst>
              <a:ext uri="{FF2B5EF4-FFF2-40B4-BE49-F238E27FC236}">
                <a16:creationId xmlns:a16="http://schemas.microsoft.com/office/drawing/2014/main" id="{18B424B8-DB06-490E-8681-14E8F567A67B}"/>
              </a:ext>
            </a:extLst>
          </p:cNvPr>
          <p:cNvSpPr>
            <a:spLocks noGrp="1"/>
          </p:cNvSpPr>
          <p:nvPr/>
        </p:nvSpPr>
        <p:spPr>
          <a:xfrm>
            <a:off x="781050" y="2314575"/>
            <a:ext cx="2619375"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.h264 / Annex-B</a:t>
            </a:r>
          </a:p>
        </p:txBody>
      </p:sp>
      <p:sp>
        <p:nvSpPr>
          <p:cNvPr id="10" name="Rectangle 9">
            <a:extLst>
              <a:ext uri="{FF2B5EF4-FFF2-40B4-BE49-F238E27FC236}">
                <a16:creationId xmlns:a16="http://schemas.microsoft.com/office/drawing/2014/main" id="{561CDB8D-84BB-49A1-AA8F-E4AA4E5053A4}"/>
              </a:ext>
            </a:extLst>
          </p:cNvPr>
          <p:cNvSpPr>
            <a:spLocks noGrp="1"/>
          </p:cNvSpPr>
          <p:nvPr/>
        </p:nvSpPr>
        <p:spPr>
          <a:xfrm>
            <a:off x="3714750" y="2314575"/>
            <a:ext cx="2000250" cy="266700"/>
          </a:xfrm>
          <a:prstGeom prst="rect">
            <a:avLst/>
          </a:prstGeom>
          <a:noFill/>
          <a:ln w="0">
            <a:noFill/>
          </a:ln>
        </p:spPr>
        <p:txBody>
          <a:bodyPr>
            <a:normAutofit fontScale="76667"/>
          </a:bodyPr>
          <a:lstStyle/>
          <a:p>
            <a:pPr>
              <a:defRPr sz="1500" b="1">
                <a:solidFill>
                  <a:srgbClr val="25A36F"/>
                </a:solidFill>
                <a:latin typeface="Arial"/>
                <a:ea typeface="Arial"/>
                <a:cs typeface="Arial"/>
              </a:defRPr>
            </a:pPr>
            <a:r>
              <a:rPr sz="1500" b="1">
                <a:solidFill>
                  <a:srgbClr val="25A36F"/>
                </a:solidFill>
                <a:latin typeface="Arial"/>
                <a:ea typeface="Arial"/>
                <a:cs typeface="Arial"/>
              </a:rPr>
              <a:t>Nhận trực tiếp</a:t>
            </a:r>
          </a:p>
        </p:txBody>
      </p:sp>
      <p:sp>
        <p:nvSpPr>
          <p:cNvPr id="11" name="Rectangle 10">
            <a:extLst>
              <a:ext uri="{FF2B5EF4-FFF2-40B4-BE49-F238E27FC236}">
                <a16:creationId xmlns:a16="http://schemas.microsoft.com/office/drawing/2014/main" id="{FF1748BF-AEE6-4A98-A66E-D90FEC0EEF87}"/>
              </a:ext>
            </a:extLst>
          </p:cNvPr>
          <p:cNvSpPr>
            <a:spLocks noGrp="1"/>
          </p:cNvSpPr>
          <p:nvPr/>
        </p:nvSpPr>
        <p:spPr>
          <a:xfrm>
            <a:off x="6048375" y="2314575"/>
            <a:ext cx="5095875" cy="371475"/>
          </a:xfrm>
          <a:prstGeom prst="rect">
            <a:avLst/>
          </a:prstGeom>
          <a:noFill/>
          <a:ln w="0">
            <a:noFill/>
          </a:ln>
        </p:spPr>
        <p:txBody>
          <a:bodyPr>
            <a:normAutofit/>
          </a:bodyPr>
          <a:lstStyle/>
          <a:p>
            <a:pPr>
              <a:defRPr sz="1500">
                <a:solidFill>
                  <a:srgbClr val="5A6780"/>
                </a:solidFill>
                <a:latin typeface="Arial"/>
                <a:ea typeface="Arial"/>
                <a:cs typeface="Arial"/>
              </a:defRPr>
            </a:pPr>
            <a:r>
              <a:rPr sz="1500">
                <a:solidFill>
                  <a:srgbClr val="5A6780"/>
                </a:solidFill>
                <a:latin typeface="Arial"/>
                <a:ea typeface="Arial"/>
                <a:cs typeface="Arial"/>
              </a:rPr>
              <a:t>Cần start code 00 00 01 hoặc 00 00 00 01</a:t>
            </a:r>
          </a:p>
        </p:txBody>
      </p:sp>
      <p:sp>
        <p:nvSpPr>
          <p:cNvPr id="12" name="Straight Connector 11">
            <a:extLst>
              <a:ext uri="{FF2B5EF4-FFF2-40B4-BE49-F238E27FC236}">
                <a16:creationId xmlns:a16="http://schemas.microsoft.com/office/drawing/2014/main" id="{7FBE73AB-F431-40FA-BD98-C7E92A35F783}"/>
              </a:ext>
            </a:extLst>
          </p:cNvPr>
          <p:cNvSpPr>
            <a:spLocks noGrp="1"/>
          </p:cNvSpPr>
          <p:nvPr/>
        </p:nvSpPr>
        <p:spPr>
          <a:xfrm>
            <a:off x="742950" y="2781300"/>
            <a:ext cx="10706100" cy="0"/>
          </a:xfrm>
          <a:prstGeom prst="line">
            <a:avLst/>
          </a:prstGeom>
          <a:noFill/>
          <a:ln w="9525">
            <a:solidFill>
              <a:srgbClr val="E8EDF4"/>
            </a:solidFill>
          </a:ln>
        </p:spPr>
        <p:txBody>
          <a:bodyPr/>
          <a:lstStyle/>
          <a:p>
            <a:endParaRPr lang="en-US"/>
          </a:p>
        </p:txBody>
      </p:sp>
      <p:sp>
        <p:nvSpPr>
          <p:cNvPr id="13" name="Rectangle 12">
            <a:extLst>
              <a:ext uri="{FF2B5EF4-FFF2-40B4-BE49-F238E27FC236}">
                <a16:creationId xmlns:a16="http://schemas.microsoft.com/office/drawing/2014/main" id="{9AB7D901-0825-4EE7-A5D3-CC821AD01C71}"/>
              </a:ext>
            </a:extLst>
          </p:cNvPr>
          <p:cNvSpPr>
            <a:spLocks noGrp="1"/>
          </p:cNvSpPr>
          <p:nvPr/>
        </p:nvSpPr>
        <p:spPr>
          <a:xfrm>
            <a:off x="781050" y="2952750"/>
            <a:ext cx="2619375"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H.264 binary chunks</a:t>
            </a:r>
          </a:p>
        </p:txBody>
      </p:sp>
      <p:sp>
        <p:nvSpPr>
          <p:cNvPr id="14" name="Rectangle 13">
            <a:extLst>
              <a:ext uri="{FF2B5EF4-FFF2-40B4-BE49-F238E27FC236}">
                <a16:creationId xmlns:a16="http://schemas.microsoft.com/office/drawing/2014/main" id="{9EA4AFA3-AE97-43DC-9989-74621F13FDBF}"/>
              </a:ext>
            </a:extLst>
          </p:cNvPr>
          <p:cNvSpPr>
            <a:spLocks noGrp="1"/>
          </p:cNvSpPr>
          <p:nvPr/>
        </p:nvSpPr>
        <p:spPr>
          <a:xfrm>
            <a:off x="3714750" y="2952750"/>
            <a:ext cx="2000250" cy="266700"/>
          </a:xfrm>
          <a:prstGeom prst="rect">
            <a:avLst/>
          </a:prstGeom>
          <a:noFill/>
          <a:ln w="0">
            <a:noFill/>
          </a:ln>
        </p:spPr>
        <p:txBody>
          <a:bodyPr>
            <a:normAutofit fontScale="76667"/>
          </a:bodyPr>
          <a:lstStyle/>
          <a:p>
            <a:pPr>
              <a:defRPr sz="1500" b="1">
                <a:solidFill>
                  <a:srgbClr val="25A36F"/>
                </a:solidFill>
                <a:latin typeface="Arial"/>
                <a:ea typeface="Arial"/>
                <a:cs typeface="Arial"/>
              </a:defRPr>
            </a:pPr>
            <a:r>
              <a:rPr sz="1500" b="1">
                <a:solidFill>
                  <a:srgbClr val="25A36F"/>
                </a:solidFill>
                <a:latin typeface="Arial"/>
                <a:ea typeface="Arial"/>
                <a:cs typeface="Arial"/>
              </a:rPr>
              <a:t>Nhận trực tiếp</a:t>
            </a:r>
          </a:p>
        </p:txBody>
      </p:sp>
      <p:sp>
        <p:nvSpPr>
          <p:cNvPr id="15" name="Rectangle 14">
            <a:extLst>
              <a:ext uri="{FF2B5EF4-FFF2-40B4-BE49-F238E27FC236}">
                <a16:creationId xmlns:a16="http://schemas.microsoft.com/office/drawing/2014/main" id="{4B34A15A-B5BC-4B4E-9C15-09A6F300534E}"/>
              </a:ext>
            </a:extLst>
          </p:cNvPr>
          <p:cNvSpPr>
            <a:spLocks noGrp="1"/>
          </p:cNvSpPr>
          <p:nvPr/>
        </p:nvSpPr>
        <p:spPr>
          <a:xfrm>
            <a:off x="6048375" y="2952750"/>
            <a:ext cx="5095875" cy="371475"/>
          </a:xfrm>
          <a:prstGeom prst="rect">
            <a:avLst/>
          </a:prstGeom>
          <a:noFill/>
          <a:ln w="0">
            <a:noFill/>
          </a:ln>
        </p:spPr>
        <p:txBody>
          <a:bodyPr>
            <a:normAutofit/>
          </a:bodyPr>
          <a:lstStyle/>
          <a:p>
            <a:pPr>
              <a:defRPr sz="1500">
                <a:solidFill>
                  <a:srgbClr val="5A6780"/>
                </a:solidFill>
                <a:latin typeface="Arial"/>
                <a:ea typeface="Arial"/>
                <a:cs typeface="Arial"/>
              </a:defRPr>
            </a:pPr>
            <a:r>
              <a:rPr sz="1500">
                <a:solidFill>
                  <a:srgbClr val="5A6780"/>
                </a:solidFill>
                <a:latin typeface="Arial"/>
                <a:ea typeface="Arial"/>
                <a:cs typeface="Arial"/>
              </a:rPr>
              <a:t>Đường WebSocket, adapter đưa chunk vào stdin native</a:t>
            </a:r>
          </a:p>
        </p:txBody>
      </p:sp>
      <p:sp>
        <p:nvSpPr>
          <p:cNvPr id="16" name="Straight Connector 15">
            <a:extLst>
              <a:ext uri="{FF2B5EF4-FFF2-40B4-BE49-F238E27FC236}">
                <a16:creationId xmlns:a16="http://schemas.microsoft.com/office/drawing/2014/main" id="{6125129E-215F-4399-B840-F469DB9AA295}"/>
              </a:ext>
            </a:extLst>
          </p:cNvPr>
          <p:cNvSpPr>
            <a:spLocks noGrp="1"/>
          </p:cNvSpPr>
          <p:nvPr/>
        </p:nvSpPr>
        <p:spPr>
          <a:xfrm>
            <a:off x="742950" y="3419475"/>
            <a:ext cx="10706100" cy="0"/>
          </a:xfrm>
          <a:prstGeom prst="line">
            <a:avLst/>
          </a:prstGeom>
          <a:noFill/>
          <a:ln w="9525">
            <a:solidFill>
              <a:srgbClr val="E8EDF4"/>
            </a:solidFill>
          </a:ln>
        </p:spPr>
        <p:txBody>
          <a:bodyPr/>
          <a:lstStyle/>
          <a:p>
            <a:endParaRPr lang="en-US"/>
          </a:p>
        </p:txBody>
      </p:sp>
      <p:sp>
        <p:nvSpPr>
          <p:cNvPr id="17" name="Rectangle 16">
            <a:extLst>
              <a:ext uri="{FF2B5EF4-FFF2-40B4-BE49-F238E27FC236}">
                <a16:creationId xmlns:a16="http://schemas.microsoft.com/office/drawing/2014/main" id="{09CF18E1-71C5-4ABA-BF15-5D7A2349FE0E}"/>
              </a:ext>
            </a:extLst>
          </p:cNvPr>
          <p:cNvSpPr>
            <a:spLocks noGrp="1"/>
          </p:cNvSpPr>
          <p:nvPr/>
        </p:nvSpPr>
        <p:spPr>
          <a:xfrm>
            <a:off x="781050" y="3590925"/>
            <a:ext cx="2619375"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.mp4 · .mov · .mkv</a:t>
            </a:r>
          </a:p>
        </p:txBody>
      </p:sp>
      <p:sp>
        <p:nvSpPr>
          <p:cNvPr id="18" name="Rectangle 17">
            <a:extLst>
              <a:ext uri="{FF2B5EF4-FFF2-40B4-BE49-F238E27FC236}">
                <a16:creationId xmlns:a16="http://schemas.microsoft.com/office/drawing/2014/main" id="{6B93EF7F-D159-4D1C-BC83-01024F2F56E4}"/>
              </a:ext>
            </a:extLst>
          </p:cNvPr>
          <p:cNvSpPr>
            <a:spLocks noGrp="1"/>
          </p:cNvSpPr>
          <p:nvPr/>
        </p:nvSpPr>
        <p:spPr>
          <a:xfrm>
            <a:off x="3714750" y="3590925"/>
            <a:ext cx="2000250" cy="266700"/>
          </a:xfrm>
          <a:prstGeom prst="rect">
            <a:avLst/>
          </a:prstGeom>
          <a:noFill/>
          <a:ln w="0">
            <a:noFill/>
          </a:ln>
        </p:spPr>
        <p:txBody>
          <a:bodyPr>
            <a:normAutofit fontScale="76667"/>
          </a:bodyPr>
          <a:lstStyle/>
          <a:p>
            <a:pPr>
              <a:defRPr sz="1500" b="1">
                <a:solidFill>
                  <a:srgbClr val="F2994A"/>
                </a:solidFill>
                <a:latin typeface="Arial"/>
                <a:ea typeface="Arial"/>
                <a:cs typeface="Arial"/>
              </a:defRPr>
            </a:pPr>
            <a:r>
              <a:rPr sz="1500" b="1">
                <a:solidFill>
                  <a:srgbClr val="F2994A"/>
                </a:solidFill>
                <a:latin typeface="Arial"/>
                <a:ea typeface="Arial"/>
                <a:cs typeface="Arial"/>
              </a:rPr>
              <a:t>Cần chuyển đổi</a:t>
            </a:r>
          </a:p>
        </p:txBody>
      </p:sp>
      <p:sp>
        <p:nvSpPr>
          <p:cNvPr id="19" name="Rectangle 18">
            <a:extLst>
              <a:ext uri="{FF2B5EF4-FFF2-40B4-BE49-F238E27FC236}">
                <a16:creationId xmlns:a16="http://schemas.microsoft.com/office/drawing/2014/main" id="{87CEFDB5-43D0-4231-B7F5-BEEB820E7037}"/>
              </a:ext>
            </a:extLst>
          </p:cNvPr>
          <p:cNvSpPr>
            <a:spLocks noGrp="1"/>
          </p:cNvSpPr>
          <p:nvPr/>
        </p:nvSpPr>
        <p:spPr>
          <a:xfrm>
            <a:off x="6048375" y="3495675"/>
            <a:ext cx="5095875" cy="371475"/>
          </a:xfrm>
          <a:prstGeom prst="rect">
            <a:avLst/>
          </a:prstGeom>
          <a:noFill/>
          <a:ln w="0">
            <a:noFill/>
          </a:ln>
        </p:spPr>
        <p:txBody>
          <a:bodyPr>
            <a:normAutofit fontScale="90607"/>
          </a:bodyPr>
          <a:lstStyle/>
          <a:p>
            <a:pPr>
              <a:defRPr sz="1500">
                <a:solidFill>
                  <a:srgbClr val="5A6780"/>
                </a:solidFill>
                <a:latin typeface="Arial"/>
                <a:ea typeface="Arial"/>
                <a:cs typeface="Arial"/>
              </a:defRPr>
            </a:pPr>
            <a:r>
              <a:rPr sz="1500" dirty="0" err="1">
                <a:solidFill>
                  <a:srgbClr val="5A6780"/>
                </a:solidFill>
                <a:latin typeface="Arial"/>
                <a:ea typeface="Arial"/>
                <a:cs typeface="Arial"/>
              </a:rPr>
              <a:t>Dùng</a:t>
            </a:r>
            <a:r>
              <a:rPr sz="1500" dirty="0">
                <a:solidFill>
                  <a:srgbClr val="5A6780"/>
                </a:solidFill>
                <a:latin typeface="Arial"/>
                <a:ea typeface="Arial"/>
                <a:cs typeface="Arial"/>
              </a:rPr>
              <a:t> </a:t>
            </a:r>
            <a:r>
              <a:rPr sz="1500" dirty="0" err="1">
                <a:solidFill>
                  <a:srgbClr val="5A6780"/>
                </a:solidFill>
                <a:latin typeface="Arial"/>
                <a:ea typeface="Arial"/>
                <a:cs typeface="Arial"/>
              </a:rPr>
              <a:t>FFmpeg</a:t>
            </a:r>
            <a:r>
              <a:rPr sz="1500" dirty="0">
                <a:solidFill>
                  <a:srgbClr val="5A6780"/>
                </a:solidFill>
                <a:latin typeface="Arial"/>
                <a:ea typeface="Arial"/>
                <a:cs typeface="Arial"/>
              </a:rPr>
              <a:t> </a:t>
            </a:r>
            <a:r>
              <a:rPr sz="1500" dirty="0" err="1">
                <a:solidFill>
                  <a:srgbClr val="5A6780"/>
                </a:solidFill>
                <a:latin typeface="Arial"/>
                <a:ea typeface="Arial"/>
                <a:cs typeface="Arial"/>
              </a:rPr>
              <a:t>để</a:t>
            </a:r>
            <a:r>
              <a:rPr sz="1500" dirty="0">
                <a:solidFill>
                  <a:srgbClr val="5A6780"/>
                </a:solidFill>
                <a:latin typeface="Arial"/>
                <a:ea typeface="Arial"/>
                <a:cs typeface="Arial"/>
              </a:rPr>
              <a:t> </a:t>
            </a:r>
            <a:r>
              <a:rPr sz="1500" dirty="0" err="1">
                <a:solidFill>
                  <a:srgbClr val="5A6780"/>
                </a:solidFill>
                <a:latin typeface="Arial"/>
                <a:ea typeface="Arial"/>
                <a:cs typeface="Arial"/>
              </a:rPr>
              <a:t>xuất</a:t>
            </a:r>
            <a:r>
              <a:rPr sz="1500" dirty="0">
                <a:solidFill>
                  <a:srgbClr val="5A6780"/>
                </a:solidFill>
                <a:latin typeface="Arial"/>
                <a:ea typeface="Arial"/>
                <a:cs typeface="Arial"/>
              </a:rPr>
              <a:t> raw H.264 Annex-B </a:t>
            </a:r>
            <a:r>
              <a:rPr sz="1500" dirty="0" err="1">
                <a:solidFill>
                  <a:srgbClr val="5A6780"/>
                </a:solidFill>
                <a:latin typeface="Arial"/>
                <a:ea typeface="Arial"/>
                <a:cs typeface="Arial"/>
              </a:rPr>
              <a:t>trước</a:t>
            </a:r>
            <a:r>
              <a:rPr sz="1500" dirty="0">
                <a:solidFill>
                  <a:srgbClr val="5A6780"/>
                </a:solidFill>
                <a:latin typeface="Arial"/>
                <a:ea typeface="Arial"/>
                <a:cs typeface="Arial"/>
              </a:rPr>
              <a:t> </a:t>
            </a:r>
            <a:r>
              <a:rPr sz="1500" dirty="0" err="1">
                <a:solidFill>
                  <a:srgbClr val="5A6780"/>
                </a:solidFill>
                <a:latin typeface="Arial"/>
                <a:ea typeface="Arial"/>
                <a:cs typeface="Arial"/>
              </a:rPr>
              <a:t>khi</a:t>
            </a:r>
            <a:r>
              <a:rPr sz="1500" dirty="0">
                <a:solidFill>
                  <a:srgbClr val="5A6780"/>
                </a:solidFill>
                <a:latin typeface="Arial"/>
                <a:ea typeface="Arial"/>
                <a:cs typeface="Arial"/>
              </a:rPr>
              <a:t> </a:t>
            </a:r>
            <a:r>
              <a:rPr sz="1500" dirty="0" err="1">
                <a:solidFill>
                  <a:srgbClr val="5A6780"/>
                </a:solidFill>
                <a:latin typeface="Arial"/>
                <a:ea typeface="Arial"/>
                <a:cs typeface="Arial"/>
              </a:rPr>
              <a:t>nhúng</a:t>
            </a:r>
            <a:endParaRPr sz="1500" dirty="0">
              <a:solidFill>
                <a:srgbClr val="5A6780"/>
              </a:solidFill>
              <a:latin typeface="Arial"/>
              <a:ea typeface="Arial"/>
              <a:cs typeface="Arial"/>
            </a:endParaRPr>
          </a:p>
        </p:txBody>
      </p:sp>
      <p:sp>
        <p:nvSpPr>
          <p:cNvPr id="20" name="Straight Connector 19">
            <a:extLst>
              <a:ext uri="{FF2B5EF4-FFF2-40B4-BE49-F238E27FC236}">
                <a16:creationId xmlns:a16="http://schemas.microsoft.com/office/drawing/2014/main" id="{12D26A29-FC84-4956-B5B4-752B2300A417}"/>
              </a:ext>
            </a:extLst>
          </p:cNvPr>
          <p:cNvSpPr>
            <a:spLocks noGrp="1"/>
          </p:cNvSpPr>
          <p:nvPr/>
        </p:nvSpPr>
        <p:spPr>
          <a:xfrm>
            <a:off x="742950" y="4057650"/>
            <a:ext cx="10706100" cy="0"/>
          </a:xfrm>
          <a:prstGeom prst="line">
            <a:avLst/>
          </a:prstGeom>
          <a:noFill/>
          <a:ln w="9525">
            <a:solidFill>
              <a:srgbClr val="E8EDF4"/>
            </a:solidFill>
          </a:ln>
        </p:spPr>
        <p:txBody>
          <a:bodyPr/>
          <a:lstStyle/>
          <a:p>
            <a:endParaRPr lang="en-US"/>
          </a:p>
        </p:txBody>
      </p:sp>
      <p:sp>
        <p:nvSpPr>
          <p:cNvPr id="21" name="Rectangle 20">
            <a:extLst>
              <a:ext uri="{FF2B5EF4-FFF2-40B4-BE49-F238E27FC236}">
                <a16:creationId xmlns:a16="http://schemas.microsoft.com/office/drawing/2014/main" id="{2ED401BE-28F9-4030-A178-85B12DD8978F}"/>
              </a:ext>
            </a:extLst>
          </p:cNvPr>
          <p:cNvSpPr>
            <a:spLocks noGrp="1"/>
          </p:cNvSpPr>
          <p:nvPr/>
        </p:nvSpPr>
        <p:spPr>
          <a:xfrm>
            <a:off x="781050" y="4229100"/>
            <a:ext cx="2619375"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.y4m</a:t>
            </a:r>
          </a:p>
        </p:txBody>
      </p:sp>
      <p:sp>
        <p:nvSpPr>
          <p:cNvPr id="22" name="Rectangle 21">
            <a:extLst>
              <a:ext uri="{FF2B5EF4-FFF2-40B4-BE49-F238E27FC236}">
                <a16:creationId xmlns:a16="http://schemas.microsoft.com/office/drawing/2014/main" id="{065198DF-3FD9-4F56-AF24-A4AD6B3F0E2C}"/>
              </a:ext>
            </a:extLst>
          </p:cNvPr>
          <p:cNvSpPr>
            <a:spLocks noGrp="1"/>
          </p:cNvSpPr>
          <p:nvPr/>
        </p:nvSpPr>
        <p:spPr>
          <a:xfrm>
            <a:off x="3714750" y="4229100"/>
            <a:ext cx="2000250" cy="266700"/>
          </a:xfrm>
          <a:prstGeom prst="rect">
            <a:avLst/>
          </a:prstGeom>
          <a:noFill/>
          <a:ln w="0">
            <a:noFill/>
          </a:ln>
        </p:spPr>
        <p:txBody>
          <a:bodyPr>
            <a:normAutofit fontScale="76667"/>
          </a:bodyPr>
          <a:lstStyle/>
          <a:p>
            <a:pPr>
              <a:defRPr sz="1500" b="1">
                <a:solidFill>
                  <a:srgbClr val="F2994A"/>
                </a:solidFill>
                <a:latin typeface="Arial"/>
                <a:ea typeface="Arial"/>
                <a:cs typeface="Arial"/>
              </a:defRPr>
            </a:pPr>
            <a:r>
              <a:rPr sz="1500" b="1">
                <a:solidFill>
                  <a:srgbClr val="F2994A"/>
                </a:solidFill>
                <a:latin typeface="Arial"/>
                <a:ea typeface="Arial"/>
                <a:cs typeface="Arial"/>
              </a:rPr>
              <a:t>Video thô (demo)</a:t>
            </a:r>
          </a:p>
        </p:txBody>
      </p:sp>
      <p:sp>
        <p:nvSpPr>
          <p:cNvPr id="23" name="Rectangle 22">
            <a:extLst>
              <a:ext uri="{FF2B5EF4-FFF2-40B4-BE49-F238E27FC236}">
                <a16:creationId xmlns:a16="http://schemas.microsoft.com/office/drawing/2014/main" id="{2B474315-BB1A-4BA9-B386-3AA0011F93B4}"/>
              </a:ext>
            </a:extLst>
          </p:cNvPr>
          <p:cNvSpPr>
            <a:spLocks noGrp="1"/>
          </p:cNvSpPr>
          <p:nvPr/>
        </p:nvSpPr>
        <p:spPr>
          <a:xfrm>
            <a:off x="6048375" y="4229100"/>
            <a:ext cx="5400675" cy="371475"/>
          </a:xfrm>
          <a:prstGeom prst="rect">
            <a:avLst/>
          </a:prstGeom>
          <a:noFill/>
          <a:ln w="0">
            <a:noFill/>
          </a:ln>
        </p:spPr>
        <p:txBody>
          <a:bodyPr>
            <a:normAutofit fontScale="98152"/>
          </a:bodyPr>
          <a:lstStyle/>
          <a:p>
            <a:pPr>
              <a:defRPr sz="1500">
                <a:solidFill>
                  <a:srgbClr val="5A6780"/>
                </a:solidFill>
                <a:latin typeface="Arial"/>
                <a:ea typeface="Arial"/>
                <a:cs typeface="Arial"/>
              </a:defRPr>
            </a:pPr>
            <a:r>
              <a:rPr sz="1500">
                <a:solidFill>
                  <a:srgbClr val="5A6780"/>
                </a:solidFill>
                <a:latin typeface="Arial"/>
                <a:ea typeface="Arial"/>
                <a:cs typeface="Arial"/>
              </a:rPr>
              <a:t>FFmpeg/libx264 encode Baseline CAVLC trước khi xử lý</a:t>
            </a:r>
          </a:p>
        </p:txBody>
      </p:sp>
      <p:sp>
        <p:nvSpPr>
          <p:cNvPr id="24" name="Rectangle 23">
            <a:extLst>
              <a:ext uri="{FF2B5EF4-FFF2-40B4-BE49-F238E27FC236}">
                <a16:creationId xmlns:a16="http://schemas.microsoft.com/office/drawing/2014/main" id="{B3CFD278-D84C-4825-AD76-1E5A3BFEBE21}"/>
              </a:ext>
            </a:extLst>
          </p:cNvPr>
          <p:cNvSpPr>
            <a:spLocks noGrp="1"/>
          </p:cNvSpPr>
          <p:nvPr/>
        </p:nvSpPr>
        <p:spPr>
          <a:xfrm>
            <a:off x="1257300" y="5019675"/>
            <a:ext cx="96774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4 — Định dạng native nhận trực tiếp và các định dạng cần chuyển sang H.264 Annex-B trước khi parse.</a:t>
            </a:r>
          </a:p>
        </p:txBody>
      </p:sp>
      <p:sp>
        <p:nvSpPr>
          <p:cNvPr id="25" name="Rectangle: Rounded Corners 24">
            <a:extLst>
              <a:ext uri="{FF2B5EF4-FFF2-40B4-BE49-F238E27FC236}">
                <a16:creationId xmlns:a16="http://schemas.microsoft.com/office/drawing/2014/main" id="{8B9CC88C-A4B4-4076-B11A-A10FDB192015}"/>
              </a:ext>
            </a:extLst>
          </p:cNvPr>
          <p:cNvSpPr>
            <a:spLocks noGrp="1"/>
          </p:cNvSpPr>
          <p:nvPr/>
        </p:nvSpPr>
        <p:spPr>
          <a:xfrm>
            <a:off x="1257300" y="5257800"/>
            <a:ext cx="9677400" cy="714375"/>
          </a:xfrm>
          <a:prstGeom prst="roundRect">
            <a:avLst>
              <a:gd name="adj" fmla="val 10667"/>
            </a:avLst>
          </a:prstGeom>
          <a:solidFill>
            <a:srgbClr val="FFF5E9"/>
          </a:solidFill>
          <a:ln w="9525">
            <a:solidFill>
              <a:srgbClr val="F7D2A5"/>
            </a:solidFill>
          </a:ln>
        </p:spPr>
        <p:txBody>
          <a:bodyPr/>
          <a:lstStyle/>
          <a:p>
            <a:endParaRPr lang="en-US"/>
          </a:p>
        </p:txBody>
      </p:sp>
      <p:sp>
        <p:nvSpPr>
          <p:cNvPr id="26" name="Rectangle 25">
            <a:extLst>
              <a:ext uri="{FF2B5EF4-FFF2-40B4-BE49-F238E27FC236}">
                <a16:creationId xmlns:a16="http://schemas.microsoft.com/office/drawing/2014/main" id="{11A95E50-3EA4-41B1-9FE2-DB8F971F53C0}"/>
              </a:ext>
            </a:extLst>
          </p:cNvPr>
          <p:cNvSpPr>
            <a:spLocks noGrp="1"/>
          </p:cNvSpPr>
          <p:nvPr/>
        </p:nvSpPr>
        <p:spPr>
          <a:xfrm>
            <a:off x="1562100" y="5448300"/>
            <a:ext cx="9096375" cy="352425"/>
          </a:xfrm>
          <a:prstGeom prst="rect">
            <a:avLst/>
          </a:prstGeom>
          <a:noFill/>
          <a:ln w="0">
            <a:noFill/>
          </a:ln>
        </p:spPr>
        <p:txBody>
          <a:bodyPr>
            <a:normAutofit fontScale="68539"/>
          </a:bodyPr>
          <a:lstStyle/>
          <a:p>
            <a:pPr>
              <a:defRPr sz="1425">
                <a:solidFill>
                  <a:srgbClr val="8A5017"/>
                </a:solidFill>
                <a:latin typeface="Arial"/>
                <a:ea typeface="Arial"/>
                <a:cs typeface="Arial"/>
              </a:defRPr>
            </a:pPr>
            <a:r>
              <a:rPr sz="1425">
                <a:solidFill>
                  <a:srgbClr val="8A5017"/>
                </a:solidFill>
                <a:latin typeface="Arial"/>
                <a:ea typeface="Arial"/>
                <a:cs typeface="Arial"/>
              </a:rPr>
              <a:t>Parser native nhận H.264 Baseline dùng CAVLC, progressive, một slice/frame; chỉ IDR mang dữ liệu. CABAC, slice groups và P/B chưa là vật mang.</a:t>
            </a:r>
          </a:p>
        </p:txBody>
      </p:sp>
      <p:sp>
        <p:nvSpPr>
          <p:cNvPr id="27" name="Rectangle 26">
            <a:extLst>
              <a:ext uri="{FF2B5EF4-FFF2-40B4-BE49-F238E27FC236}">
                <a16:creationId xmlns:a16="http://schemas.microsoft.com/office/drawing/2014/main" id="{66911EA1-AABF-4FA7-8A62-130AFFB9606F}"/>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28" name="Rectangle 27">
            <a:extLst>
              <a:ext uri="{FF2B5EF4-FFF2-40B4-BE49-F238E27FC236}">
                <a16:creationId xmlns:a16="http://schemas.microsoft.com/office/drawing/2014/main" id="{3D31E12D-ABF1-4C2E-BAB5-28D308CE9E98}"/>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04</a:t>
            </a:r>
          </a:p>
        </p:txBody>
      </p:sp>
    </p:spTree>
    <p:extLst>
      <p:ext uri="{BB962C8B-B14F-4D97-AF65-F5344CB8AC3E}">
        <p14:creationId xmlns:p14="http://schemas.microsoft.com/office/powerpoint/2010/main" val="1721908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DD1C7579-A294-4BF8-8B45-25C384FFB523}"/>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dirty="0" err="1">
                <a:solidFill>
                  <a:srgbClr val="10213D"/>
                </a:solidFill>
                <a:latin typeface="Arial"/>
                <a:ea typeface="Arial"/>
                <a:cs typeface="Arial"/>
              </a:rPr>
              <a:t>Một</a:t>
            </a:r>
            <a:r>
              <a:rPr sz="2700" b="1" dirty="0">
                <a:solidFill>
                  <a:srgbClr val="10213D"/>
                </a:solidFill>
                <a:latin typeface="Arial"/>
                <a:ea typeface="Arial"/>
                <a:cs typeface="Arial"/>
              </a:rPr>
              <a:t> NAL IDR </a:t>
            </a:r>
            <a:r>
              <a:rPr lang="vi-VN" sz="2700" b="1" dirty="0">
                <a:solidFill>
                  <a:srgbClr val="10213D"/>
                </a:solidFill>
                <a:latin typeface="Arial"/>
                <a:ea typeface="Arial"/>
                <a:cs typeface="Arial"/>
              </a:rPr>
              <a:t>tới</a:t>
            </a:r>
            <a:r>
              <a:rPr sz="2700" b="1" dirty="0">
                <a:solidFill>
                  <a:srgbClr val="10213D"/>
                </a:solidFill>
                <a:latin typeface="Arial"/>
                <a:ea typeface="Arial"/>
                <a:cs typeface="Arial"/>
              </a:rPr>
              <a:t> hex</a:t>
            </a:r>
          </a:p>
        </p:txBody>
      </p:sp>
      <p:sp>
        <p:nvSpPr>
          <p:cNvPr id="2" name="Rectangle 1">
            <a:extLst>
              <a:ext uri="{FF2B5EF4-FFF2-40B4-BE49-F238E27FC236}">
                <a16:creationId xmlns:a16="http://schemas.microsoft.com/office/drawing/2014/main" id="{C73D97E9-7504-4C8D-B93A-94F71FF2214A}"/>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dirty="0">
                <a:solidFill>
                  <a:srgbClr val="5A6780"/>
                </a:solidFill>
                <a:latin typeface="Arial"/>
                <a:ea typeface="Arial"/>
                <a:cs typeface="Arial"/>
              </a:rPr>
              <a:t>Native </a:t>
            </a:r>
            <a:r>
              <a:rPr sz="1200" dirty="0" err="1">
                <a:solidFill>
                  <a:srgbClr val="5A6780"/>
                </a:solidFill>
                <a:latin typeface="Arial"/>
                <a:ea typeface="Arial"/>
                <a:cs typeface="Arial"/>
              </a:rPr>
              <a:t>không</a:t>
            </a:r>
            <a:r>
              <a:rPr sz="1200" dirty="0">
                <a:solidFill>
                  <a:srgbClr val="5A6780"/>
                </a:solidFill>
                <a:latin typeface="Arial"/>
                <a:ea typeface="Arial"/>
                <a:cs typeface="Arial"/>
              </a:rPr>
              <a:t> </a:t>
            </a:r>
            <a:r>
              <a:rPr sz="1200" dirty="0" err="1">
                <a:solidFill>
                  <a:srgbClr val="5A6780"/>
                </a:solidFill>
                <a:latin typeface="Arial"/>
                <a:ea typeface="Arial"/>
                <a:cs typeface="Arial"/>
              </a:rPr>
              <a:t>nhìn</a:t>
            </a:r>
            <a:r>
              <a:rPr sz="1200" dirty="0">
                <a:solidFill>
                  <a:srgbClr val="5A6780"/>
                </a:solidFill>
                <a:latin typeface="Arial"/>
                <a:ea typeface="Arial"/>
                <a:cs typeface="Arial"/>
              </a:rPr>
              <a:t> video </a:t>
            </a:r>
            <a:r>
              <a:rPr sz="1200" dirty="0" err="1">
                <a:solidFill>
                  <a:srgbClr val="5A6780"/>
                </a:solidFill>
                <a:latin typeface="Arial"/>
                <a:ea typeface="Arial"/>
                <a:cs typeface="Arial"/>
              </a:rPr>
              <a:t>như</a:t>
            </a:r>
            <a:r>
              <a:rPr sz="1200" dirty="0">
                <a:solidFill>
                  <a:srgbClr val="5A6780"/>
                </a:solidFill>
                <a:latin typeface="Arial"/>
                <a:ea typeface="Arial"/>
                <a:cs typeface="Arial"/>
              </a:rPr>
              <a:t> </a:t>
            </a:r>
            <a:r>
              <a:rPr sz="1200" dirty="0" err="1">
                <a:solidFill>
                  <a:srgbClr val="5A6780"/>
                </a:solidFill>
                <a:latin typeface="Arial"/>
                <a:ea typeface="Arial"/>
                <a:cs typeface="Arial"/>
              </a:rPr>
              <a:t>hình</a:t>
            </a:r>
            <a:r>
              <a:rPr sz="1200" dirty="0">
                <a:solidFill>
                  <a:srgbClr val="5A6780"/>
                </a:solidFill>
                <a:latin typeface="Arial"/>
                <a:ea typeface="Arial"/>
                <a:cs typeface="Arial"/>
              </a:rPr>
              <a:t> </a:t>
            </a:r>
            <a:r>
              <a:rPr sz="1200" dirty="0" err="1">
                <a:solidFill>
                  <a:srgbClr val="5A6780"/>
                </a:solidFill>
                <a:latin typeface="Arial"/>
                <a:ea typeface="Arial"/>
                <a:cs typeface="Arial"/>
              </a:rPr>
              <a:t>ảnh</a:t>
            </a:r>
            <a:r>
              <a:rPr sz="1200" dirty="0">
                <a:solidFill>
                  <a:srgbClr val="5A6780"/>
                </a:solidFill>
                <a:latin typeface="Arial"/>
                <a:ea typeface="Arial"/>
                <a:cs typeface="Arial"/>
              </a:rPr>
              <a:t>. </a:t>
            </a:r>
            <a:r>
              <a:rPr sz="1200" dirty="0" err="1">
                <a:solidFill>
                  <a:srgbClr val="5A6780"/>
                </a:solidFill>
                <a:latin typeface="Arial"/>
                <a:ea typeface="Arial"/>
                <a:cs typeface="Arial"/>
              </a:rPr>
              <a:t>Nó</a:t>
            </a:r>
            <a:r>
              <a:rPr sz="1200" dirty="0">
                <a:solidFill>
                  <a:srgbClr val="5A6780"/>
                </a:solidFill>
                <a:latin typeface="Arial"/>
                <a:ea typeface="Arial"/>
                <a:cs typeface="Arial"/>
              </a:rPr>
              <a:t> </a:t>
            </a:r>
            <a:r>
              <a:rPr sz="1200" dirty="0" err="1">
                <a:solidFill>
                  <a:srgbClr val="5A6780"/>
                </a:solidFill>
                <a:latin typeface="Arial"/>
                <a:ea typeface="Arial"/>
                <a:cs typeface="Arial"/>
              </a:rPr>
              <a:t>lần</a:t>
            </a:r>
            <a:r>
              <a:rPr sz="1200" dirty="0">
                <a:solidFill>
                  <a:srgbClr val="5A6780"/>
                </a:solidFill>
                <a:latin typeface="Arial"/>
                <a:ea typeface="Arial"/>
                <a:cs typeface="Arial"/>
              </a:rPr>
              <a:t> </a:t>
            </a:r>
            <a:r>
              <a:rPr sz="1200" dirty="0" err="1">
                <a:solidFill>
                  <a:srgbClr val="5A6780"/>
                </a:solidFill>
                <a:latin typeface="Arial"/>
                <a:ea typeface="Arial"/>
                <a:cs typeface="Arial"/>
              </a:rPr>
              <a:t>từ</a:t>
            </a:r>
            <a:r>
              <a:rPr sz="1200" dirty="0">
                <a:solidFill>
                  <a:srgbClr val="5A6780"/>
                </a:solidFill>
                <a:latin typeface="Arial"/>
                <a:ea typeface="Arial"/>
                <a:cs typeface="Arial"/>
              </a:rPr>
              <a:t> byte start code </a:t>
            </a:r>
            <a:r>
              <a:rPr sz="1200" dirty="0" err="1">
                <a:solidFill>
                  <a:srgbClr val="5A6780"/>
                </a:solidFill>
                <a:latin typeface="Arial"/>
                <a:ea typeface="Arial"/>
                <a:cs typeface="Arial"/>
              </a:rPr>
              <a:t>tới</a:t>
            </a:r>
            <a:r>
              <a:rPr sz="1200" dirty="0">
                <a:solidFill>
                  <a:srgbClr val="5A6780"/>
                </a:solidFill>
                <a:latin typeface="Arial"/>
                <a:ea typeface="Arial"/>
                <a:cs typeface="Arial"/>
              </a:rPr>
              <a:t> slice payload, </a:t>
            </a:r>
            <a:r>
              <a:rPr sz="1200" dirty="0" err="1">
                <a:solidFill>
                  <a:srgbClr val="5A6780"/>
                </a:solidFill>
                <a:latin typeface="Arial"/>
                <a:ea typeface="Arial"/>
                <a:cs typeface="Arial"/>
              </a:rPr>
              <a:t>rồi</a:t>
            </a:r>
            <a:r>
              <a:rPr sz="1200" dirty="0">
                <a:solidFill>
                  <a:srgbClr val="5A6780"/>
                </a:solidFill>
                <a:latin typeface="Arial"/>
                <a:ea typeface="Arial"/>
                <a:cs typeface="Arial"/>
              </a:rPr>
              <a:t> </a:t>
            </a:r>
            <a:r>
              <a:rPr sz="1200" dirty="0" err="1">
                <a:solidFill>
                  <a:srgbClr val="5A6780"/>
                </a:solidFill>
                <a:latin typeface="Arial"/>
                <a:ea typeface="Arial"/>
                <a:cs typeface="Arial"/>
              </a:rPr>
              <a:t>mới</a:t>
            </a:r>
            <a:r>
              <a:rPr sz="1200" dirty="0">
                <a:solidFill>
                  <a:srgbClr val="5A6780"/>
                </a:solidFill>
                <a:latin typeface="Arial"/>
                <a:ea typeface="Arial"/>
                <a:cs typeface="Arial"/>
              </a:rPr>
              <a:t> </a:t>
            </a:r>
            <a:r>
              <a:rPr sz="1200" dirty="0" err="1">
                <a:solidFill>
                  <a:srgbClr val="5A6780"/>
                </a:solidFill>
                <a:latin typeface="Arial"/>
                <a:ea typeface="Arial"/>
                <a:cs typeface="Arial"/>
              </a:rPr>
              <a:t>tìm</a:t>
            </a:r>
            <a:r>
              <a:rPr sz="1200" dirty="0">
                <a:solidFill>
                  <a:srgbClr val="5A6780"/>
                </a:solidFill>
                <a:latin typeface="Arial"/>
                <a:ea typeface="Arial"/>
                <a:cs typeface="Arial"/>
              </a:rPr>
              <a:t> residual CAVLC.</a:t>
            </a:r>
          </a:p>
        </p:txBody>
      </p:sp>
      <p:sp>
        <p:nvSpPr>
          <p:cNvPr id="3" name="Straight Connector 2">
            <a:extLst>
              <a:ext uri="{FF2B5EF4-FFF2-40B4-BE49-F238E27FC236}">
                <a16:creationId xmlns:a16="http://schemas.microsoft.com/office/drawing/2014/main" id="{18D78AF0-EA25-4511-A4C5-06065DF3369B}"/>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sp>
        <p:nvSpPr>
          <p:cNvPr id="4" name="Rectangle: Rounded Corners 3">
            <a:extLst>
              <a:ext uri="{FF2B5EF4-FFF2-40B4-BE49-F238E27FC236}">
                <a16:creationId xmlns:a16="http://schemas.microsoft.com/office/drawing/2014/main" id="{D6AC4EC2-B57B-4C7E-AA73-83EF6C5495F5}"/>
              </a:ext>
            </a:extLst>
          </p:cNvPr>
          <p:cNvSpPr>
            <a:spLocks noGrp="1"/>
          </p:cNvSpPr>
          <p:nvPr/>
        </p:nvSpPr>
        <p:spPr>
          <a:xfrm>
            <a:off x="781050" y="2133600"/>
            <a:ext cx="733425" cy="685800"/>
          </a:xfrm>
          <a:prstGeom prst="roundRect">
            <a:avLst>
              <a:gd name="adj" fmla="val 11111"/>
            </a:avLst>
          </a:prstGeom>
          <a:solidFill>
            <a:srgbClr val="FFFFFF"/>
          </a:solidFill>
          <a:ln w="19050">
            <a:solidFill>
              <a:srgbClr val="2667D8"/>
            </a:solidFill>
          </a:ln>
        </p:spPr>
        <p:txBody>
          <a:bodyPr/>
          <a:lstStyle/>
          <a:p>
            <a:endParaRPr lang="en-US"/>
          </a:p>
        </p:txBody>
      </p:sp>
      <p:sp>
        <p:nvSpPr>
          <p:cNvPr id="5" name="Rectangle 4">
            <a:extLst>
              <a:ext uri="{FF2B5EF4-FFF2-40B4-BE49-F238E27FC236}">
                <a16:creationId xmlns:a16="http://schemas.microsoft.com/office/drawing/2014/main" id="{7187243F-B12F-4837-9C19-2BB41DD7A212}"/>
              </a:ext>
            </a:extLst>
          </p:cNvPr>
          <p:cNvSpPr>
            <a:spLocks noGrp="1"/>
          </p:cNvSpPr>
          <p:nvPr/>
        </p:nvSpPr>
        <p:spPr>
          <a:xfrm>
            <a:off x="781050" y="2314575"/>
            <a:ext cx="733425" cy="266700"/>
          </a:xfrm>
          <a:prstGeom prst="rect">
            <a:avLst/>
          </a:prstGeom>
          <a:noFill/>
          <a:ln w="0">
            <a:noFill/>
          </a:ln>
        </p:spPr>
        <p:txBody>
          <a:bodyPr>
            <a:normAutofit fontScale="58974"/>
          </a:bodyPr>
          <a:lstStyle/>
          <a:p>
            <a:pPr>
              <a:defRPr sz="1950" b="1">
                <a:solidFill>
                  <a:srgbClr val="2667D8"/>
                </a:solidFill>
                <a:latin typeface="Arial"/>
                <a:ea typeface="Arial"/>
                <a:cs typeface="Arial"/>
              </a:defRPr>
            </a:pPr>
            <a:r>
              <a:rPr sz="1950" b="1">
                <a:solidFill>
                  <a:srgbClr val="2667D8"/>
                </a:solidFill>
                <a:latin typeface="Arial"/>
                <a:ea typeface="Arial"/>
                <a:cs typeface="Arial"/>
              </a:rPr>
              <a:t>00</a:t>
            </a:r>
          </a:p>
        </p:txBody>
      </p:sp>
      <p:sp>
        <p:nvSpPr>
          <p:cNvPr id="6" name="Rectangle: Rounded Corners 5">
            <a:extLst>
              <a:ext uri="{FF2B5EF4-FFF2-40B4-BE49-F238E27FC236}">
                <a16:creationId xmlns:a16="http://schemas.microsoft.com/office/drawing/2014/main" id="{30A31A93-4922-42CA-B7DF-644D52928D92}"/>
              </a:ext>
            </a:extLst>
          </p:cNvPr>
          <p:cNvSpPr>
            <a:spLocks noGrp="1"/>
          </p:cNvSpPr>
          <p:nvPr/>
        </p:nvSpPr>
        <p:spPr>
          <a:xfrm>
            <a:off x="1628775" y="2133600"/>
            <a:ext cx="733425" cy="685800"/>
          </a:xfrm>
          <a:prstGeom prst="roundRect">
            <a:avLst>
              <a:gd name="adj" fmla="val 11111"/>
            </a:avLst>
          </a:prstGeom>
          <a:solidFill>
            <a:srgbClr val="FFFFFF"/>
          </a:solidFill>
          <a:ln w="19050">
            <a:solidFill>
              <a:srgbClr val="2667D8"/>
            </a:solidFill>
          </a:ln>
        </p:spPr>
        <p:txBody>
          <a:bodyPr/>
          <a:lstStyle/>
          <a:p>
            <a:endParaRPr lang="en-US"/>
          </a:p>
        </p:txBody>
      </p:sp>
      <p:sp>
        <p:nvSpPr>
          <p:cNvPr id="7" name="Rectangle 6">
            <a:extLst>
              <a:ext uri="{FF2B5EF4-FFF2-40B4-BE49-F238E27FC236}">
                <a16:creationId xmlns:a16="http://schemas.microsoft.com/office/drawing/2014/main" id="{BD1AC06E-30B8-46ED-BCF7-581F741C6041}"/>
              </a:ext>
            </a:extLst>
          </p:cNvPr>
          <p:cNvSpPr>
            <a:spLocks noGrp="1"/>
          </p:cNvSpPr>
          <p:nvPr/>
        </p:nvSpPr>
        <p:spPr>
          <a:xfrm>
            <a:off x="1628775" y="2314575"/>
            <a:ext cx="733425" cy="266700"/>
          </a:xfrm>
          <a:prstGeom prst="rect">
            <a:avLst/>
          </a:prstGeom>
          <a:noFill/>
          <a:ln w="0">
            <a:noFill/>
          </a:ln>
        </p:spPr>
        <p:txBody>
          <a:bodyPr>
            <a:normAutofit fontScale="58974"/>
          </a:bodyPr>
          <a:lstStyle/>
          <a:p>
            <a:pPr>
              <a:defRPr sz="1950" b="1">
                <a:solidFill>
                  <a:srgbClr val="2667D8"/>
                </a:solidFill>
                <a:latin typeface="Arial"/>
                <a:ea typeface="Arial"/>
                <a:cs typeface="Arial"/>
              </a:defRPr>
            </a:pPr>
            <a:r>
              <a:rPr sz="1950" b="1">
                <a:solidFill>
                  <a:srgbClr val="2667D8"/>
                </a:solidFill>
                <a:latin typeface="Arial"/>
                <a:ea typeface="Arial"/>
                <a:cs typeface="Arial"/>
              </a:rPr>
              <a:t>00</a:t>
            </a:r>
          </a:p>
        </p:txBody>
      </p:sp>
      <p:sp>
        <p:nvSpPr>
          <p:cNvPr id="8" name="Rectangle: Rounded Corners 7">
            <a:extLst>
              <a:ext uri="{FF2B5EF4-FFF2-40B4-BE49-F238E27FC236}">
                <a16:creationId xmlns:a16="http://schemas.microsoft.com/office/drawing/2014/main" id="{42A37631-F1FE-4D91-8031-0FAC91BA695C}"/>
              </a:ext>
            </a:extLst>
          </p:cNvPr>
          <p:cNvSpPr>
            <a:spLocks noGrp="1"/>
          </p:cNvSpPr>
          <p:nvPr/>
        </p:nvSpPr>
        <p:spPr>
          <a:xfrm>
            <a:off x="2476500" y="2133600"/>
            <a:ext cx="733425" cy="685800"/>
          </a:xfrm>
          <a:prstGeom prst="roundRect">
            <a:avLst>
              <a:gd name="adj" fmla="val 11111"/>
            </a:avLst>
          </a:prstGeom>
          <a:solidFill>
            <a:srgbClr val="FFFFFF"/>
          </a:solidFill>
          <a:ln w="19050">
            <a:solidFill>
              <a:srgbClr val="2667D8"/>
            </a:solidFill>
          </a:ln>
        </p:spPr>
        <p:txBody>
          <a:bodyPr/>
          <a:lstStyle/>
          <a:p>
            <a:endParaRPr lang="en-US"/>
          </a:p>
        </p:txBody>
      </p:sp>
      <p:sp>
        <p:nvSpPr>
          <p:cNvPr id="9" name="Rectangle 8">
            <a:extLst>
              <a:ext uri="{FF2B5EF4-FFF2-40B4-BE49-F238E27FC236}">
                <a16:creationId xmlns:a16="http://schemas.microsoft.com/office/drawing/2014/main" id="{B7E9DE3A-85F8-4804-8B31-C9035564622C}"/>
              </a:ext>
            </a:extLst>
          </p:cNvPr>
          <p:cNvSpPr>
            <a:spLocks noGrp="1"/>
          </p:cNvSpPr>
          <p:nvPr/>
        </p:nvSpPr>
        <p:spPr>
          <a:xfrm>
            <a:off x="2476500" y="2314575"/>
            <a:ext cx="733425" cy="266700"/>
          </a:xfrm>
          <a:prstGeom prst="rect">
            <a:avLst/>
          </a:prstGeom>
          <a:noFill/>
          <a:ln w="0">
            <a:noFill/>
          </a:ln>
        </p:spPr>
        <p:txBody>
          <a:bodyPr>
            <a:normAutofit fontScale="58974"/>
          </a:bodyPr>
          <a:lstStyle/>
          <a:p>
            <a:pPr>
              <a:defRPr sz="1950" b="1">
                <a:solidFill>
                  <a:srgbClr val="2667D8"/>
                </a:solidFill>
                <a:latin typeface="Arial"/>
                <a:ea typeface="Arial"/>
                <a:cs typeface="Arial"/>
              </a:defRPr>
            </a:pPr>
            <a:r>
              <a:rPr sz="1950" b="1">
                <a:solidFill>
                  <a:srgbClr val="2667D8"/>
                </a:solidFill>
                <a:latin typeface="Arial"/>
                <a:ea typeface="Arial"/>
                <a:cs typeface="Arial"/>
              </a:rPr>
              <a:t>00</a:t>
            </a:r>
          </a:p>
        </p:txBody>
      </p:sp>
      <p:sp>
        <p:nvSpPr>
          <p:cNvPr id="10" name="Rectangle: Rounded Corners 9">
            <a:extLst>
              <a:ext uri="{FF2B5EF4-FFF2-40B4-BE49-F238E27FC236}">
                <a16:creationId xmlns:a16="http://schemas.microsoft.com/office/drawing/2014/main" id="{2FF8A92C-CA43-4B66-8A78-1479DE07F7D0}"/>
              </a:ext>
            </a:extLst>
          </p:cNvPr>
          <p:cNvSpPr>
            <a:spLocks noGrp="1"/>
          </p:cNvSpPr>
          <p:nvPr/>
        </p:nvSpPr>
        <p:spPr>
          <a:xfrm>
            <a:off x="3324225" y="2133600"/>
            <a:ext cx="733425" cy="685800"/>
          </a:xfrm>
          <a:prstGeom prst="roundRect">
            <a:avLst>
              <a:gd name="adj" fmla="val 11111"/>
            </a:avLst>
          </a:prstGeom>
          <a:solidFill>
            <a:srgbClr val="FFFFFF"/>
          </a:solidFill>
          <a:ln w="19050">
            <a:solidFill>
              <a:srgbClr val="2667D8"/>
            </a:solidFill>
          </a:ln>
        </p:spPr>
        <p:txBody>
          <a:bodyPr/>
          <a:lstStyle/>
          <a:p>
            <a:endParaRPr lang="en-US"/>
          </a:p>
        </p:txBody>
      </p:sp>
      <p:sp>
        <p:nvSpPr>
          <p:cNvPr id="11" name="Rectangle 10">
            <a:extLst>
              <a:ext uri="{FF2B5EF4-FFF2-40B4-BE49-F238E27FC236}">
                <a16:creationId xmlns:a16="http://schemas.microsoft.com/office/drawing/2014/main" id="{E06BB6D7-B12F-4AD5-8230-8B5AF60436D6}"/>
              </a:ext>
            </a:extLst>
          </p:cNvPr>
          <p:cNvSpPr>
            <a:spLocks noGrp="1"/>
          </p:cNvSpPr>
          <p:nvPr/>
        </p:nvSpPr>
        <p:spPr>
          <a:xfrm>
            <a:off x="3324225" y="2314575"/>
            <a:ext cx="733425" cy="266700"/>
          </a:xfrm>
          <a:prstGeom prst="rect">
            <a:avLst/>
          </a:prstGeom>
          <a:noFill/>
          <a:ln w="0">
            <a:noFill/>
          </a:ln>
        </p:spPr>
        <p:txBody>
          <a:bodyPr>
            <a:normAutofit fontScale="58974"/>
          </a:bodyPr>
          <a:lstStyle/>
          <a:p>
            <a:pPr>
              <a:defRPr sz="1950" b="1">
                <a:solidFill>
                  <a:srgbClr val="2667D8"/>
                </a:solidFill>
                <a:latin typeface="Arial"/>
                <a:ea typeface="Arial"/>
                <a:cs typeface="Arial"/>
              </a:defRPr>
            </a:pPr>
            <a:r>
              <a:rPr sz="1950" b="1">
                <a:solidFill>
                  <a:srgbClr val="2667D8"/>
                </a:solidFill>
                <a:latin typeface="Arial"/>
                <a:ea typeface="Arial"/>
                <a:cs typeface="Arial"/>
              </a:rPr>
              <a:t>01</a:t>
            </a:r>
          </a:p>
        </p:txBody>
      </p:sp>
      <p:sp>
        <p:nvSpPr>
          <p:cNvPr id="12" name="Rectangle: Rounded Corners 11">
            <a:extLst>
              <a:ext uri="{FF2B5EF4-FFF2-40B4-BE49-F238E27FC236}">
                <a16:creationId xmlns:a16="http://schemas.microsoft.com/office/drawing/2014/main" id="{452B0BFE-DB2A-4D80-8799-F8AF7F5BC777}"/>
              </a:ext>
            </a:extLst>
          </p:cNvPr>
          <p:cNvSpPr>
            <a:spLocks noGrp="1"/>
          </p:cNvSpPr>
          <p:nvPr/>
        </p:nvSpPr>
        <p:spPr>
          <a:xfrm>
            <a:off x="4171950" y="2133600"/>
            <a:ext cx="733425" cy="685800"/>
          </a:xfrm>
          <a:prstGeom prst="roundRect">
            <a:avLst>
              <a:gd name="adj" fmla="val 11111"/>
            </a:avLst>
          </a:prstGeom>
          <a:solidFill>
            <a:srgbClr val="FFFFFF"/>
          </a:solidFill>
          <a:ln w="19050">
            <a:solidFill>
              <a:srgbClr val="F2994A"/>
            </a:solidFill>
          </a:ln>
        </p:spPr>
        <p:txBody>
          <a:bodyPr/>
          <a:lstStyle/>
          <a:p>
            <a:endParaRPr lang="en-US"/>
          </a:p>
        </p:txBody>
      </p:sp>
      <p:sp>
        <p:nvSpPr>
          <p:cNvPr id="13" name="Rectangle 12">
            <a:extLst>
              <a:ext uri="{FF2B5EF4-FFF2-40B4-BE49-F238E27FC236}">
                <a16:creationId xmlns:a16="http://schemas.microsoft.com/office/drawing/2014/main" id="{0E7A7B01-A788-4122-8F90-31B5AA6616A9}"/>
              </a:ext>
            </a:extLst>
          </p:cNvPr>
          <p:cNvSpPr>
            <a:spLocks noGrp="1"/>
          </p:cNvSpPr>
          <p:nvPr/>
        </p:nvSpPr>
        <p:spPr>
          <a:xfrm>
            <a:off x="4171950" y="2314575"/>
            <a:ext cx="733425" cy="266700"/>
          </a:xfrm>
          <a:prstGeom prst="rect">
            <a:avLst/>
          </a:prstGeom>
          <a:noFill/>
          <a:ln w="0">
            <a:noFill/>
          </a:ln>
        </p:spPr>
        <p:txBody>
          <a:bodyPr>
            <a:normAutofit fontScale="58974"/>
          </a:bodyPr>
          <a:lstStyle/>
          <a:p>
            <a:pPr>
              <a:defRPr sz="1950" b="1">
                <a:solidFill>
                  <a:srgbClr val="F2994A"/>
                </a:solidFill>
                <a:latin typeface="Arial"/>
                <a:ea typeface="Arial"/>
                <a:cs typeface="Arial"/>
              </a:defRPr>
            </a:pPr>
            <a:r>
              <a:rPr sz="1950" b="1">
                <a:solidFill>
                  <a:srgbClr val="F2994A"/>
                </a:solidFill>
                <a:latin typeface="Arial"/>
                <a:ea typeface="Arial"/>
                <a:cs typeface="Arial"/>
              </a:rPr>
              <a:t>65</a:t>
            </a:r>
          </a:p>
        </p:txBody>
      </p:sp>
      <p:sp>
        <p:nvSpPr>
          <p:cNvPr id="14" name="Rectangle: Rounded Corners 13">
            <a:extLst>
              <a:ext uri="{FF2B5EF4-FFF2-40B4-BE49-F238E27FC236}">
                <a16:creationId xmlns:a16="http://schemas.microsoft.com/office/drawing/2014/main" id="{1A80372F-C7C6-47A9-A335-35C79E6C8F3C}"/>
              </a:ext>
            </a:extLst>
          </p:cNvPr>
          <p:cNvSpPr>
            <a:spLocks noGrp="1"/>
          </p:cNvSpPr>
          <p:nvPr/>
        </p:nvSpPr>
        <p:spPr>
          <a:xfrm>
            <a:off x="5019675" y="2133600"/>
            <a:ext cx="733425" cy="685800"/>
          </a:xfrm>
          <a:prstGeom prst="roundRect">
            <a:avLst>
              <a:gd name="adj" fmla="val 11111"/>
            </a:avLst>
          </a:prstGeom>
          <a:solidFill>
            <a:srgbClr val="FFFFFF"/>
          </a:solidFill>
          <a:ln w="19050">
            <a:solidFill>
              <a:srgbClr val="16A4C7"/>
            </a:solidFill>
          </a:ln>
        </p:spPr>
        <p:txBody>
          <a:bodyPr/>
          <a:lstStyle/>
          <a:p>
            <a:endParaRPr lang="en-US"/>
          </a:p>
        </p:txBody>
      </p:sp>
      <p:sp>
        <p:nvSpPr>
          <p:cNvPr id="15" name="Rectangle 14">
            <a:extLst>
              <a:ext uri="{FF2B5EF4-FFF2-40B4-BE49-F238E27FC236}">
                <a16:creationId xmlns:a16="http://schemas.microsoft.com/office/drawing/2014/main" id="{D7D8D327-F619-46CE-9FFE-91317739B036}"/>
              </a:ext>
            </a:extLst>
          </p:cNvPr>
          <p:cNvSpPr>
            <a:spLocks noGrp="1"/>
          </p:cNvSpPr>
          <p:nvPr/>
        </p:nvSpPr>
        <p:spPr>
          <a:xfrm>
            <a:off x="5019675" y="2314575"/>
            <a:ext cx="733425" cy="266700"/>
          </a:xfrm>
          <a:prstGeom prst="rect">
            <a:avLst/>
          </a:prstGeom>
          <a:noFill/>
          <a:ln w="0">
            <a:noFill/>
          </a:ln>
        </p:spPr>
        <p:txBody>
          <a:bodyPr>
            <a:normAutofit fontScale="58974"/>
          </a:bodyPr>
          <a:lstStyle/>
          <a:p>
            <a:pPr>
              <a:defRPr sz="1950" b="1">
                <a:solidFill>
                  <a:srgbClr val="16A4C7"/>
                </a:solidFill>
                <a:latin typeface="Arial"/>
                <a:ea typeface="Arial"/>
                <a:cs typeface="Arial"/>
              </a:defRPr>
            </a:pPr>
            <a:r>
              <a:rPr sz="1950" b="1">
                <a:solidFill>
                  <a:srgbClr val="16A4C7"/>
                </a:solidFill>
                <a:latin typeface="Arial"/>
                <a:ea typeface="Arial"/>
                <a:cs typeface="Arial"/>
              </a:rPr>
              <a:t>88</a:t>
            </a:r>
          </a:p>
        </p:txBody>
      </p:sp>
      <p:sp>
        <p:nvSpPr>
          <p:cNvPr id="16" name="Rectangle: Rounded Corners 15">
            <a:extLst>
              <a:ext uri="{FF2B5EF4-FFF2-40B4-BE49-F238E27FC236}">
                <a16:creationId xmlns:a16="http://schemas.microsoft.com/office/drawing/2014/main" id="{658C94E2-E862-44A8-8B92-35CCF9B30193}"/>
              </a:ext>
            </a:extLst>
          </p:cNvPr>
          <p:cNvSpPr>
            <a:spLocks noGrp="1"/>
          </p:cNvSpPr>
          <p:nvPr/>
        </p:nvSpPr>
        <p:spPr>
          <a:xfrm>
            <a:off x="5867400" y="2133600"/>
            <a:ext cx="733425" cy="685800"/>
          </a:xfrm>
          <a:prstGeom prst="roundRect">
            <a:avLst>
              <a:gd name="adj" fmla="val 11111"/>
            </a:avLst>
          </a:prstGeom>
          <a:solidFill>
            <a:srgbClr val="FFFFFF"/>
          </a:solidFill>
          <a:ln w="19050">
            <a:solidFill>
              <a:srgbClr val="16A4C7"/>
            </a:solidFill>
          </a:ln>
        </p:spPr>
        <p:txBody>
          <a:bodyPr/>
          <a:lstStyle/>
          <a:p>
            <a:endParaRPr lang="en-US"/>
          </a:p>
        </p:txBody>
      </p:sp>
      <p:sp>
        <p:nvSpPr>
          <p:cNvPr id="17" name="Rectangle 16">
            <a:extLst>
              <a:ext uri="{FF2B5EF4-FFF2-40B4-BE49-F238E27FC236}">
                <a16:creationId xmlns:a16="http://schemas.microsoft.com/office/drawing/2014/main" id="{5C1C593B-34CA-403A-8EE9-4FA0265D3969}"/>
              </a:ext>
            </a:extLst>
          </p:cNvPr>
          <p:cNvSpPr>
            <a:spLocks noGrp="1"/>
          </p:cNvSpPr>
          <p:nvPr/>
        </p:nvSpPr>
        <p:spPr>
          <a:xfrm>
            <a:off x="5867400" y="2314575"/>
            <a:ext cx="733425" cy="266700"/>
          </a:xfrm>
          <a:prstGeom prst="rect">
            <a:avLst/>
          </a:prstGeom>
          <a:noFill/>
          <a:ln w="0">
            <a:noFill/>
          </a:ln>
        </p:spPr>
        <p:txBody>
          <a:bodyPr>
            <a:normAutofit fontScale="58974"/>
          </a:bodyPr>
          <a:lstStyle/>
          <a:p>
            <a:pPr>
              <a:defRPr sz="1950" b="1">
                <a:solidFill>
                  <a:srgbClr val="16A4C7"/>
                </a:solidFill>
                <a:latin typeface="Arial"/>
                <a:ea typeface="Arial"/>
                <a:cs typeface="Arial"/>
              </a:defRPr>
            </a:pPr>
            <a:r>
              <a:rPr sz="1950" b="1">
                <a:solidFill>
                  <a:srgbClr val="16A4C7"/>
                </a:solidFill>
                <a:latin typeface="Arial"/>
                <a:ea typeface="Arial"/>
                <a:cs typeface="Arial"/>
              </a:rPr>
              <a:t>84</a:t>
            </a:r>
          </a:p>
        </p:txBody>
      </p:sp>
      <p:sp>
        <p:nvSpPr>
          <p:cNvPr id="18" name="Rectangle: Rounded Corners 17">
            <a:extLst>
              <a:ext uri="{FF2B5EF4-FFF2-40B4-BE49-F238E27FC236}">
                <a16:creationId xmlns:a16="http://schemas.microsoft.com/office/drawing/2014/main" id="{BD1DA88C-E004-4846-8B0A-9B2C60509FC4}"/>
              </a:ext>
            </a:extLst>
          </p:cNvPr>
          <p:cNvSpPr>
            <a:spLocks noGrp="1"/>
          </p:cNvSpPr>
          <p:nvPr/>
        </p:nvSpPr>
        <p:spPr>
          <a:xfrm>
            <a:off x="6715125" y="2133600"/>
            <a:ext cx="733425" cy="685800"/>
          </a:xfrm>
          <a:prstGeom prst="roundRect">
            <a:avLst>
              <a:gd name="adj" fmla="val 11111"/>
            </a:avLst>
          </a:prstGeom>
          <a:solidFill>
            <a:srgbClr val="FFFFFF"/>
          </a:solidFill>
          <a:ln w="19050">
            <a:solidFill>
              <a:srgbClr val="16A4C7"/>
            </a:solidFill>
          </a:ln>
        </p:spPr>
        <p:txBody>
          <a:bodyPr/>
          <a:lstStyle/>
          <a:p>
            <a:endParaRPr lang="en-US"/>
          </a:p>
        </p:txBody>
      </p:sp>
      <p:sp>
        <p:nvSpPr>
          <p:cNvPr id="19" name="Rectangle 18">
            <a:extLst>
              <a:ext uri="{FF2B5EF4-FFF2-40B4-BE49-F238E27FC236}">
                <a16:creationId xmlns:a16="http://schemas.microsoft.com/office/drawing/2014/main" id="{F82721BC-4C40-4DD3-936D-AB248CAC09F1}"/>
              </a:ext>
            </a:extLst>
          </p:cNvPr>
          <p:cNvSpPr>
            <a:spLocks noGrp="1"/>
          </p:cNvSpPr>
          <p:nvPr/>
        </p:nvSpPr>
        <p:spPr>
          <a:xfrm>
            <a:off x="6715125" y="2314575"/>
            <a:ext cx="733425" cy="266700"/>
          </a:xfrm>
          <a:prstGeom prst="rect">
            <a:avLst/>
          </a:prstGeom>
          <a:noFill/>
          <a:ln w="0">
            <a:noFill/>
          </a:ln>
        </p:spPr>
        <p:txBody>
          <a:bodyPr>
            <a:normAutofit fontScale="58974"/>
          </a:bodyPr>
          <a:lstStyle/>
          <a:p>
            <a:pPr>
              <a:defRPr sz="1950" b="1">
                <a:solidFill>
                  <a:srgbClr val="16A4C7"/>
                </a:solidFill>
                <a:latin typeface="Arial"/>
                <a:ea typeface="Arial"/>
                <a:cs typeface="Arial"/>
              </a:defRPr>
            </a:pPr>
            <a:r>
              <a:rPr sz="1950" b="1">
                <a:solidFill>
                  <a:srgbClr val="16A4C7"/>
                </a:solidFill>
                <a:latin typeface="Arial"/>
                <a:ea typeface="Arial"/>
                <a:cs typeface="Arial"/>
              </a:rPr>
              <a:t>21</a:t>
            </a:r>
          </a:p>
        </p:txBody>
      </p:sp>
      <p:sp>
        <p:nvSpPr>
          <p:cNvPr id="20" name="Rectangle: Rounded Corners 19">
            <a:extLst>
              <a:ext uri="{FF2B5EF4-FFF2-40B4-BE49-F238E27FC236}">
                <a16:creationId xmlns:a16="http://schemas.microsoft.com/office/drawing/2014/main" id="{356D7E19-786C-45C7-B308-5C3A38067BA0}"/>
              </a:ext>
            </a:extLst>
          </p:cNvPr>
          <p:cNvSpPr>
            <a:spLocks noGrp="1"/>
          </p:cNvSpPr>
          <p:nvPr/>
        </p:nvSpPr>
        <p:spPr>
          <a:xfrm>
            <a:off x="7562850" y="2133600"/>
            <a:ext cx="733425" cy="685800"/>
          </a:xfrm>
          <a:prstGeom prst="roundRect">
            <a:avLst>
              <a:gd name="adj" fmla="val 11111"/>
            </a:avLst>
          </a:prstGeom>
          <a:solidFill>
            <a:srgbClr val="FFFFFF"/>
          </a:solidFill>
          <a:ln w="19050">
            <a:solidFill>
              <a:srgbClr val="25A36F"/>
            </a:solidFill>
          </a:ln>
        </p:spPr>
        <p:txBody>
          <a:bodyPr/>
          <a:lstStyle/>
          <a:p>
            <a:endParaRPr lang="en-US"/>
          </a:p>
        </p:txBody>
      </p:sp>
      <p:sp>
        <p:nvSpPr>
          <p:cNvPr id="21" name="Rectangle 20">
            <a:extLst>
              <a:ext uri="{FF2B5EF4-FFF2-40B4-BE49-F238E27FC236}">
                <a16:creationId xmlns:a16="http://schemas.microsoft.com/office/drawing/2014/main" id="{77FD4661-BB08-41DE-B43C-3C0AB19D1E65}"/>
              </a:ext>
            </a:extLst>
          </p:cNvPr>
          <p:cNvSpPr>
            <a:spLocks noGrp="1"/>
          </p:cNvSpPr>
          <p:nvPr/>
        </p:nvSpPr>
        <p:spPr>
          <a:xfrm>
            <a:off x="7562850" y="2314575"/>
            <a:ext cx="733425" cy="266700"/>
          </a:xfrm>
          <a:prstGeom prst="rect">
            <a:avLst/>
          </a:prstGeom>
          <a:noFill/>
          <a:ln w="0">
            <a:noFill/>
          </a:ln>
        </p:spPr>
        <p:txBody>
          <a:bodyPr>
            <a:normAutofit fontScale="58974"/>
          </a:bodyPr>
          <a:lstStyle/>
          <a:p>
            <a:pPr>
              <a:defRPr sz="1950" b="1">
                <a:solidFill>
                  <a:srgbClr val="25A36F"/>
                </a:solidFill>
                <a:latin typeface="Arial"/>
                <a:ea typeface="Arial"/>
                <a:cs typeface="Arial"/>
              </a:defRPr>
            </a:pPr>
            <a:r>
              <a:rPr sz="1950" b="1">
                <a:solidFill>
                  <a:srgbClr val="25A36F"/>
                </a:solidFill>
                <a:latin typeface="Arial"/>
                <a:ea typeface="Arial"/>
                <a:cs typeface="Arial"/>
              </a:rPr>
              <a:t>0A</a:t>
            </a:r>
          </a:p>
        </p:txBody>
      </p:sp>
      <p:sp>
        <p:nvSpPr>
          <p:cNvPr id="22" name="Rectangle: Rounded Corners 21">
            <a:extLst>
              <a:ext uri="{FF2B5EF4-FFF2-40B4-BE49-F238E27FC236}">
                <a16:creationId xmlns:a16="http://schemas.microsoft.com/office/drawing/2014/main" id="{CB32EB48-A6BB-4138-A4A8-45FB389963DD}"/>
              </a:ext>
            </a:extLst>
          </p:cNvPr>
          <p:cNvSpPr>
            <a:spLocks noGrp="1"/>
          </p:cNvSpPr>
          <p:nvPr/>
        </p:nvSpPr>
        <p:spPr>
          <a:xfrm>
            <a:off x="8410575" y="2133600"/>
            <a:ext cx="733425" cy="685800"/>
          </a:xfrm>
          <a:prstGeom prst="roundRect">
            <a:avLst>
              <a:gd name="adj" fmla="val 11111"/>
            </a:avLst>
          </a:prstGeom>
          <a:solidFill>
            <a:srgbClr val="FFFFFF"/>
          </a:solidFill>
          <a:ln w="19050">
            <a:solidFill>
              <a:srgbClr val="25A36F"/>
            </a:solidFill>
          </a:ln>
        </p:spPr>
        <p:txBody>
          <a:bodyPr/>
          <a:lstStyle/>
          <a:p>
            <a:endParaRPr lang="en-US"/>
          </a:p>
        </p:txBody>
      </p:sp>
      <p:sp>
        <p:nvSpPr>
          <p:cNvPr id="23" name="Rectangle 22">
            <a:extLst>
              <a:ext uri="{FF2B5EF4-FFF2-40B4-BE49-F238E27FC236}">
                <a16:creationId xmlns:a16="http://schemas.microsoft.com/office/drawing/2014/main" id="{FD1AFAB2-F9E6-4658-81F6-5DAD17662BED}"/>
              </a:ext>
            </a:extLst>
          </p:cNvPr>
          <p:cNvSpPr>
            <a:spLocks noGrp="1"/>
          </p:cNvSpPr>
          <p:nvPr/>
        </p:nvSpPr>
        <p:spPr>
          <a:xfrm>
            <a:off x="8410575" y="2314575"/>
            <a:ext cx="733425" cy="266700"/>
          </a:xfrm>
          <a:prstGeom prst="rect">
            <a:avLst/>
          </a:prstGeom>
          <a:noFill/>
          <a:ln w="0">
            <a:noFill/>
          </a:ln>
        </p:spPr>
        <p:txBody>
          <a:bodyPr>
            <a:normAutofit fontScale="58974"/>
          </a:bodyPr>
          <a:lstStyle/>
          <a:p>
            <a:pPr>
              <a:defRPr sz="1950" b="1">
                <a:solidFill>
                  <a:srgbClr val="25A36F"/>
                </a:solidFill>
                <a:latin typeface="Arial"/>
                <a:ea typeface="Arial"/>
                <a:cs typeface="Arial"/>
              </a:defRPr>
            </a:pPr>
            <a:r>
              <a:rPr sz="1950" b="1">
                <a:solidFill>
                  <a:srgbClr val="25A36F"/>
                </a:solidFill>
                <a:latin typeface="Arial"/>
                <a:ea typeface="Arial"/>
                <a:cs typeface="Arial"/>
              </a:rPr>
              <a:t>F0</a:t>
            </a:r>
          </a:p>
        </p:txBody>
      </p:sp>
      <p:sp>
        <p:nvSpPr>
          <p:cNvPr id="24" name="Rectangle: Rounded Corners 23">
            <a:extLst>
              <a:ext uri="{FF2B5EF4-FFF2-40B4-BE49-F238E27FC236}">
                <a16:creationId xmlns:a16="http://schemas.microsoft.com/office/drawing/2014/main" id="{FE209A79-EE8A-4612-80A2-83D70DAC8226}"/>
              </a:ext>
            </a:extLst>
          </p:cNvPr>
          <p:cNvSpPr>
            <a:spLocks noGrp="1"/>
          </p:cNvSpPr>
          <p:nvPr/>
        </p:nvSpPr>
        <p:spPr>
          <a:xfrm>
            <a:off x="9258300" y="2133600"/>
            <a:ext cx="733425" cy="685800"/>
          </a:xfrm>
          <a:prstGeom prst="roundRect">
            <a:avLst>
              <a:gd name="adj" fmla="val 11111"/>
            </a:avLst>
          </a:prstGeom>
          <a:solidFill>
            <a:srgbClr val="FFFFFF"/>
          </a:solidFill>
          <a:ln w="19050">
            <a:solidFill>
              <a:srgbClr val="25A36F"/>
            </a:solidFill>
          </a:ln>
        </p:spPr>
        <p:txBody>
          <a:bodyPr/>
          <a:lstStyle/>
          <a:p>
            <a:endParaRPr lang="en-US"/>
          </a:p>
        </p:txBody>
      </p:sp>
      <p:sp>
        <p:nvSpPr>
          <p:cNvPr id="25" name="Rectangle 24">
            <a:extLst>
              <a:ext uri="{FF2B5EF4-FFF2-40B4-BE49-F238E27FC236}">
                <a16:creationId xmlns:a16="http://schemas.microsoft.com/office/drawing/2014/main" id="{62C61184-232E-4F0F-97FD-4466C340E82D}"/>
              </a:ext>
            </a:extLst>
          </p:cNvPr>
          <p:cNvSpPr>
            <a:spLocks noGrp="1"/>
          </p:cNvSpPr>
          <p:nvPr/>
        </p:nvSpPr>
        <p:spPr>
          <a:xfrm>
            <a:off x="9258300" y="2314575"/>
            <a:ext cx="733425" cy="266700"/>
          </a:xfrm>
          <a:prstGeom prst="rect">
            <a:avLst/>
          </a:prstGeom>
          <a:noFill/>
          <a:ln w="0">
            <a:noFill/>
          </a:ln>
        </p:spPr>
        <p:txBody>
          <a:bodyPr>
            <a:normAutofit fontScale="58974"/>
          </a:bodyPr>
          <a:lstStyle/>
          <a:p>
            <a:pPr>
              <a:defRPr sz="1950" b="1">
                <a:solidFill>
                  <a:srgbClr val="25A36F"/>
                </a:solidFill>
                <a:latin typeface="Arial"/>
                <a:ea typeface="Arial"/>
                <a:cs typeface="Arial"/>
              </a:defRPr>
            </a:pPr>
            <a:r>
              <a:rPr sz="1950" b="1">
                <a:solidFill>
                  <a:srgbClr val="25A36F"/>
                </a:solidFill>
                <a:latin typeface="Arial"/>
                <a:ea typeface="Arial"/>
                <a:cs typeface="Arial"/>
              </a:rPr>
              <a:t>00</a:t>
            </a:r>
          </a:p>
        </p:txBody>
      </p:sp>
      <p:sp>
        <p:nvSpPr>
          <p:cNvPr id="26" name="Rectangle: Rounded Corners 25">
            <a:extLst>
              <a:ext uri="{FF2B5EF4-FFF2-40B4-BE49-F238E27FC236}">
                <a16:creationId xmlns:a16="http://schemas.microsoft.com/office/drawing/2014/main" id="{0C31822C-C3CF-4D55-A0D8-A1C7BFCE9FBB}"/>
              </a:ext>
            </a:extLst>
          </p:cNvPr>
          <p:cNvSpPr>
            <a:spLocks noGrp="1"/>
          </p:cNvSpPr>
          <p:nvPr/>
        </p:nvSpPr>
        <p:spPr>
          <a:xfrm>
            <a:off x="10106025" y="2133600"/>
            <a:ext cx="733425" cy="685800"/>
          </a:xfrm>
          <a:prstGeom prst="roundRect">
            <a:avLst>
              <a:gd name="adj" fmla="val 11111"/>
            </a:avLst>
          </a:prstGeom>
          <a:solidFill>
            <a:srgbClr val="FFFFFF"/>
          </a:solidFill>
          <a:ln w="19050">
            <a:solidFill>
              <a:srgbClr val="25A36F"/>
            </a:solidFill>
          </a:ln>
        </p:spPr>
        <p:txBody>
          <a:bodyPr/>
          <a:lstStyle/>
          <a:p>
            <a:endParaRPr lang="en-US"/>
          </a:p>
        </p:txBody>
      </p:sp>
      <p:sp>
        <p:nvSpPr>
          <p:cNvPr id="27" name="Rectangle 26">
            <a:extLst>
              <a:ext uri="{FF2B5EF4-FFF2-40B4-BE49-F238E27FC236}">
                <a16:creationId xmlns:a16="http://schemas.microsoft.com/office/drawing/2014/main" id="{15F1E1A9-0116-4D43-BB4A-D73C728D5BDC}"/>
              </a:ext>
            </a:extLst>
          </p:cNvPr>
          <p:cNvSpPr>
            <a:spLocks noGrp="1"/>
          </p:cNvSpPr>
          <p:nvPr/>
        </p:nvSpPr>
        <p:spPr>
          <a:xfrm>
            <a:off x="10106025" y="2314575"/>
            <a:ext cx="733425" cy="266700"/>
          </a:xfrm>
          <a:prstGeom prst="rect">
            <a:avLst/>
          </a:prstGeom>
          <a:noFill/>
          <a:ln w="0">
            <a:noFill/>
          </a:ln>
        </p:spPr>
        <p:txBody>
          <a:bodyPr>
            <a:normAutofit fontScale="58974"/>
          </a:bodyPr>
          <a:lstStyle/>
          <a:p>
            <a:pPr>
              <a:defRPr sz="1950" b="1">
                <a:solidFill>
                  <a:srgbClr val="25A36F"/>
                </a:solidFill>
                <a:latin typeface="Arial"/>
                <a:ea typeface="Arial"/>
                <a:cs typeface="Arial"/>
              </a:defRPr>
            </a:pPr>
            <a:r>
              <a:rPr sz="1950" b="1">
                <a:solidFill>
                  <a:srgbClr val="25A36F"/>
                </a:solidFill>
                <a:latin typeface="Arial"/>
                <a:ea typeface="Arial"/>
                <a:cs typeface="Arial"/>
              </a:rPr>
              <a:t>…</a:t>
            </a:r>
          </a:p>
        </p:txBody>
      </p:sp>
      <p:sp>
        <p:nvSpPr>
          <p:cNvPr id="28" name="Straight Connector 27">
            <a:extLst>
              <a:ext uri="{FF2B5EF4-FFF2-40B4-BE49-F238E27FC236}">
                <a16:creationId xmlns:a16="http://schemas.microsoft.com/office/drawing/2014/main" id="{5724680F-DAD5-4A26-87FE-BBEAB34E014F}"/>
              </a:ext>
            </a:extLst>
          </p:cNvPr>
          <p:cNvSpPr>
            <a:spLocks noGrp="1"/>
          </p:cNvSpPr>
          <p:nvPr/>
        </p:nvSpPr>
        <p:spPr>
          <a:xfrm>
            <a:off x="781050" y="3048000"/>
            <a:ext cx="3276600" cy="0"/>
          </a:xfrm>
          <a:prstGeom prst="line">
            <a:avLst/>
          </a:prstGeom>
          <a:noFill/>
          <a:ln w="19050">
            <a:solidFill>
              <a:srgbClr val="2667D8"/>
            </a:solidFill>
          </a:ln>
        </p:spPr>
        <p:txBody>
          <a:bodyPr/>
          <a:lstStyle/>
          <a:p>
            <a:endParaRPr lang="en-US"/>
          </a:p>
        </p:txBody>
      </p:sp>
      <p:sp>
        <p:nvSpPr>
          <p:cNvPr id="29" name="Straight Connector 28">
            <a:extLst>
              <a:ext uri="{FF2B5EF4-FFF2-40B4-BE49-F238E27FC236}">
                <a16:creationId xmlns:a16="http://schemas.microsoft.com/office/drawing/2014/main" id="{E33F7FCC-74CB-4D2C-B674-8B714B38EB2A}"/>
              </a:ext>
            </a:extLst>
          </p:cNvPr>
          <p:cNvSpPr>
            <a:spLocks noGrp="1"/>
          </p:cNvSpPr>
          <p:nvPr/>
        </p:nvSpPr>
        <p:spPr>
          <a:xfrm>
            <a:off x="4057650" y="3048000"/>
            <a:ext cx="5076825" cy="0"/>
          </a:xfrm>
          <a:prstGeom prst="line">
            <a:avLst/>
          </a:prstGeom>
          <a:noFill/>
          <a:ln w="19050">
            <a:solidFill>
              <a:srgbClr val="F2994A"/>
            </a:solidFill>
          </a:ln>
        </p:spPr>
        <p:txBody>
          <a:bodyPr/>
          <a:lstStyle/>
          <a:p>
            <a:endParaRPr lang="en-US"/>
          </a:p>
        </p:txBody>
      </p:sp>
      <p:sp>
        <p:nvSpPr>
          <p:cNvPr id="30" name="Straight Connector 29">
            <a:extLst>
              <a:ext uri="{FF2B5EF4-FFF2-40B4-BE49-F238E27FC236}">
                <a16:creationId xmlns:a16="http://schemas.microsoft.com/office/drawing/2014/main" id="{A64DBE80-CD3C-4BE1-81D0-C3D51152B9FB}"/>
              </a:ext>
            </a:extLst>
          </p:cNvPr>
          <p:cNvSpPr>
            <a:spLocks noGrp="1"/>
          </p:cNvSpPr>
          <p:nvPr/>
        </p:nvSpPr>
        <p:spPr>
          <a:xfrm>
            <a:off x="5019676" y="3048000"/>
            <a:ext cx="6481026" cy="0"/>
          </a:xfrm>
          <a:prstGeom prst="line">
            <a:avLst/>
          </a:prstGeom>
          <a:noFill/>
          <a:ln w="19050">
            <a:solidFill>
              <a:srgbClr val="16A4C7"/>
            </a:solidFill>
          </a:ln>
        </p:spPr>
        <p:txBody>
          <a:bodyPr/>
          <a:lstStyle/>
          <a:p>
            <a:endParaRPr lang="en-US"/>
          </a:p>
        </p:txBody>
      </p:sp>
      <p:sp>
        <p:nvSpPr>
          <p:cNvPr id="31" name="Straight Connector 30">
            <a:extLst>
              <a:ext uri="{FF2B5EF4-FFF2-40B4-BE49-F238E27FC236}">
                <a16:creationId xmlns:a16="http://schemas.microsoft.com/office/drawing/2014/main" id="{79840FAD-9249-47A7-99E9-5107253B4664}"/>
              </a:ext>
            </a:extLst>
          </p:cNvPr>
          <p:cNvSpPr>
            <a:spLocks noGrp="1"/>
          </p:cNvSpPr>
          <p:nvPr/>
        </p:nvSpPr>
        <p:spPr>
          <a:xfrm>
            <a:off x="7562850" y="3048000"/>
            <a:ext cx="3937851" cy="0"/>
          </a:xfrm>
          <a:prstGeom prst="line">
            <a:avLst/>
          </a:prstGeom>
          <a:noFill/>
          <a:ln w="19050">
            <a:solidFill>
              <a:srgbClr val="25A36F"/>
            </a:solidFill>
          </a:ln>
        </p:spPr>
        <p:txBody>
          <a:bodyPr/>
          <a:lstStyle/>
          <a:p>
            <a:endParaRPr lang="en-US"/>
          </a:p>
        </p:txBody>
      </p:sp>
      <p:sp>
        <p:nvSpPr>
          <p:cNvPr id="32" name="Rectangle 31">
            <a:extLst>
              <a:ext uri="{FF2B5EF4-FFF2-40B4-BE49-F238E27FC236}">
                <a16:creationId xmlns:a16="http://schemas.microsoft.com/office/drawing/2014/main" id="{E59319DC-6CBA-49D2-9EEE-28F736A2A7F3}"/>
              </a:ext>
            </a:extLst>
          </p:cNvPr>
          <p:cNvSpPr>
            <a:spLocks noGrp="1"/>
          </p:cNvSpPr>
          <p:nvPr/>
        </p:nvSpPr>
        <p:spPr>
          <a:xfrm>
            <a:off x="781050" y="3257550"/>
            <a:ext cx="2495550" cy="228600"/>
          </a:xfrm>
          <a:prstGeom prst="rect">
            <a:avLst/>
          </a:prstGeom>
          <a:noFill/>
          <a:ln w="0">
            <a:noFill/>
          </a:ln>
        </p:spPr>
        <p:txBody>
          <a:bodyPr>
            <a:normAutofit fontScale="60000"/>
          </a:bodyPr>
          <a:lstStyle/>
          <a:p>
            <a:pPr>
              <a:defRPr sz="1500" b="1">
                <a:solidFill>
                  <a:srgbClr val="2667D8"/>
                </a:solidFill>
                <a:latin typeface="Arial"/>
                <a:ea typeface="Arial"/>
                <a:cs typeface="Arial"/>
              </a:defRPr>
            </a:pPr>
            <a:r>
              <a:rPr sz="1500" b="1">
                <a:solidFill>
                  <a:srgbClr val="2667D8"/>
                </a:solidFill>
                <a:latin typeface="Arial"/>
                <a:ea typeface="Arial"/>
                <a:cs typeface="Arial"/>
              </a:rPr>
              <a:t>1. Start code</a:t>
            </a:r>
          </a:p>
        </p:txBody>
      </p:sp>
      <p:sp>
        <p:nvSpPr>
          <p:cNvPr id="33" name="Rectangle 32">
            <a:extLst>
              <a:ext uri="{FF2B5EF4-FFF2-40B4-BE49-F238E27FC236}">
                <a16:creationId xmlns:a16="http://schemas.microsoft.com/office/drawing/2014/main" id="{D413A6B4-1ABD-42CE-8313-0B8D33ED4991}"/>
              </a:ext>
            </a:extLst>
          </p:cNvPr>
          <p:cNvSpPr>
            <a:spLocks noGrp="1"/>
          </p:cNvSpPr>
          <p:nvPr/>
        </p:nvSpPr>
        <p:spPr>
          <a:xfrm>
            <a:off x="781050" y="3552825"/>
            <a:ext cx="2495550" cy="438150"/>
          </a:xfrm>
          <a:prstGeom prst="rect">
            <a:avLst/>
          </a:prstGeom>
          <a:noFill/>
          <a:ln w="0">
            <a:noFill/>
          </a:ln>
        </p:spPr>
        <p:txBody>
          <a:bodyPr>
            <a:normAutofit fontScale="84259"/>
          </a:bodyPr>
          <a:lstStyle/>
          <a:p>
            <a:pPr>
              <a:defRPr sz="1350">
                <a:solidFill>
                  <a:srgbClr val="5A6780"/>
                </a:solidFill>
                <a:latin typeface="Arial"/>
                <a:ea typeface="Arial"/>
                <a:cs typeface="Arial"/>
              </a:defRPr>
            </a:pPr>
            <a:r>
              <a:rPr sz="1350">
                <a:solidFill>
                  <a:srgbClr val="5A6780"/>
                </a:solidFill>
                <a:latin typeface="Arial"/>
                <a:ea typeface="Arial"/>
                <a:cs typeface="Arial"/>
              </a:rPr>
              <a:t>00 00 00 01</a:t>
            </a:r>
          </a:p>
          <a:p>
            <a:pPr>
              <a:defRPr sz="1350">
                <a:solidFill>
                  <a:srgbClr val="5A6780"/>
                </a:solidFill>
                <a:latin typeface="Arial"/>
                <a:ea typeface="Arial"/>
                <a:cs typeface="Arial"/>
              </a:defRPr>
            </a:pPr>
            <a:r>
              <a:rPr sz="1350">
                <a:solidFill>
                  <a:srgbClr val="5A6780"/>
                </a:solidFill>
                <a:latin typeface="Arial"/>
                <a:ea typeface="Arial"/>
                <a:cs typeface="Arial"/>
              </a:rPr>
              <a:t>Mốc bắt đầu NAL</a:t>
            </a:r>
          </a:p>
        </p:txBody>
      </p:sp>
      <p:sp>
        <p:nvSpPr>
          <p:cNvPr id="34" name="Rectangle 33">
            <a:extLst>
              <a:ext uri="{FF2B5EF4-FFF2-40B4-BE49-F238E27FC236}">
                <a16:creationId xmlns:a16="http://schemas.microsoft.com/office/drawing/2014/main" id="{25F7B36A-C459-46B7-869F-147FE6B1854A}"/>
              </a:ext>
            </a:extLst>
          </p:cNvPr>
          <p:cNvSpPr>
            <a:spLocks noGrp="1"/>
          </p:cNvSpPr>
          <p:nvPr/>
        </p:nvSpPr>
        <p:spPr>
          <a:xfrm>
            <a:off x="3619500" y="3257550"/>
            <a:ext cx="1685925" cy="228600"/>
          </a:xfrm>
          <a:prstGeom prst="rect">
            <a:avLst/>
          </a:prstGeom>
          <a:noFill/>
          <a:ln w="0">
            <a:noFill/>
          </a:ln>
        </p:spPr>
        <p:txBody>
          <a:bodyPr>
            <a:normAutofit fontScale="60000"/>
          </a:bodyPr>
          <a:lstStyle/>
          <a:p>
            <a:pPr>
              <a:defRPr sz="1500" b="1">
                <a:solidFill>
                  <a:srgbClr val="F2994A"/>
                </a:solidFill>
                <a:latin typeface="Arial"/>
                <a:ea typeface="Arial"/>
                <a:cs typeface="Arial"/>
              </a:defRPr>
            </a:pPr>
            <a:r>
              <a:rPr sz="1500" b="1">
                <a:solidFill>
                  <a:srgbClr val="F2994A"/>
                </a:solidFill>
                <a:latin typeface="Arial"/>
                <a:ea typeface="Arial"/>
                <a:cs typeface="Arial"/>
              </a:rPr>
              <a:t>2. NAL header</a:t>
            </a:r>
          </a:p>
        </p:txBody>
      </p:sp>
      <p:sp>
        <p:nvSpPr>
          <p:cNvPr id="35" name="Rectangle 34">
            <a:extLst>
              <a:ext uri="{FF2B5EF4-FFF2-40B4-BE49-F238E27FC236}">
                <a16:creationId xmlns:a16="http://schemas.microsoft.com/office/drawing/2014/main" id="{49B1D12B-A8A3-49CC-9705-89FCC22D1175}"/>
              </a:ext>
            </a:extLst>
          </p:cNvPr>
          <p:cNvSpPr>
            <a:spLocks noGrp="1"/>
          </p:cNvSpPr>
          <p:nvPr/>
        </p:nvSpPr>
        <p:spPr>
          <a:xfrm>
            <a:off x="3619500" y="3552825"/>
            <a:ext cx="1685925" cy="438150"/>
          </a:xfrm>
          <a:prstGeom prst="rect">
            <a:avLst/>
          </a:prstGeom>
          <a:noFill/>
          <a:ln w="0">
            <a:noFill/>
          </a:ln>
        </p:spPr>
        <p:txBody>
          <a:bodyPr>
            <a:normAutofit/>
          </a:bodyPr>
          <a:lstStyle/>
          <a:p>
            <a:pPr>
              <a:defRPr sz="1350">
                <a:solidFill>
                  <a:srgbClr val="5A6780"/>
                </a:solidFill>
                <a:latin typeface="Arial"/>
                <a:ea typeface="Arial"/>
                <a:cs typeface="Arial"/>
              </a:defRPr>
            </a:pPr>
            <a:r>
              <a:rPr sz="1350">
                <a:solidFill>
                  <a:srgbClr val="5A6780"/>
                </a:solidFill>
                <a:latin typeface="Arial"/>
                <a:ea typeface="Arial"/>
                <a:cs typeface="Arial"/>
              </a:rPr>
              <a:t>65 = IDR slice</a:t>
            </a:r>
          </a:p>
        </p:txBody>
      </p:sp>
      <p:sp>
        <p:nvSpPr>
          <p:cNvPr id="36" name="Rectangle 35">
            <a:extLst>
              <a:ext uri="{FF2B5EF4-FFF2-40B4-BE49-F238E27FC236}">
                <a16:creationId xmlns:a16="http://schemas.microsoft.com/office/drawing/2014/main" id="{FC003DB8-0100-482F-9DE1-0E7B305C6E7E}"/>
              </a:ext>
            </a:extLst>
          </p:cNvPr>
          <p:cNvSpPr>
            <a:spLocks noGrp="1"/>
          </p:cNvSpPr>
          <p:nvPr/>
        </p:nvSpPr>
        <p:spPr>
          <a:xfrm>
            <a:off x="5543550" y="3257550"/>
            <a:ext cx="2057400" cy="228600"/>
          </a:xfrm>
          <a:prstGeom prst="rect">
            <a:avLst/>
          </a:prstGeom>
          <a:noFill/>
          <a:ln w="0">
            <a:noFill/>
          </a:ln>
        </p:spPr>
        <p:txBody>
          <a:bodyPr>
            <a:normAutofit fontScale="60000"/>
          </a:bodyPr>
          <a:lstStyle/>
          <a:p>
            <a:pPr>
              <a:defRPr sz="1500" b="1">
                <a:solidFill>
                  <a:srgbClr val="16A4C7"/>
                </a:solidFill>
                <a:latin typeface="Arial"/>
                <a:ea typeface="Arial"/>
                <a:cs typeface="Arial"/>
              </a:defRPr>
            </a:pPr>
            <a:r>
              <a:rPr sz="1500" b="1">
                <a:solidFill>
                  <a:srgbClr val="16A4C7"/>
                </a:solidFill>
                <a:latin typeface="Arial"/>
                <a:ea typeface="Arial"/>
                <a:cs typeface="Arial"/>
              </a:rPr>
              <a:t>3. Slice header</a:t>
            </a:r>
          </a:p>
        </p:txBody>
      </p:sp>
      <p:sp>
        <p:nvSpPr>
          <p:cNvPr id="37" name="Rectangle 36">
            <a:extLst>
              <a:ext uri="{FF2B5EF4-FFF2-40B4-BE49-F238E27FC236}">
                <a16:creationId xmlns:a16="http://schemas.microsoft.com/office/drawing/2014/main" id="{3C87686A-0231-4A14-9305-F299D94F8936}"/>
              </a:ext>
            </a:extLst>
          </p:cNvPr>
          <p:cNvSpPr>
            <a:spLocks noGrp="1"/>
          </p:cNvSpPr>
          <p:nvPr/>
        </p:nvSpPr>
        <p:spPr>
          <a:xfrm>
            <a:off x="5543550" y="3552825"/>
            <a:ext cx="2057400" cy="438150"/>
          </a:xfrm>
          <a:prstGeom prst="rect">
            <a:avLst/>
          </a:prstGeom>
          <a:noFill/>
          <a:ln w="0">
            <a:noFill/>
          </a:ln>
        </p:spPr>
        <p:txBody>
          <a:bodyPr>
            <a:normAutofit/>
          </a:bodyPr>
          <a:lstStyle/>
          <a:p>
            <a:pPr>
              <a:defRPr sz="1350">
                <a:solidFill>
                  <a:srgbClr val="5A6780"/>
                </a:solidFill>
                <a:latin typeface="Arial"/>
                <a:ea typeface="Arial"/>
                <a:cs typeface="Arial"/>
              </a:defRPr>
            </a:pPr>
            <a:r>
              <a:rPr sz="1350">
                <a:solidFill>
                  <a:srgbClr val="5A6780"/>
                </a:solidFill>
                <a:latin typeface="Arial"/>
                <a:ea typeface="Arial"/>
                <a:cs typeface="Arial"/>
              </a:rPr>
              <a:t>Tham số để đọc slice</a:t>
            </a:r>
          </a:p>
        </p:txBody>
      </p:sp>
      <p:sp>
        <p:nvSpPr>
          <p:cNvPr id="38" name="Rectangle 37">
            <a:extLst>
              <a:ext uri="{FF2B5EF4-FFF2-40B4-BE49-F238E27FC236}">
                <a16:creationId xmlns:a16="http://schemas.microsoft.com/office/drawing/2014/main" id="{90BE1CD1-440C-471E-9089-2BFA3543E52D}"/>
              </a:ext>
            </a:extLst>
          </p:cNvPr>
          <p:cNvSpPr>
            <a:spLocks noGrp="1"/>
          </p:cNvSpPr>
          <p:nvPr/>
        </p:nvSpPr>
        <p:spPr>
          <a:xfrm>
            <a:off x="7915275" y="3257550"/>
            <a:ext cx="2828925" cy="228600"/>
          </a:xfrm>
          <a:prstGeom prst="rect">
            <a:avLst/>
          </a:prstGeom>
          <a:noFill/>
          <a:ln w="0">
            <a:noFill/>
          </a:ln>
        </p:spPr>
        <p:txBody>
          <a:bodyPr>
            <a:normAutofit fontScale="60000"/>
          </a:bodyPr>
          <a:lstStyle/>
          <a:p>
            <a:pPr>
              <a:defRPr sz="1500" b="1">
                <a:solidFill>
                  <a:srgbClr val="25A36F"/>
                </a:solidFill>
                <a:latin typeface="Arial"/>
                <a:ea typeface="Arial"/>
                <a:cs typeface="Arial"/>
              </a:defRPr>
            </a:pPr>
            <a:r>
              <a:rPr sz="1500" b="1">
                <a:solidFill>
                  <a:srgbClr val="25A36F"/>
                </a:solidFill>
                <a:latin typeface="Arial"/>
                <a:ea typeface="Arial"/>
                <a:cs typeface="Arial"/>
              </a:rPr>
              <a:t>4. Slice data</a:t>
            </a:r>
          </a:p>
        </p:txBody>
      </p:sp>
      <p:sp>
        <p:nvSpPr>
          <p:cNvPr id="39" name="Rectangle 38">
            <a:extLst>
              <a:ext uri="{FF2B5EF4-FFF2-40B4-BE49-F238E27FC236}">
                <a16:creationId xmlns:a16="http://schemas.microsoft.com/office/drawing/2014/main" id="{24EE66FA-C5C5-4CFB-BE13-16B204A41821}"/>
              </a:ext>
            </a:extLst>
          </p:cNvPr>
          <p:cNvSpPr>
            <a:spLocks noGrp="1"/>
          </p:cNvSpPr>
          <p:nvPr/>
        </p:nvSpPr>
        <p:spPr>
          <a:xfrm>
            <a:off x="7915275" y="3552825"/>
            <a:ext cx="2828925" cy="438150"/>
          </a:xfrm>
          <a:prstGeom prst="rect">
            <a:avLst/>
          </a:prstGeom>
          <a:noFill/>
          <a:ln w="0">
            <a:noFill/>
          </a:ln>
        </p:spPr>
        <p:txBody>
          <a:bodyPr>
            <a:normAutofit fontScale="84259"/>
          </a:bodyPr>
          <a:lstStyle/>
          <a:p>
            <a:pPr>
              <a:defRPr sz="1350">
                <a:solidFill>
                  <a:srgbClr val="5A6780"/>
                </a:solidFill>
                <a:latin typeface="Arial"/>
                <a:ea typeface="Arial"/>
                <a:cs typeface="Arial"/>
              </a:defRPr>
            </a:pPr>
            <a:r>
              <a:rPr sz="1350">
                <a:solidFill>
                  <a:srgbClr val="5A6780"/>
                </a:solidFill>
                <a:latin typeface="Arial"/>
                <a:ea typeface="Arial"/>
                <a:cs typeface="Arial"/>
              </a:rPr>
              <a:t>Dữ liệu residual/CAVLC</a:t>
            </a:r>
          </a:p>
          <a:p>
            <a:pPr>
              <a:defRPr sz="1350">
                <a:solidFill>
                  <a:srgbClr val="5A6780"/>
                </a:solidFill>
                <a:latin typeface="Arial"/>
                <a:ea typeface="Arial"/>
                <a:cs typeface="Arial"/>
              </a:defRPr>
            </a:pPr>
            <a:r>
              <a:rPr sz="1350">
                <a:solidFill>
                  <a:srgbClr val="5A6780"/>
                </a:solidFill>
                <a:latin typeface="Arial"/>
                <a:ea typeface="Arial"/>
                <a:cs typeface="Arial"/>
              </a:rPr>
              <a:t>ở sâu bên trong</a:t>
            </a:r>
          </a:p>
        </p:txBody>
      </p:sp>
      <p:sp>
        <p:nvSpPr>
          <p:cNvPr id="40" name="Rectangle 39">
            <a:extLst>
              <a:ext uri="{FF2B5EF4-FFF2-40B4-BE49-F238E27FC236}">
                <a16:creationId xmlns:a16="http://schemas.microsoft.com/office/drawing/2014/main" id="{684E391D-E65A-4924-AE07-C4E969838587}"/>
              </a:ext>
            </a:extLst>
          </p:cNvPr>
          <p:cNvSpPr>
            <a:spLocks noGrp="1"/>
          </p:cNvSpPr>
          <p:nvPr/>
        </p:nvSpPr>
        <p:spPr>
          <a:xfrm>
            <a:off x="1428750" y="4238625"/>
            <a:ext cx="93345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5 — Dải byte chỉ là ví dụ minh họa. Start code và header có vị trí xác định; nội dung slice khác theo từng video.</a:t>
            </a:r>
          </a:p>
        </p:txBody>
      </p:sp>
      <p:sp>
        <p:nvSpPr>
          <p:cNvPr id="41" name="Rectangle: Rounded Corners 40">
            <a:extLst>
              <a:ext uri="{FF2B5EF4-FFF2-40B4-BE49-F238E27FC236}">
                <a16:creationId xmlns:a16="http://schemas.microsoft.com/office/drawing/2014/main" id="{8C4F01DB-F2F0-4943-B419-033BD33C1C92}"/>
              </a:ext>
            </a:extLst>
          </p:cNvPr>
          <p:cNvSpPr>
            <a:spLocks noGrp="1"/>
          </p:cNvSpPr>
          <p:nvPr/>
        </p:nvSpPr>
        <p:spPr>
          <a:xfrm>
            <a:off x="1428750" y="4695825"/>
            <a:ext cx="9334500" cy="828675"/>
          </a:xfrm>
          <a:prstGeom prst="roundRect">
            <a:avLst>
              <a:gd name="adj" fmla="val 9195"/>
            </a:avLst>
          </a:prstGeom>
          <a:solidFill>
            <a:srgbClr val="FFF5E9"/>
          </a:solidFill>
          <a:ln w="9525">
            <a:solidFill>
              <a:srgbClr val="F7D2A5"/>
            </a:solidFill>
          </a:ln>
        </p:spPr>
        <p:txBody>
          <a:bodyPr/>
          <a:lstStyle/>
          <a:p>
            <a:endParaRPr lang="en-US"/>
          </a:p>
        </p:txBody>
      </p:sp>
      <p:sp>
        <p:nvSpPr>
          <p:cNvPr id="42" name="Rectangle 41">
            <a:extLst>
              <a:ext uri="{FF2B5EF4-FFF2-40B4-BE49-F238E27FC236}">
                <a16:creationId xmlns:a16="http://schemas.microsoft.com/office/drawing/2014/main" id="{F5AD0ABE-AA9A-4350-8928-44A04F2689C1}"/>
              </a:ext>
            </a:extLst>
          </p:cNvPr>
          <p:cNvSpPr>
            <a:spLocks noGrp="1"/>
          </p:cNvSpPr>
          <p:nvPr/>
        </p:nvSpPr>
        <p:spPr>
          <a:xfrm>
            <a:off x="1781175" y="4895850"/>
            <a:ext cx="8629650" cy="419100"/>
          </a:xfrm>
          <a:prstGeom prst="rect">
            <a:avLst/>
          </a:prstGeom>
          <a:noFill/>
          <a:ln w="0">
            <a:noFill/>
          </a:ln>
        </p:spPr>
        <p:txBody>
          <a:bodyPr>
            <a:normAutofit fontScale="71667"/>
          </a:bodyPr>
          <a:lstStyle/>
          <a:p>
            <a:pPr>
              <a:defRPr sz="1500" b="1">
                <a:solidFill>
                  <a:srgbClr val="875019"/>
                </a:solidFill>
                <a:latin typeface="Arial"/>
                <a:ea typeface="Arial"/>
                <a:cs typeface="Arial"/>
              </a:defRPr>
            </a:pPr>
            <a:r>
              <a:rPr sz="1500" b="1">
                <a:solidFill>
                  <a:srgbClr val="875019"/>
                </a:solidFill>
                <a:latin typeface="Arial"/>
                <a:ea typeface="Arial"/>
                <a:cs typeface="Arial"/>
              </a:rPr>
              <a:t>Native chỉ đi tiếp khi NAL là IDR slice thuộc nhánh CAVLC hỗ trợ. Header không phải vị trí nhúng; parser đi sâu vào residual để liệt kê dấu T1 ứng viên.</a:t>
            </a:r>
          </a:p>
        </p:txBody>
      </p:sp>
      <p:sp>
        <p:nvSpPr>
          <p:cNvPr id="43" name="Rectangle 42">
            <a:extLst>
              <a:ext uri="{FF2B5EF4-FFF2-40B4-BE49-F238E27FC236}">
                <a16:creationId xmlns:a16="http://schemas.microsoft.com/office/drawing/2014/main" id="{417208CD-F9CA-4486-BDF9-A12259A5CE0D}"/>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44" name="Rectangle 43">
            <a:extLst>
              <a:ext uri="{FF2B5EF4-FFF2-40B4-BE49-F238E27FC236}">
                <a16:creationId xmlns:a16="http://schemas.microsoft.com/office/drawing/2014/main" id="{7A1B7C1F-C491-4B1D-9058-B873A09FDB6A}"/>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05</a:t>
            </a:r>
          </a:p>
        </p:txBody>
      </p:sp>
    </p:spTree>
    <p:extLst>
      <p:ext uri="{BB962C8B-B14F-4D97-AF65-F5344CB8AC3E}">
        <p14:creationId xmlns:p14="http://schemas.microsoft.com/office/powerpoint/2010/main" val="1251095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306F662-E448-454D-B3A0-C0DC0AE3D195}"/>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Từ video đến một coefficient</a:t>
            </a:r>
          </a:p>
        </p:txBody>
      </p:sp>
      <p:sp>
        <p:nvSpPr>
          <p:cNvPr id="2" name="Rectangle 1">
            <a:extLst>
              <a:ext uri="{FF2B5EF4-FFF2-40B4-BE49-F238E27FC236}">
                <a16:creationId xmlns:a16="http://schemas.microsoft.com/office/drawing/2014/main" id="{75F928C8-5C89-4469-B237-B0418CBA2990}"/>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Không phải sơ đồ dữ liệu. Đây là quá trình phóng to dần vào một vùng nhỏ của video.</a:t>
            </a:r>
          </a:p>
        </p:txBody>
      </p:sp>
      <p:sp>
        <p:nvSpPr>
          <p:cNvPr id="3" name="Straight Connector 2">
            <a:extLst>
              <a:ext uri="{FF2B5EF4-FFF2-40B4-BE49-F238E27FC236}">
                <a16:creationId xmlns:a16="http://schemas.microsoft.com/office/drawing/2014/main" id="{7C5024D0-D966-42D0-B175-EEA02C800FC6}"/>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16" name="Picture 15"/>
          <p:cNvPicPr>
            <a:picLocks noChangeAspect="1"/>
          </p:cNvPicPr>
          <p:nvPr/>
        </p:nvPicPr>
        <p:blipFill>
          <a:blip r:embed="rId3"/>
          <a:stretch/>
        </p:blipFill>
        <p:spPr>
          <a:xfrm>
            <a:off x="588771" y="1122236"/>
            <a:ext cx="10403079" cy="4213479"/>
          </a:xfrm>
          <a:prstGeom prst="rect">
            <a:avLst/>
          </a:prstGeom>
        </p:spPr>
      </p:pic>
      <p:sp>
        <p:nvSpPr>
          <p:cNvPr id="5" name="Rectangle 4">
            <a:extLst>
              <a:ext uri="{FF2B5EF4-FFF2-40B4-BE49-F238E27FC236}">
                <a16:creationId xmlns:a16="http://schemas.microsoft.com/office/drawing/2014/main" id="{CA1A4744-FA54-4164-BD37-D775C7FC4D3C}"/>
              </a:ext>
            </a:extLst>
          </p:cNvPr>
          <p:cNvSpPr>
            <a:spLocks noGrp="1"/>
          </p:cNvSpPr>
          <p:nvPr/>
        </p:nvSpPr>
        <p:spPr>
          <a:xfrm>
            <a:off x="1416177" y="4133850"/>
            <a:ext cx="1905000" cy="228600"/>
          </a:xfrm>
          <a:prstGeom prst="rect">
            <a:avLst/>
          </a:prstGeom>
          <a:noFill/>
          <a:ln w="0">
            <a:noFill/>
          </a:ln>
        </p:spPr>
        <p:txBody>
          <a:bodyPr>
            <a:normAutofit fontScale="69545" lnSpcReduction="20000"/>
          </a:bodyPr>
          <a:lstStyle/>
          <a:p>
            <a:pPr>
              <a:defRPr sz="1650" b="1">
                <a:solidFill>
                  <a:srgbClr val="2667D8"/>
                </a:solidFill>
                <a:latin typeface="Arial"/>
                <a:ea typeface="Arial"/>
                <a:cs typeface="Arial"/>
              </a:defRPr>
            </a:pPr>
            <a:r>
              <a:rPr sz="1650" b="1" dirty="0">
                <a:solidFill>
                  <a:srgbClr val="2667D8"/>
                </a:solidFill>
                <a:latin typeface="Arial"/>
                <a:ea typeface="Arial"/>
                <a:cs typeface="Arial"/>
              </a:rPr>
              <a:t>Video frames</a:t>
            </a:r>
          </a:p>
        </p:txBody>
      </p:sp>
      <p:sp>
        <p:nvSpPr>
          <p:cNvPr id="6" name="Rectangle 5">
            <a:extLst>
              <a:ext uri="{FF2B5EF4-FFF2-40B4-BE49-F238E27FC236}">
                <a16:creationId xmlns:a16="http://schemas.microsoft.com/office/drawing/2014/main" id="{C6713FF3-C863-4A3A-BDAB-FCD41BF94F4C}"/>
              </a:ext>
            </a:extLst>
          </p:cNvPr>
          <p:cNvSpPr>
            <a:spLocks noGrp="1"/>
          </p:cNvSpPr>
          <p:nvPr/>
        </p:nvSpPr>
        <p:spPr>
          <a:xfrm>
            <a:off x="5026152" y="4117848"/>
            <a:ext cx="2000250" cy="228600"/>
          </a:xfrm>
          <a:prstGeom prst="rect">
            <a:avLst/>
          </a:prstGeom>
          <a:noFill/>
          <a:ln w="0">
            <a:noFill/>
          </a:ln>
        </p:spPr>
        <p:txBody>
          <a:bodyPr>
            <a:normAutofit fontScale="62045" lnSpcReduction="10000"/>
          </a:bodyPr>
          <a:lstStyle/>
          <a:p>
            <a:pPr>
              <a:defRPr sz="1650" b="1">
                <a:solidFill>
                  <a:srgbClr val="16A4C7"/>
                </a:solidFill>
                <a:latin typeface="Arial"/>
                <a:ea typeface="Arial"/>
                <a:cs typeface="Arial"/>
              </a:defRPr>
            </a:pPr>
            <a:r>
              <a:rPr sz="1650" b="1" dirty="0" err="1">
                <a:solidFill>
                  <a:srgbClr val="16A4C7"/>
                </a:solidFill>
                <a:latin typeface="Arial"/>
                <a:ea typeface="Arial"/>
                <a:cs typeface="Arial"/>
              </a:rPr>
              <a:t>Một</a:t>
            </a:r>
            <a:r>
              <a:rPr sz="1650" b="1" dirty="0">
                <a:solidFill>
                  <a:srgbClr val="16A4C7"/>
                </a:solidFill>
                <a:latin typeface="Arial"/>
                <a:ea typeface="Arial"/>
                <a:cs typeface="Arial"/>
              </a:rPr>
              <a:t> frame IDR</a:t>
            </a:r>
          </a:p>
        </p:txBody>
      </p:sp>
      <p:sp>
        <p:nvSpPr>
          <p:cNvPr id="7" name="Rectangle 6">
            <a:extLst>
              <a:ext uri="{FF2B5EF4-FFF2-40B4-BE49-F238E27FC236}">
                <a16:creationId xmlns:a16="http://schemas.microsoft.com/office/drawing/2014/main" id="{8B0AB3BE-F458-481A-BB57-C00D575512FB}"/>
              </a:ext>
            </a:extLst>
          </p:cNvPr>
          <p:cNvSpPr>
            <a:spLocks noGrp="1"/>
          </p:cNvSpPr>
          <p:nvPr/>
        </p:nvSpPr>
        <p:spPr>
          <a:xfrm>
            <a:off x="7659814" y="4076699"/>
            <a:ext cx="2143125" cy="228600"/>
          </a:xfrm>
          <a:prstGeom prst="rect">
            <a:avLst/>
          </a:prstGeom>
          <a:noFill/>
          <a:ln w="0">
            <a:noFill/>
          </a:ln>
        </p:spPr>
        <p:txBody>
          <a:bodyPr>
            <a:normAutofit fontScale="69545" lnSpcReduction="20000"/>
          </a:bodyPr>
          <a:lstStyle/>
          <a:p>
            <a:pPr>
              <a:defRPr sz="1650" b="1">
                <a:solidFill>
                  <a:srgbClr val="F2994A"/>
                </a:solidFill>
                <a:latin typeface="Arial"/>
                <a:ea typeface="Arial"/>
                <a:cs typeface="Arial"/>
              </a:defRPr>
            </a:pPr>
            <a:r>
              <a:rPr sz="1650" b="1" dirty="0">
                <a:solidFill>
                  <a:srgbClr val="F2994A"/>
                </a:solidFill>
                <a:latin typeface="Arial"/>
                <a:ea typeface="Arial"/>
                <a:cs typeface="Arial"/>
              </a:rPr>
              <a:t>Macroblock 16×16</a:t>
            </a:r>
          </a:p>
        </p:txBody>
      </p:sp>
      <p:sp>
        <p:nvSpPr>
          <p:cNvPr id="8" name="Rectangle 7">
            <a:extLst>
              <a:ext uri="{FF2B5EF4-FFF2-40B4-BE49-F238E27FC236}">
                <a16:creationId xmlns:a16="http://schemas.microsoft.com/office/drawing/2014/main" id="{3DEDAB8D-9CD1-4E6A-942B-16EB24E4E317}"/>
              </a:ext>
            </a:extLst>
          </p:cNvPr>
          <p:cNvSpPr>
            <a:spLocks noGrp="1"/>
          </p:cNvSpPr>
          <p:nvPr/>
        </p:nvSpPr>
        <p:spPr>
          <a:xfrm>
            <a:off x="9802939" y="4019550"/>
            <a:ext cx="1666875" cy="228600"/>
          </a:xfrm>
          <a:prstGeom prst="rect">
            <a:avLst/>
          </a:prstGeom>
          <a:noFill/>
          <a:ln w="0">
            <a:noFill/>
          </a:ln>
        </p:spPr>
        <p:txBody>
          <a:bodyPr>
            <a:normAutofit fontScale="69545" lnSpcReduction="20000"/>
          </a:bodyPr>
          <a:lstStyle/>
          <a:p>
            <a:pPr>
              <a:defRPr sz="1650" b="1">
                <a:solidFill>
                  <a:srgbClr val="7555D9"/>
                </a:solidFill>
                <a:latin typeface="Arial"/>
                <a:ea typeface="Arial"/>
                <a:cs typeface="Arial"/>
              </a:defRPr>
            </a:pPr>
            <a:r>
              <a:rPr sz="1650" b="1" dirty="0">
                <a:solidFill>
                  <a:srgbClr val="7555D9"/>
                </a:solidFill>
                <a:latin typeface="Arial"/>
                <a:ea typeface="Arial"/>
                <a:cs typeface="Arial"/>
              </a:rPr>
              <a:t>Residual 4×4</a:t>
            </a:r>
          </a:p>
        </p:txBody>
      </p:sp>
      <p:sp>
        <p:nvSpPr>
          <p:cNvPr id="9" name="Rectangle 8">
            <a:extLst>
              <a:ext uri="{FF2B5EF4-FFF2-40B4-BE49-F238E27FC236}">
                <a16:creationId xmlns:a16="http://schemas.microsoft.com/office/drawing/2014/main" id="{9C6F42BA-60B4-4157-8438-24EEF2B5D5B2}"/>
              </a:ext>
            </a:extLst>
          </p:cNvPr>
          <p:cNvSpPr>
            <a:spLocks noGrp="1"/>
          </p:cNvSpPr>
          <p:nvPr/>
        </p:nvSpPr>
        <p:spPr>
          <a:xfrm>
            <a:off x="1524000" y="5819775"/>
            <a:ext cx="91440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6 — Phóng to từ frame IDR đến block residual 4×4, nơi native tìm dấu trailing-one ứng viên.</a:t>
            </a:r>
          </a:p>
        </p:txBody>
      </p:sp>
      <p:sp>
        <p:nvSpPr>
          <p:cNvPr id="10" name="Rectangle 9">
            <a:extLst>
              <a:ext uri="{FF2B5EF4-FFF2-40B4-BE49-F238E27FC236}">
                <a16:creationId xmlns:a16="http://schemas.microsoft.com/office/drawing/2014/main" id="{ADAE8294-3186-4C8F-84AA-B166766C4FBD}"/>
              </a:ext>
            </a:extLst>
          </p:cNvPr>
          <p:cNvSpPr>
            <a:spLocks noGrp="1"/>
          </p:cNvSpPr>
          <p:nvPr/>
        </p:nvSpPr>
        <p:spPr>
          <a:xfrm>
            <a:off x="1524000" y="6067425"/>
            <a:ext cx="9144000" cy="209550"/>
          </a:xfrm>
          <a:prstGeom prst="rect">
            <a:avLst/>
          </a:prstGeom>
          <a:noFill/>
          <a:ln w="0">
            <a:noFill/>
          </a:ln>
        </p:spPr>
        <p:txBody>
          <a:bodyPr>
            <a:normAutofit fontScale="51667"/>
          </a:bodyPr>
          <a:lstStyle/>
          <a:p>
            <a:pPr>
              <a:defRPr sz="1500">
                <a:solidFill>
                  <a:srgbClr val="5A6780"/>
                </a:solidFill>
                <a:latin typeface="Arial"/>
                <a:ea typeface="Arial"/>
                <a:cs typeface="Arial"/>
              </a:defRPr>
            </a:pPr>
            <a:r>
              <a:rPr sz="1500">
                <a:solidFill>
                  <a:srgbClr val="5A6780"/>
                </a:solidFill>
                <a:latin typeface="Arial"/>
                <a:ea typeface="Arial"/>
                <a:cs typeface="Arial"/>
              </a:rPr>
              <a:t>Native không sửa pixel đang hiển thị trên màn hình.</a:t>
            </a:r>
          </a:p>
        </p:txBody>
      </p:sp>
      <p:sp>
        <p:nvSpPr>
          <p:cNvPr id="11" name="Rectangle 10">
            <a:extLst>
              <a:ext uri="{FF2B5EF4-FFF2-40B4-BE49-F238E27FC236}">
                <a16:creationId xmlns:a16="http://schemas.microsoft.com/office/drawing/2014/main" id="{26A00771-D871-4D2D-97EB-08037B713E30}"/>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12" name="Rectangle 11">
            <a:extLst>
              <a:ext uri="{FF2B5EF4-FFF2-40B4-BE49-F238E27FC236}">
                <a16:creationId xmlns:a16="http://schemas.microsoft.com/office/drawing/2014/main" id="{84E564F9-5034-4C37-9192-D1C745DF37DA}"/>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06</a:t>
            </a:r>
          </a:p>
        </p:txBody>
      </p:sp>
    </p:spTree>
    <p:extLst>
      <p:ext uri="{BB962C8B-B14F-4D97-AF65-F5344CB8AC3E}">
        <p14:creationId xmlns:p14="http://schemas.microsoft.com/office/powerpoint/2010/main" val="1685320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F613D2A-E2C7-47A7-96E4-6317028CDADE}"/>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Trong một frame, Native tìm macroblock</a:t>
            </a:r>
          </a:p>
        </p:txBody>
      </p:sp>
      <p:sp>
        <p:nvSpPr>
          <p:cNvPr id="2" name="Rectangle 1">
            <a:extLst>
              <a:ext uri="{FF2B5EF4-FFF2-40B4-BE49-F238E27FC236}">
                <a16:creationId xmlns:a16="http://schemas.microsoft.com/office/drawing/2014/main" id="{3BE1B774-9030-4FCD-8D21-A5270B3F260E}"/>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Frame IDR được chia thành macroblock 16×16. Mỗi macroblock đi qua intra prediction, residual, transform và CAVLC.</a:t>
            </a:r>
          </a:p>
        </p:txBody>
      </p:sp>
      <p:sp>
        <p:nvSpPr>
          <p:cNvPr id="3" name="Straight Connector 2">
            <a:extLst>
              <a:ext uri="{FF2B5EF4-FFF2-40B4-BE49-F238E27FC236}">
                <a16:creationId xmlns:a16="http://schemas.microsoft.com/office/drawing/2014/main" id="{BA0C1EDE-AECB-4E28-B86F-A012304102B5}"/>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16" name="Picture 15"/>
          <p:cNvPicPr>
            <a:picLocks noChangeAspect="1"/>
          </p:cNvPicPr>
          <p:nvPr/>
        </p:nvPicPr>
        <p:blipFill>
          <a:blip r:embed="rId3"/>
          <a:stretch/>
        </p:blipFill>
        <p:spPr>
          <a:xfrm>
            <a:off x="1469875" y="1609724"/>
            <a:ext cx="8062745" cy="3714750"/>
          </a:xfrm>
          <a:prstGeom prst="rect">
            <a:avLst/>
          </a:prstGeom>
        </p:spPr>
      </p:pic>
      <p:sp>
        <p:nvSpPr>
          <p:cNvPr id="6" name="Rectangle 5">
            <a:extLst>
              <a:ext uri="{FF2B5EF4-FFF2-40B4-BE49-F238E27FC236}">
                <a16:creationId xmlns:a16="http://schemas.microsoft.com/office/drawing/2014/main" id="{CB2A46F4-6717-49C4-A527-C4A6071B69AB}"/>
              </a:ext>
            </a:extLst>
          </p:cNvPr>
          <p:cNvSpPr>
            <a:spLocks noGrp="1"/>
          </p:cNvSpPr>
          <p:nvPr/>
        </p:nvSpPr>
        <p:spPr>
          <a:xfrm>
            <a:off x="2233612" y="4408170"/>
            <a:ext cx="2428875" cy="238125"/>
          </a:xfrm>
          <a:prstGeom prst="rect">
            <a:avLst/>
          </a:prstGeom>
          <a:noFill/>
          <a:ln w="0">
            <a:noFill/>
          </a:ln>
        </p:spPr>
        <p:txBody>
          <a:bodyPr>
            <a:normAutofit fontScale="58333" lnSpcReduction="10000"/>
          </a:bodyPr>
          <a:lstStyle/>
          <a:p>
            <a:pPr>
              <a:defRPr sz="1650" b="1">
                <a:solidFill>
                  <a:srgbClr val="F2994A"/>
                </a:solidFill>
                <a:latin typeface="Arial"/>
                <a:ea typeface="Arial"/>
                <a:cs typeface="Arial"/>
              </a:defRPr>
            </a:pPr>
            <a:r>
              <a:rPr sz="1650" b="1" dirty="0">
                <a:solidFill>
                  <a:srgbClr val="F2994A"/>
                </a:solidFill>
                <a:latin typeface="Arial"/>
                <a:ea typeface="Arial"/>
                <a:cs typeface="Arial"/>
              </a:rPr>
              <a:t>Macroblock 16×16</a:t>
            </a:r>
          </a:p>
        </p:txBody>
      </p:sp>
      <p:sp>
        <p:nvSpPr>
          <p:cNvPr id="7" name="Rectangle 6">
            <a:extLst>
              <a:ext uri="{FF2B5EF4-FFF2-40B4-BE49-F238E27FC236}">
                <a16:creationId xmlns:a16="http://schemas.microsoft.com/office/drawing/2014/main" id="{9B4A3B0B-6020-4464-8443-B15440831831}"/>
              </a:ext>
            </a:extLst>
          </p:cNvPr>
          <p:cNvSpPr>
            <a:spLocks noGrp="1"/>
          </p:cNvSpPr>
          <p:nvPr/>
        </p:nvSpPr>
        <p:spPr>
          <a:xfrm>
            <a:off x="5307711" y="4408170"/>
            <a:ext cx="1905000" cy="238125"/>
          </a:xfrm>
          <a:prstGeom prst="rect">
            <a:avLst/>
          </a:prstGeom>
          <a:noFill/>
          <a:ln w="0">
            <a:noFill/>
          </a:ln>
        </p:spPr>
        <p:txBody>
          <a:bodyPr>
            <a:normAutofit fontScale="58333" lnSpcReduction="10000"/>
          </a:bodyPr>
          <a:lstStyle/>
          <a:p>
            <a:pPr>
              <a:defRPr sz="1650" b="1">
                <a:solidFill>
                  <a:srgbClr val="7555D9"/>
                </a:solidFill>
                <a:latin typeface="Arial"/>
                <a:ea typeface="Arial"/>
                <a:cs typeface="Arial"/>
              </a:defRPr>
            </a:pPr>
            <a:r>
              <a:rPr sz="1650" b="1" dirty="0">
                <a:solidFill>
                  <a:srgbClr val="7555D9"/>
                </a:solidFill>
                <a:latin typeface="Arial"/>
                <a:ea typeface="Arial"/>
                <a:cs typeface="Arial"/>
              </a:rPr>
              <a:t>Residual 4×4</a:t>
            </a:r>
          </a:p>
        </p:txBody>
      </p:sp>
      <p:sp>
        <p:nvSpPr>
          <p:cNvPr id="8" name="Rectangle 7">
            <a:extLst>
              <a:ext uri="{FF2B5EF4-FFF2-40B4-BE49-F238E27FC236}">
                <a16:creationId xmlns:a16="http://schemas.microsoft.com/office/drawing/2014/main" id="{1D38B227-A3D8-4551-AB86-D8406588B50E}"/>
              </a:ext>
            </a:extLst>
          </p:cNvPr>
          <p:cNvSpPr>
            <a:spLocks noGrp="1"/>
          </p:cNvSpPr>
          <p:nvPr/>
        </p:nvSpPr>
        <p:spPr>
          <a:xfrm>
            <a:off x="7835074" y="4408170"/>
            <a:ext cx="1905000" cy="238125"/>
          </a:xfrm>
          <a:prstGeom prst="rect">
            <a:avLst/>
          </a:prstGeom>
          <a:noFill/>
          <a:ln w="0">
            <a:noFill/>
          </a:ln>
        </p:spPr>
        <p:txBody>
          <a:bodyPr>
            <a:normAutofit fontScale="58333" lnSpcReduction="10000"/>
          </a:bodyPr>
          <a:lstStyle/>
          <a:p>
            <a:pPr>
              <a:defRPr sz="1650" b="1">
                <a:solidFill>
                  <a:srgbClr val="16A4C7"/>
                </a:solidFill>
                <a:latin typeface="Arial"/>
                <a:ea typeface="Arial"/>
                <a:cs typeface="Arial"/>
              </a:defRPr>
            </a:pPr>
            <a:r>
              <a:rPr sz="1650" b="1" dirty="0">
                <a:solidFill>
                  <a:srgbClr val="16A4C7"/>
                </a:solidFill>
                <a:latin typeface="Arial"/>
                <a:ea typeface="Arial"/>
                <a:cs typeface="Arial"/>
              </a:rPr>
              <a:t>CAVLC stream</a:t>
            </a:r>
          </a:p>
        </p:txBody>
      </p:sp>
      <p:sp>
        <p:nvSpPr>
          <p:cNvPr id="9" name="Rectangle 8">
            <a:extLst>
              <a:ext uri="{FF2B5EF4-FFF2-40B4-BE49-F238E27FC236}">
                <a16:creationId xmlns:a16="http://schemas.microsoft.com/office/drawing/2014/main" id="{6AD48F11-71C7-421D-9A66-214ACAB8BC10}"/>
              </a:ext>
            </a:extLst>
          </p:cNvPr>
          <p:cNvSpPr>
            <a:spLocks noGrp="1"/>
          </p:cNvSpPr>
          <p:nvPr/>
        </p:nvSpPr>
        <p:spPr>
          <a:xfrm>
            <a:off x="1333500" y="5781675"/>
            <a:ext cx="95250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7 — Trong frame, native đi từ macroblock đến residual 4×4 rồi mới xử lý CAVLC.</a:t>
            </a:r>
          </a:p>
        </p:txBody>
      </p:sp>
      <p:sp>
        <p:nvSpPr>
          <p:cNvPr id="10" name="Rectangle 9">
            <a:extLst>
              <a:ext uri="{FF2B5EF4-FFF2-40B4-BE49-F238E27FC236}">
                <a16:creationId xmlns:a16="http://schemas.microsoft.com/office/drawing/2014/main" id="{E048A751-7686-4996-B2F4-7203E518C68A}"/>
              </a:ext>
            </a:extLst>
          </p:cNvPr>
          <p:cNvSpPr>
            <a:spLocks noGrp="1"/>
          </p:cNvSpPr>
          <p:nvPr/>
        </p:nvSpPr>
        <p:spPr>
          <a:xfrm>
            <a:off x="1333500" y="6048375"/>
            <a:ext cx="9525000" cy="209550"/>
          </a:xfrm>
          <a:prstGeom prst="rect">
            <a:avLst/>
          </a:prstGeom>
          <a:noFill/>
          <a:ln w="0">
            <a:noFill/>
          </a:ln>
        </p:spPr>
        <p:txBody>
          <a:bodyPr>
            <a:normAutofit fontScale="51667"/>
          </a:bodyPr>
          <a:lstStyle/>
          <a:p>
            <a:pPr>
              <a:defRPr sz="1500">
                <a:solidFill>
                  <a:srgbClr val="5A6780"/>
                </a:solidFill>
                <a:latin typeface="Arial"/>
                <a:ea typeface="Arial"/>
                <a:cs typeface="Arial"/>
              </a:defRPr>
            </a:pPr>
            <a:r>
              <a:rPr sz="1500">
                <a:solidFill>
                  <a:srgbClr val="5A6780"/>
                </a:solidFill>
                <a:latin typeface="Arial"/>
                <a:ea typeface="Arial"/>
                <a:cs typeface="Arial"/>
              </a:rPr>
              <a:t>Mắt người thấy frame, còn native chỉ lật dấu của một số coefficient nhỏ để mang payload.</a:t>
            </a:r>
          </a:p>
        </p:txBody>
      </p:sp>
      <p:sp>
        <p:nvSpPr>
          <p:cNvPr id="11" name="Rectangle 10">
            <a:extLst>
              <a:ext uri="{FF2B5EF4-FFF2-40B4-BE49-F238E27FC236}">
                <a16:creationId xmlns:a16="http://schemas.microsoft.com/office/drawing/2014/main" id="{EBC849F1-D9AE-4092-AD7E-7F281EA0072C}"/>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12" name="Rectangle 11">
            <a:extLst>
              <a:ext uri="{FF2B5EF4-FFF2-40B4-BE49-F238E27FC236}">
                <a16:creationId xmlns:a16="http://schemas.microsoft.com/office/drawing/2014/main" id="{EF359F53-6546-4377-8B6E-EAD83D8BEFF3}"/>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07</a:t>
            </a:r>
          </a:p>
        </p:txBody>
      </p:sp>
    </p:spTree>
    <p:extLst>
      <p:ext uri="{BB962C8B-B14F-4D97-AF65-F5344CB8AC3E}">
        <p14:creationId xmlns:p14="http://schemas.microsoft.com/office/powerpoint/2010/main" val="1569718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E510C2F-7B6B-403D-BC74-89C2A67A0A2A}"/>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Pixel gốc không trở thành bit ngay</a:t>
            </a:r>
          </a:p>
        </p:txBody>
      </p:sp>
      <p:sp>
        <p:nvSpPr>
          <p:cNvPr id="2" name="Rectangle 1">
            <a:extLst>
              <a:ext uri="{FF2B5EF4-FFF2-40B4-BE49-F238E27FC236}">
                <a16:creationId xmlns:a16="http://schemas.microsoft.com/office/drawing/2014/main" id="{B038E354-F98F-48A9-8FD4-A83A0646CF5A}"/>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dirty="0" err="1">
                <a:solidFill>
                  <a:srgbClr val="5A6780"/>
                </a:solidFill>
                <a:latin typeface="Arial"/>
                <a:ea typeface="Arial"/>
                <a:cs typeface="Arial"/>
              </a:rPr>
              <a:t>Ví</a:t>
            </a:r>
            <a:r>
              <a:rPr sz="1200" dirty="0">
                <a:solidFill>
                  <a:srgbClr val="5A6780"/>
                </a:solidFill>
                <a:latin typeface="Arial"/>
                <a:ea typeface="Arial"/>
                <a:cs typeface="Arial"/>
              </a:rPr>
              <a:t> </a:t>
            </a:r>
            <a:r>
              <a:rPr sz="1200" dirty="0" err="1">
                <a:solidFill>
                  <a:srgbClr val="5A6780"/>
                </a:solidFill>
                <a:latin typeface="Arial"/>
                <a:ea typeface="Arial"/>
                <a:cs typeface="Arial"/>
              </a:rPr>
              <a:t>dụ</a:t>
            </a:r>
            <a:r>
              <a:rPr sz="1200" dirty="0">
                <a:solidFill>
                  <a:srgbClr val="5A6780"/>
                </a:solidFill>
                <a:latin typeface="Arial"/>
                <a:ea typeface="Arial"/>
                <a:cs typeface="Arial"/>
              </a:rPr>
              <a:t> </a:t>
            </a:r>
            <a:r>
              <a:rPr sz="1200" dirty="0" err="1">
                <a:solidFill>
                  <a:srgbClr val="5A6780"/>
                </a:solidFill>
                <a:latin typeface="Arial"/>
                <a:ea typeface="Arial"/>
                <a:cs typeface="Arial"/>
              </a:rPr>
              <a:t>trực</a:t>
            </a:r>
            <a:r>
              <a:rPr sz="1200" dirty="0">
                <a:solidFill>
                  <a:srgbClr val="5A6780"/>
                </a:solidFill>
                <a:latin typeface="Arial"/>
                <a:ea typeface="Arial"/>
                <a:cs typeface="Arial"/>
              </a:rPr>
              <a:t> </a:t>
            </a:r>
            <a:r>
              <a:rPr sz="1200" dirty="0" err="1">
                <a:solidFill>
                  <a:srgbClr val="5A6780"/>
                </a:solidFill>
                <a:latin typeface="Arial"/>
                <a:ea typeface="Arial"/>
                <a:cs typeface="Arial"/>
              </a:rPr>
              <a:t>quan</a:t>
            </a:r>
            <a:r>
              <a:rPr sz="1200" dirty="0">
                <a:solidFill>
                  <a:srgbClr val="5A6780"/>
                </a:solidFill>
                <a:latin typeface="Arial"/>
                <a:ea typeface="Arial"/>
                <a:cs typeface="Arial"/>
              </a:rPr>
              <a:t>: native </a:t>
            </a:r>
            <a:r>
              <a:rPr sz="1200" dirty="0" err="1">
                <a:solidFill>
                  <a:srgbClr val="5A6780"/>
                </a:solidFill>
                <a:latin typeface="Arial"/>
                <a:ea typeface="Arial"/>
                <a:cs typeface="Arial"/>
              </a:rPr>
              <a:t>đi</a:t>
            </a:r>
            <a:r>
              <a:rPr sz="1200" dirty="0">
                <a:solidFill>
                  <a:srgbClr val="5A6780"/>
                </a:solidFill>
                <a:latin typeface="Arial"/>
                <a:ea typeface="Arial"/>
                <a:cs typeface="Arial"/>
              </a:rPr>
              <a:t> </a:t>
            </a:r>
            <a:r>
              <a:rPr sz="1200" dirty="0" err="1">
                <a:solidFill>
                  <a:srgbClr val="5A6780"/>
                </a:solidFill>
                <a:latin typeface="Arial"/>
                <a:ea typeface="Arial"/>
                <a:cs typeface="Arial"/>
              </a:rPr>
              <a:t>từ</a:t>
            </a:r>
            <a:r>
              <a:rPr sz="1200" dirty="0">
                <a:solidFill>
                  <a:srgbClr val="5A6780"/>
                </a:solidFill>
                <a:latin typeface="Arial"/>
                <a:ea typeface="Arial"/>
                <a:cs typeface="Arial"/>
              </a:rPr>
              <a:t> </a:t>
            </a:r>
            <a:r>
              <a:rPr sz="1200" dirty="0" err="1">
                <a:solidFill>
                  <a:srgbClr val="5A6780"/>
                </a:solidFill>
                <a:latin typeface="Arial"/>
                <a:ea typeface="Arial"/>
                <a:cs typeface="Arial"/>
              </a:rPr>
              <a:t>một</a:t>
            </a:r>
            <a:r>
              <a:rPr sz="1200" dirty="0">
                <a:solidFill>
                  <a:srgbClr val="5A6780"/>
                </a:solidFill>
                <a:latin typeface="Arial"/>
                <a:ea typeface="Arial"/>
                <a:cs typeface="Arial"/>
              </a:rPr>
              <a:t> </a:t>
            </a:r>
            <a:r>
              <a:rPr sz="1200" dirty="0" err="1">
                <a:solidFill>
                  <a:srgbClr val="5A6780"/>
                </a:solidFill>
                <a:latin typeface="Arial"/>
                <a:ea typeface="Arial"/>
                <a:cs typeface="Arial"/>
              </a:rPr>
              <a:t>mảng</a:t>
            </a:r>
            <a:r>
              <a:rPr sz="1200" dirty="0">
                <a:solidFill>
                  <a:srgbClr val="5A6780"/>
                </a:solidFill>
                <a:latin typeface="Arial"/>
                <a:ea typeface="Arial"/>
                <a:cs typeface="Arial"/>
              </a:rPr>
              <a:t> pixel, qua </a:t>
            </a:r>
            <a:r>
              <a:rPr sz="1200" dirty="0" err="1">
                <a:solidFill>
                  <a:srgbClr val="5A6780"/>
                </a:solidFill>
                <a:latin typeface="Arial"/>
                <a:ea typeface="Arial"/>
                <a:cs typeface="Arial"/>
              </a:rPr>
              <a:t>sai</a:t>
            </a:r>
            <a:r>
              <a:rPr sz="1200" dirty="0">
                <a:solidFill>
                  <a:srgbClr val="5A6780"/>
                </a:solidFill>
                <a:latin typeface="Arial"/>
                <a:ea typeface="Arial"/>
                <a:cs typeface="Arial"/>
              </a:rPr>
              <a:t> </a:t>
            </a:r>
            <a:r>
              <a:rPr sz="1200" dirty="0" err="1">
                <a:solidFill>
                  <a:srgbClr val="5A6780"/>
                </a:solidFill>
                <a:latin typeface="Arial"/>
                <a:ea typeface="Arial"/>
                <a:cs typeface="Arial"/>
              </a:rPr>
              <a:t>khác</a:t>
            </a:r>
            <a:r>
              <a:rPr sz="1200" dirty="0">
                <a:solidFill>
                  <a:srgbClr val="5A6780"/>
                </a:solidFill>
                <a:latin typeface="Arial"/>
                <a:ea typeface="Arial"/>
                <a:cs typeface="Arial"/>
              </a:rPr>
              <a:t> residual, </a:t>
            </a:r>
            <a:r>
              <a:rPr sz="1200" dirty="0" err="1">
                <a:solidFill>
                  <a:srgbClr val="5A6780"/>
                </a:solidFill>
                <a:latin typeface="Arial"/>
                <a:ea typeface="Arial"/>
                <a:cs typeface="Arial"/>
              </a:rPr>
              <a:t>rồi</a:t>
            </a:r>
            <a:r>
              <a:rPr sz="1200" dirty="0">
                <a:solidFill>
                  <a:srgbClr val="5A6780"/>
                </a:solidFill>
                <a:latin typeface="Arial"/>
                <a:ea typeface="Arial"/>
                <a:cs typeface="Arial"/>
              </a:rPr>
              <a:t> </a:t>
            </a:r>
            <a:r>
              <a:rPr sz="1200" dirty="0" err="1">
                <a:solidFill>
                  <a:srgbClr val="5A6780"/>
                </a:solidFill>
                <a:latin typeface="Arial"/>
                <a:ea typeface="Arial"/>
                <a:cs typeface="Arial"/>
              </a:rPr>
              <a:t>mới</a:t>
            </a:r>
            <a:r>
              <a:rPr sz="1200" dirty="0">
                <a:solidFill>
                  <a:srgbClr val="5A6780"/>
                </a:solidFill>
                <a:latin typeface="Arial"/>
                <a:ea typeface="Arial"/>
                <a:cs typeface="Arial"/>
              </a:rPr>
              <a:t> </a:t>
            </a:r>
            <a:r>
              <a:rPr sz="1200" dirty="0" err="1">
                <a:solidFill>
                  <a:srgbClr val="5A6780"/>
                </a:solidFill>
                <a:latin typeface="Arial"/>
                <a:ea typeface="Arial"/>
                <a:cs typeface="Arial"/>
              </a:rPr>
              <a:t>có</a:t>
            </a:r>
            <a:r>
              <a:rPr sz="1200" dirty="0">
                <a:solidFill>
                  <a:srgbClr val="5A6780"/>
                </a:solidFill>
                <a:latin typeface="Arial"/>
                <a:ea typeface="Arial"/>
                <a:cs typeface="Arial"/>
              </a:rPr>
              <a:t> </a:t>
            </a:r>
            <a:r>
              <a:rPr sz="1200" dirty="0" err="1">
                <a:solidFill>
                  <a:srgbClr val="5A6780"/>
                </a:solidFill>
                <a:latin typeface="Arial"/>
                <a:ea typeface="Arial"/>
                <a:cs typeface="Arial"/>
              </a:rPr>
              <a:t>các</a:t>
            </a:r>
            <a:r>
              <a:rPr sz="1200" dirty="0">
                <a:solidFill>
                  <a:srgbClr val="5A6780"/>
                </a:solidFill>
                <a:latin typeface="Arial"/>
                <a:ea typeface="Arial"/>
                <a:cs typeface="Arial"/>
              </a:rPr>
              <a:t> coefficient </a:t>
            </a:r>
            <a:r>
              <a:rPr sz="1200" dirty="0" err="1">
                <a:solidFill>
                  <a:srgbClr val="5A6780"/>
                </a:solidFill>
                <a:latin typeface="Arial"/>
                <a:ea typeface="Arial"/>
                <a:cs typeface="Arial"/>
              </a:rPr>
              <a:t>để</a:t>
            </a:r>
            <a:r>
              <a:rPr sz="1200" dirty="0">
                <a:solidFill>
                  <a:srgbClr val="5A6780"/>
                </a:solidFill>
                <a:latin typeface="Arial"/>
                <a:ea typeface="Arial"/>
                <a:cs typeface="Arial"/>
              </a:rPr>
              <a:t> CAVLC </a:t>
            </a:r>
            <a:r>
              <a:rPr sz="1200" dirty="0" err="1">
                <a:solidFill>
                  <a:srgbClr val="5A6780"/>
                </a:solidFill>
                <a:latin typeface="Arial"/>
                <a:ea typeface="Arial"/>
                <a:cs typeface="Arial"/>
              </a:rPr>
              <a:t>mã</a:t>
            </a:r>
            <a:r>
              <a:rPr sz="1200" dirty="0">
                <a:solidFill>
                  <a:srgbClr val="5A6780"/>
                </a:solidFill>
                <a:latin typeface="Arial"/>
                <a:ea typeface="Arial"/>
                <a:cs typeface="Arial"/>
              </a:rPr>
              <a:t> </a:t>
            </a:r>
            <a:r>
              <a:rPr sz="1200" dirty="0" err="1">
                <a:solidFill>
                  <a:srgbClr val="5A6780"/>
                </a:solidFill>
                <a:latin typeface="Arial"/>
                <a:ea typeface="Arial"/>
                <a:cs typeface="Arial"/>
              </a:rPr>
              <a:t>hóa</a:t>
            </a:r>
            <a:r>
              <a:rPr sz="1200" dirty="0">
                <a:solidFill>
                  <a:srgbClr val="5A6780"/>
                </a:solidFill>
                <a:latin typeface="Arial"/>
                <a:ea typeface="Arial"/>
                <a:cs typeface="Arial"/>
              </a:rPr>
              <a:t>.</a:t>
            </a:r>
          </a:p>
        </p:txBody>
      </p:sp>
      <p:sp>
        <p:nvSpPr>
          <p:cNvPr id="3" name="Straight Connector 2">
            <a:extLst>
              <a:ext uri="{FF2B5EF4-FFF2-40B4-BE49-F238E27FC236}">
                <a16:creationId xmlns:a16="http://schemas.microsoft.com/office/drawing/2014/main" id="{9013C030-3008-46A4-94D8-1A51933AC3FE}"/>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15" name="Picture 14"/>
          <p:cNvPicPr>
            <a:picLocks noChangeAspect="1"/>
          </p:cNvPicPr>
          <p:nvPr/>
        </p:nvPicPr>
        <p:blipFill>
          <a:blip r:embed="rId3"/>
          <a:stretch/>
        </p:blipFill>
        <p:spPr>
          <a:xfrm>
            <a:off x="1135875" y="1628776"/>
            <a:ext cx="9139200" cy="3476625"/>
          </a:xfrm>
          <a:prstGeom prst="rect">
            <a:avLst/>
          </a:prstGeom>
        </p:spPr>
      </p:pic>
      <p:sp>
        <p:nvSpPr>
          <p:cNvPr id="5" name="Rectangle 4">
            <a:extLst>
              <a:ext uri="{FF2B5EF4-FFF2-40B4-BE49-F238E27FC236}">
                <a16:creationId xmlns:a16="http://schemas.microsoft.com/office/drawing/2014/main" id="{6DB1B2BC-160D-4C5E-AF7C-26DFCE2A2CF5}"/>
              </a:ext>
            </a:extLst>
          </p:cNvPr>
          <p:cNvSpPr>
            <a:spLocks noGrp="1"/>
          </p:cNvSpPr>
          <p:nvPr/>
        </p:nvSpPr>
        <p:spPr>
          <a:xfrm>
            <a:off x="2202561" y="4528566"/>
            <a:ext cx="2095500" cy="266700"/>
          </a:xfrm>
          <a:prstGeom prst="rect">
            <a:avLst/>
          </a:prstGeom>
          <a:noFill/>
          <a:ln w="0">
            <a:noFill/>
          </a:ln>
        </p:spPr>
        <p:txBody>
          <a:bodyPr>
            <a:normAutofit fontScale="66667" lnSpcReduction="10000"/>
          </a:bodyPr>
          <a:lstStyle/>
          <a:p>
            <a:pPr>
              <a:defRPr sz="1725" b="1">
                <a:solidFill>
                  <a:srgbClr val="2667D8"/>
                </a:solidFill>
                <a:latin typeface="Arial"/>
                <a:ea typeface="Arial"/>
                <a:cs typeface="Arial"/>
              </a:defRPr>
            </a:pPr>
            <a:r>
              <a:rPr sz="1725" b="1" dirty="0" err="1">
                <a:solidFill>
                  <a:srgbClr val="2667D8"/>
                </a:solidFill>
                <a:latin typeface="Arial"/>
                <a:ea typeface="Arial"/>
                <a:cs typeface="Arial"/>
              </a:rPr>
              <a:t>Mảng</a:t>
            </a:r>
            <a:r>
              <a:rPr sz="1725" b="1" dirty="0">
                <a:solidFill>
                  <a:srgbClr val="2667D8"/>
                </a:solidFill>
                <a:latin typeface="Arial"/>
                <a:ea typeface="Arial"/>
                <a:cs typeface="Arial"/>
              </a:rPr>
              <a:t> pixel</a:t>
            </a:r>
          </a:p>
        </p:txBody>
      </p:sp>
      <p:sp>
        <p:nvSpPr>
          <p:cNvPr id="6" name="Rectangle 5">
            <a:extLst>
              <a:ext uri="{FF2B5EF4-FFF2-40B4-BE49-F238E27FC236}">
                <a16:creationId xmlns:a16="http://schemas.microsoft.com/office/drawing/2014/main" id="{77BB1ABF-1CB8-42DB-928F-A9D0C6C6C232}"/>
              </a:ext>
            </a:extLst>
          </p:cNvPr>
          <p:cNvSpPr>
            <a:spLocks noGrp="1"/>
          </p:cNvSpPr>
          <p:nvPr/>
        </p:nvSpPr>
        <p:spPr>
          <a:xfrm>
            <a:off x="5223510" y="4528566"/>
            <a:ext cx="2762250" cy="266700"/>
          </a:xfrm>
          <a:prstGeom prst="rect">
            <a:avLst/>
          </a:prstGeom>
          <a:noFill/>
          <a:ln w="0">
            <a:noFill/>
          </a:ln>
        </p:spPr>
        <p:txBody>
          <a:bodyPr>
            <a:normAutofit fontScale="66667" lnSpcReduction="10000"/>
          </a:bodyPr>
          <a:lstStyle/>
          <a:p>
            <a:pPr>
              <a:defRPr sz="1725" b="1">
                <a:solidFill>
                  <a:srgbClr val="F2994A"/>
                </a:solidFill>
                <a:latin typeface="Arial"/>
                <a:ea typeface="Arial"/>
                <a:cs typeface="Arial"/>
              </a:defRPr>
            </a:pPr>
            <a:r>
              <a:rPr sz="1725" b="1" dirty="0">
                <a:solidFill>
                  <a:srgbClr val="F2994A"/>
                </a:solidFill>
                <a:latin typeface="Arial"/>
                <a:ea typeface="Arial"/>
                <a:cs typeface="Arial"/>
              </a:rPr>
              <a:t>Residual: </a:t>
            </a:r>
            <a:r>
              <a:rPr sz="1725" b="1" dirty="0" err="1">
                <a:solidFill>
                  <a:srgbClr val="F2994A"/>
                </a:solidFill>
                <a:latin typeface="Arial"/>
                <a:ea typeface="Arial"/>
                <a:cs typeface="Arial"/>
              </a:rPr>
              <a:t>phần</a:t>
            </a:r>
            <a:r>
              <a:rPr sz="1725" b="1" dirty="0">
                <a:solidFill>
                  <a:srgbClr val="F2994A"/>
                </a:solidFill>
                <a:latin typeface="Arial"/>
                <a:ea typeface="Arial"/>
                <a:cs typeface="Arial"/>
              </a:rPr>
              <a:t> </a:t>
            </a:r>
            <a:r>
              <a:rPr sz="1725" b="1" dirty="0" err="1">
                <a:solidFill>
                  <a:srgbClr val="F2994A"/>
                </a:solidFill>
                <a:latin typeface="Arial"/>
                <a:ea typeface="Arial"/>
                <a:cs typeface="Arial"/>
              </a:rPr>
              <a:t>khác</a:t>
            </a:r>
            <a:r>
              <a:rPr sz="1725" b="1" dirty="0">
                <a:solidFill>
                  <a:srgbClr val="F2994A"/>
                </a:solidFill>
                <a:latin typeface="Arial"/>
                <a:ea typeface="Arial"/>
                <a:cs typeface="Arial"/>
              </a:rPr>
              <a:t> </a:t>
            </a:r>
            <a:r>
              <a:rPr sz="1725" b="1" dirty="0" err="1">
                <a:solidFill>
                  <a:srgbClr val="F2994A"/>
                </a:solidFill>
                <a:latin typeface="Arial"/>
                <a:ea typeface="Arial"/>
                <a:cs typeface="Arial"/>
              </a:rPr>
              <a:t>nhau</a:t>
            </a:r>
            <a:endParaRPr sz="1725" b="1" dirty="0">
              <a:solidFill>
                <a:srgbClr val="F2994A"/>
              </a:solidFill>
              <a:latin typeface="Arial"/>
              <a:ea typeface="Arial"/>
              <a:cs typeface="Arial"/>
            </a:endParaRPr>
          </a:p>
        </p:txBody>
      </p:sp>
      <p:sp>
        <p:nvSpPr>
          <p:cNvPr id="7" name="Rectangle 6">
            <a:extLst>
              <a:ext uri="{FF2B5EF4-FFF2-40B4-BE49-F238E27FC236}">
                <a16:creationId xmlns:a16="http://schemas.microsoft.com/office/drawing/2014/main" id="{6701DA68-4F77-4A12-A172-F99460779D78}"/>
              </a:ext>
            </a:extLst>
          </p:cNvPr>
          <p:cNvSpPr>
            <a:spLocks noGrp="1"/>
          </p:cNvSpPr>
          <p:nvPr/>
        </p:nvSpPr>
        <p:spPr>
          <a:xfrm>
            <a:off x="8381619" y="4592574"/>
            <a:ext cx="2190750" cy="266700"/>
          </a:xfrm>
          <a:prstGeom prst="rect">
            <a:avLst/>
          </a:prstGeom>
          <a:noFill/>
          <a:ln w="0">
            <a:noFill/>
          </a:ln>
        </p:spPr>
        <p:txBody>
          <a:bodyPr>
            <a:normAutofit fontScale="66667" lnSpcReduction="10000"/>
          </a:bodyPr>
          <a:lstStyle/>
          <a:p>
            <a:pPr>
              <a:defRPr sz="1725" b="1">
                <a:solidFill>
                  <a:srgbClr val="7555D9"/>
                </a:solidFill>
                <a:latin typeface="Arial"/>
                <a:ea typeface="Arial"/>
                <a:cs typeface="Arial"/>
              </a:defRPr>
            </a:pPr>
            <a:r>
              <a:rPr sz="1725" b="1">
                <a:solidFill>
                  <a:srgbClr val="7555D9"/>
                </a:solidFill>
                <a:latin typeface="Arial"/>
                <a:ea typeface="Arial"/>
                <a:cs typeface="Arial"/>
              </a:rPr>
              <a:t>Coefficient 4×4</a:t>
            </a:r>
          </a:p>
        </p:txBody>
      </p:sp>
      <p:sp>
        <p:nvSpPr>
          <p:cNvPr id="8" name="Rectangle 7">
            <a:extLst>
              <a:ext uri="{FF2B5EF4-FFF2-40B4-BE49-F238E27FC236}">
                <a16:creationId xmlns:a16="http://schemas.microsoft.com/office/drawing/2014/main" id="{813C8721-0426-4D47-A09B-671B10478CF6}"/>
              </a:ext>
            </a:extLst>
          </p:cNvPr>
          <p:cNvSpPr>
            <a:spLocks noGrp="1"/>
          </p:cNvSpPr>
          <p:nvPr/>
        </p:nvSpPr>
        <p:spPr>
          <a:xfrm>
            <a:off x="1524000" y="5638800"/>
            <a:ext cx="91440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8 — Ví dụ biến đổi: pixel gốc, residual, coefficient 4×4, rồi chuỗi bit CAVLC.</a:t>
            </a:r>
          </a:p>
        </p:txBody>
      </p:sp>
      <p:sp>
        <p:nvSpPr>
          <p:cNvPr id="9" name="Rectangle 8">
            <a:extLst>
              <a:ext uri="{FF2B5EF4-FFF2-40B4-BE49-F238E27FC236}">
                <a16:creationId xmlns:a16="http://schemas.microsoft.com/office/drawing/2014/main" id="{C7236909-548E-45E2-A86A-53F987E76B3F}"/>
              </a:ext>
            </a:extLst>
          </p:cNvPr>
          <p:cNvSpPr>
            <a:spLocks noGrp="1"/>
          </p:cNvSpPr>
          <p:nvPr/>
        </p:nvSpPr>
        <p:spPr>
          <a:xfrm>
            <a:off x="1524000" y="5924550"/>
            <a:ext cx="9144000" cy="238125"/>
          </a:xfrm>
          <a:prstGeom prst="rect">
            <a:avLst/>
          </a:prstGeom>
          <a:noFill/>
          <a:ln w="0">
            <a:noFill/>
          </a:ln>
        </p:spPr>
        <p:txBody>
          <a:bodyPr>
            <a:normAutofit fontScale="58333"/>
          </a:bodyPr>
          <a:lstStyle/>
          <a:p>
            <a:pPr>
              <a:defRPr sz="1650">
                <a:solidFill>
                  <a:srgbClr val="0B1B35"/>
                </a:solidFill>
                <a:latin typeface="Arial"/>
                <a:ea typeface="Arial"/>
                <a:cs typeface="Arial"/>
              </a:defRPr>
            </a:pPr>
            <a:r>
              <a:rPr sz="1650">
                <a:solidFill>
                  <a:srgbClr val="0B1B35"/>
                </a:solidFill>
                <a:latin typeface="Arial"/>
                <a:ea typeface="Arial"/>
                <a:cs typeface="Arial"/>
              </a:rPr>
              <a:t>Native chỉ lật dấu trailing-one của coefficient, không sửa pixel của khung hình trực tiếp.</a:t>
            </a:r>
          </a:p>
        </p:txBody>
      </p:sp>
      <p:sp>
        <p:nvSpPr>
          <p:cNvPr id="10" name="Rectangle 9">
            <a:extLst>
              <a:ext uri="{FF2B5EF4-FFF2-40B4-BE49-F238E27FC236}">
                <a16:creationId xmlns:a16="http://schemas.microsoft.com/office/drawing/2014/main" id="{F829BF2C-BDDD-45EB-B46D-8B2B57F31E59}"/>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11" name="Rectangle 10">
            <a:extLst>
              <a:ext uri="{FF2B5EF4-FFF2-40B4-BE49-F238E27FC236}">
                <a16:creationId xmlns:a16="http://schemas.microsoft.com/office/drawing/2014/main" id="{4AB6A9F4-02DA-49F9-803A-B452F26C9371}"/>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08</a:t>
            </a:r>
          </a:p>
        </p:txBody>
      </p:sp>
    </p:spTree>
    <p:extLst>
      <p:ext uri="{BB962C8B-B14F-4D97-AF65-F5344CB8AC3E}">
        <p14:creationId xmlns:p14="http://schemas.microsoft.com/office/powerpoint/2010/main" val="238130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A9B85D8-3CCB-4E86-9838-79C1412BC6AA}"/>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Native CAVLC đang làm gì?</a:t>
            </a:r>
          </a:p>
        </p:txBody>
      </p:sp>
      <p:sp>
        <p:nvSpPr>
          <p:cNvPr id="2" name="Rectangle 1">
            <a:extLst>
              <a:ext uri="{FF2B5EF4-FFF2-40B4-BE49-F238E27FC236}">
                <a16:creationId xmlns:a16="http://schemas.microsoft.com/office/drawing/2014/main" id="{183D9AFC-ECE3-4D23-9292-DBD1546DF259}"/>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Nó đọc bitstream, giải mã residual vừa đủ, ghi offset của dấu trailing-one ứng viên, rồi lật đúng bit theo lịch khóa.</a:t>
            </a:r>
          </a:p>
        </p:txBody>
      </p:sp>
      <p:sp>
        <p:nvSpPr>
          <p:cNvPr id="3" name="Straight Connector 2">
            <a:extLst>
              <a:ext uri="{FF2B5EF4-FFF2-40B4-BE49-F238E27FC236}">
                <a16:creationId xmlns:a16="http://schemas.microsoft.com/office/drawing/2014/main" id="{6A183C27-E115-4E8A-BB66-A65D220047E2}"/>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27" name="Picture 26"/>
          <p:cNvPicPr>
            <a:picLocks noChangeAspect="1"/>
          </p:cNvPicPr>
          <p:nvPr/>
        </p:nvPicPr>
        <p:blipFill>
          <a:blip r:embed="rId3"/>
          <a:stretch/>
        </p:blipFill>
        <p:spPr>
          <a:xfrm>
            <a:off x="3817096" y="1600200"/>
            <a:ext cx="6786659" cy="3819525"/>
          </a:xfrm>
          <a:prstGeom prst="rect">
            <a:avLst/>
          </a:prstGeom>
        </p:spPr>
      </p:pic>
      <p:sp>
        <p:nvSpPr>
          <p:cNvPr id="5" name="Rectangle: Rounded Corners 4">
            <a:extLst>
              <a:ext uri="{FF2B5EF4-FFF2-40B4-BE49-F238E27FC236}">
                <a16:creationId xmlns:a16="http://schemas.microsoft.com/office/drawing/2014/main" id="{2B6210EA-E5D4-4B08-B5A0-42296C4F7241}"/>
              </a:ext>
            </a:extLst>
          </p:cNvPr>
          <p:cNvSpPr>
            <a:spLocks noGrp="1"/>
          </p:cNvSpPr>
          <p:nvPr/>
        </p:nvSpPr>
        <p:spPr>
          <a:xfrm>
            <a:off x="514350" y="1581150"/>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6" name="Rectangle: Rounded Corners 5">
            <a:extLst>
              <a:ext uri="{FF2B5EF4-FFF2-40B4-BE49-F238E27FC236}">
                <a16:creationId xmlns:a16="http://schemas.microsoft.com/office/drawing/2014/main" id="{9611DD32-F85B-40BD-B881-5A6DF2E7D4F4}"/>
              </a:ext>
            </a:extLst>
          </p:cNvPr>
          <p:cNvSpPr>
            <a:spLocks noGrp="1"/>
          </p:cNvSpPr>
          <p:nvPr/>
        </p:nvSpPr>
        <p:spPr>
          <a:xfrm>
            <a:off x="666750" y="1733550"/>
            <a:ext cx="361950" cy="361950"/>
          </a:xfrm>
          <a:prstGeom prst="roundRect">
            <a:avLst>
              <a:gd name="adj" fmla="val 21053"/>
            </a:avLst>
          </a:prstGeom>
          <a:solidFill>
            <a:srgbClr val="2667D8">
              <a:alpha val="8627"/>
            </a:srgbClr>
          </a:solidFill>
          <a:ln w="9525">
            <a:solidFill>
              <a:srgbClr val="2667D8"/>
            </a:solidFill>
          </a:ln>
        </p:spPr>
        <p:txBody>
          <a:bodyPr/>
          <a:lstStyle/>
          <a:p>
            <a:endParaRPr lang="en-US"/>
          </a:p>
        </p:txBody>
      </p:sp>
      <p:sp>
        <p:nvSpPr>
          <p:cNvPr id="7" name="Rectangle 6">
            <a:extLst>
              <a:ext uri="{FF2B5EF4-FFF2-40B4-BE49-F238E27FC236}">
                <a16:creationId xmlns:a16="http://schemas.microsoft.com/office/drawing/2014/main" id="{43B2F69E-3C59-4EEA-B976-2844DC825547}"/>
              </a:ext>
            </a:extLst>
          </p:cNvPr>
          <p:cNvSpPr>
            <a:spLocks noGrp="1"/>
          </p:cNvSpPr>
          <p:nvPr/>
        </p:nvSpPr>
        <p:spPr>
          <a:xfrm>
            <a:off x="1143000" y="1743075"/>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Parse</a:t>
            </a:r>
          </a:p>
        </p:txBody>
      </p:sp>
      <p:sp>
        <p:nvSpPr>
          <p:cNvPr id="8" name="Rectangle 7">
            <a:extLst>
              <a:ext uri="{FF2B5EF4-FFF2-40B4-BE49-F238E27FC236}">
                <a16:creationId xmlns:a16="http://schemas.microsoft.com/office/drawing/2014/main" id="{4B7C9B36-C4E7-4DEB-955C-37EE64D0ED35}"/>
              </a:ext>
            </a:extLst>
          </p:cNvPr>
          <p:cNvSpPr>
            <a:spLocks noGrp="1"/>
          </p:cNvSpPr>
          <p:nvPr/>
        </p:nvSpPr>
        <p:spPr>
          <a:xfrm>
            <a:off x="1143000" y="1974914"/>
            <a:ext cx="1600200" cy="304800"/>
          </a:xfrm>
          <a:prstGeom prst="rect">
            <a:avLst/>
          </a:prstGeom>
          <a:noFill/>
          <a:ln w="0">
            <a:noFill/>
          </a:ln>
        </p:spPr>
        <p:txBody>
          <a:bodyPr>
            <a:normAutofit fontScale="88991"/>
          </a:bodyPr>
          <a:lstStyle/>
          <a:p>
            <a:pPr>
              <a:defRPr sz="1200">
                <a:solidFill>
                  <a:srgbClr val="5A6780"/>
                </a:solidFill>
                <a:latin typeface="Arial"/>
                <a:ea typeface="Arial"/>
                <a:cs typeface="Arial"/>
              </a:defRPr>
            </a:pPr>
            <a:r>
              <a:rPr sz="1200">
                <a:solidFill>
                  <a:srgbClr val="5A6780"/>
                </a:solidFill>
                <a:latin typeface="Arial"/>
                <a:ea typeface="Arial"/>
                <a:cs typeface="Arial"/>
              </a:rPr>
              <a:t>tách NAL, bỏ EPB, đọc slice</a:t>
            </a:r>
          </a:p>
        </p:txBody>
      </p:sp>
      <p:sp>
        <p:nvSpPr>
          <p:cNvPr id="9" name="Rectangle: Rounded Corners 8">
            <a:extLst>
              <a:ext uri="{FF2B5EF4-FFF2-40B4-BE49-F238E27FC236}">
                <a16:creationId xmlns:a16="http://schemas.microsoft.com/office/drawing/2014/main" id="{DB8A1AF0-ECF6-4618-8293-0409677BA1C2}"/>
              </a:ext>
            </a:extLst>
          </p:cNvPr>
          <p:cNvSpPr>
            <a:spLocks noGrp="1"/>
          </p:cNvSpPr>
          <p:nvPr/>
        </p:nvSpPr>
        <p:spPr>
          <a:xfrm>
            <a:off x="514350" y="2543175"/>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10" name="Rectangle: Rounded Corners 9">
            <a:extLst>
              <a:ext uri="{FF2B5EF4-FFF2-40B4-BE49-F238E27FC236}">
                <a16:creationId xmlns:a16="http://schemas.microsoft.com/office/drawing/2014/main" id="{D0B570E4-0675-4051-8516-A5202230F238}"/>
              </a:ext>
            </a:extLst>
          </p:cNvPr>
          <p:cNvSpPr>
            <a:spLocks noGrp="1"/>
          </p:cNvSpPr>
          <p:nvPr/>
        </p:nvSpPr>
        <p:spPr>
          <a:xfrm>
            <a:off x="666750" y="2695575"/>
            <a:ext cx="361950" cy="361950"/>
          </a:xfrm>
          <a:prstGeom prst="roundRect">
            <a:avLst>
              <a:gd name="adj" fmla="val 21053"/>
            </a:avLst>
          </a:prstGeom>
          <a:solidFill>
            <a:srgbClr val="16A4C7">
              <a:alpha val="8627"/>
            </a:srgbClr>
          </a:solidFill>
          <a:ln w="9525">
            <a:solidFill>
              <a:srgbClr val="16A4C7"/>
            </a:solidFill>
          </a:ln>
        </p:spPr>
        <p:txBody>
          <a:bodyPr/>
          <a:lstStyle/>
          <a:p>
            <a:endParaRPr lang="en-US"/>
          </a:p>
        </p:txBody>
      </p:sp>
      <p:sp>
        <p:nvSpPr>
          <p:cNvPr id="11" name="Rectangle 10">
            <a:extLst>
              <a:ext uri="{FF2B5EF4-FFF2-40B4-BE49-F238E27FC236}">
                <a16:creationId xmlns:a16="http://schemas.microsoft.com/office/drawing/2014/main" id="{CAC00F4F-91B7-4B3F-AA2E-DF79EF25073A}"/>
              </a:ext>
            </a:extLst>
          </p:cNvPr>
          <p:cNvSpPr>
            <a:spLocks noGrp="1"/>
          </p:cNvSpPr>
          <p:nvPr/>
        </p:nvSpPr>
        <p:spPr>
          <a:xfrm>
            <a:off x="1143000" y="2705100"/>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Decode</a:t>
            </a:r>
          </a:p>
        </p:txBody>
      </p:sp>
      <p:sp>
        <p:nvSpPr>
          <p:cNvPr id="12" name="Rectangle 11">
            <a:extLst>
              <a:ext uri="{FF2B5EF4-FFF2-40B4-BE49-F238E27FC236}">
                <a16:creationId xmlns:a16="http://schemas.microsoft.com/office/drawing/2014/main" id="{1B70B37E-392F-4A9F-9609-8D36F8DE18AA}"/>
              </a:ext>
            </a:extLst>
          </p:cNvPr>
          <p:cNvSpPr>
            <a:spLocks noGrp="1"/>
          </p:cNvSpPr>
          <p:nvPr/>
        </p:nvSpPr>
        <p:spPr>
          <a:xfrm>
            <a:off x="1143000" y="2905125"/>
            <a:ext cx="1600200" cy="304800"/>
          </a:xfrm>
          <a:prstGeom prst="rect">
            <a:avLst/>
          </a:prstGeom>
          <a:noFill/>
          <a:ln w="0">
            <a:noFill/>
          </a:ln>
        </p:spPr>
        <p:txBody>
          <a:bodyPr>
            <a:noAutofit/>
          </a:bodyPr>
          <a:lstStyle/>
          <a:p>
            <a:pPr>
              <a:defRPr sz="1200">
                <a:solidFill>
                  <a:srgbClr val="5A6780"/>
                </a:solidFill>
                <a:latin typeface="Arial"/>
                <a:ea typeface="Arial"/>
                <a:cs typeface="Arial"/>
              </a:defRPr>
            </a:pPr>
            <a:r>
              <a:rPr sz="1200" dirty="0" err="1">
                <a:solidFill>
                  <a:srgbClr val="5A6780"/>
                </a:solidFill>
                <a:latin typeface="Arial"/>
                <a:ea typeface="Arial"/>
                <a:cs typeface="Arial"/>
              </a:rPr>
              <a:t>đọc</a:t>
            </a:r>
            <a:r>
              <a:rPr sz="1200" dirty="0">
                <a:solidFill>
                  <a:srgbClr val="5A6780"/>
                </a:solidFill>
                <a:latin typeface="Arial"/>
                <a:ea typeface="Arial"/>
                <a:cs typeface="Arial"/>
              </a:rPr>
              <a:t> </a:t>
            </a:r>
            <a:r>
              <a:rPr sz="1200" dirty="0" err="1">
                <a:solidFill>
                  <a:srgbClr val="5A6780"/>
                </a:solidFill>
                <a:latin typeface="Arial"/>
                <a:ea typeface="Arial"/>
                <a:cs typeface="Arial"/>
              </a:rPr>
              <a:t>coeff_token</a:t>
            </a:r>
            <a:r>
              <a:rPr sz="1200" dirty="0">
                <a:solidFill>
                  <a:srgbClr val="5A6780"/>
                </a:solidFill>
                <a:latin typeface="Arial"/>
                <a:ea typeface="Arial"/>
                <a:cs typeface="Arial"/>
              </a:rPr>
              <a:t>, signs, levels, runs</a:t>
            </a:r>
          </a:p>
        </p:txBody>
      </p:sp>
      <p:sp>
        <p:nvSpPr>
          <p:cNvPr id="13" name="Rectangle: Rounded Corners 12">
            <a:extLst>
              <a:ext uri="{FF2B5EF4-FFF2-40B4-BE49-F238E27FC236}">
                <a16:creationId xmlns:a16="http://schemas.microsoft.com/office/drawing/2014/main" id="{37FDAC00-8AD9-4506-84F8-F79CE4C49539}"/>
              </a:ext>
            </a:extLst>
          </p:cNvPr>
          <p:cNvSpPr>
            <a:spLocks noGrp="1"/>
          </p:cNvSpPr>
          <p:nvPr/>
        </p:nvSpPr>
        <p:spPr>
          <a:xfrm>
            <a:off x="514350" y="3505200"/>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14" name="Rectangle: Rounded Corners 13">
            <a:extLst>
              <a:ext uri="{FF2B5EF4-FFF2-40B4-BE49-F238E27FC236}">
                <a16:creationId xmlns:a16="http://schemas.microsoft.com/office/drawing/2014/main" id="{C6D276A1-3642-492F-9BF9-BF584766990D}"/>
              </a:ext>
            </a:extLst>
          </p:cNvPr>
          <p:cNvSpPr>
            <a:spLocks noGrp="1"/>
          </p:cNvSpPr>
          <p:nvPr/>
        </p:nvSpPr>
        <p:spPr>
          <a:xfrm>
            <a:off x="666750" y="3657600"/>
            <a:ext cx="361950" cy="361950"/>
          </a:xfrm>
          <a:prstGeom prst="roundRect">
            <a:avLst>
              <a:gd name="adj" fmla="val 21053"/>
            </a:avLst>
          </a:prstGeom>
          <a:solidFill>
            <a:srgbClr val="F2994A">
              <a:alpha val="8627"/>
            </a:srgbClr>
          </a:solidFill>
          <a:ln w="9525">
            <a:solidFill>
              <a:srgbClr val="F2994A"/>
            </a:solidFill>
          </a:ln>
        </p:spPr>
        <p:txBody>
          <a:bodyPr/>
          <a:lstStyle/>
          <a:p>
            <a:endParaRPr lang="en-US"/>
          </a:p>
        </p:txBody>
      </p:sp>
      <p:sp>
        <p:nvSpPr>
          <p:cNvPr id="15" name="Rectangle 14">
            <a:extLst>
              <a:ext uri="{FF2B5EF4-FFF2-40B4-BE49-F238E27FC236}">
                <a16:creationId xmlns:a16="http://schemas.microsoft.com/office/drawing/2014/main" id="{7867E2CB-35E0-4EB6-A0EC-3856DBEF627D}"/>
              </a:ext>
            </a:extLst>
          </p:cNvPr>
          <p:cNvSpPr>
            <a:spLocks noGrp="1"/>
          </p:cNvSpPr>
          <p:nvPr/>
        </p:nvSpPr>
        <p:spPr>
          <a:xfrm>
            <a:off x="1143000" y="3667125"/>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Record</a:t>
            </a:r>
          </a:p>
        </p:txBody>
      </p:sp>
      <p:sp>
        <p:nvSpPr>
          <p:cNvPr id="16" name="Rectangle 15">
            <a:extLst>
              <a:ext uri="{FF2B5EF4-FFF2-40B4-BE49-F238E27FC236}">
                <a16:creationId xmlns:a16="http://schemas.microsoft.com/office/drawing/2014/main" id="{E9D187FA-7A0E-43A2-93DB-FEF468B1C800}"/>
              </a:ext>
            </a:extLst>
          </p:cNvPr>
          <p:cNvSpPr>
            <a:spLocks noGrp="1"/>
          </p:cNvSpPr>
          <p:nvPr/>
        </p:nvSpPr>
        <p:spPr>
          <a:xfrm>
            <a:off x="1143000" y="3880485"/>
            <a:ext cx="1600200" cy="304800"/>
          </a:xfrm>
          <a:prstGeom prst="rect">
            <a:avLst/>
          </a:prstGeom>
          <a:noFill/>
          <a:ln w="0">
            <a:noFill/>
          </a:ln>
        </p:spPr>
        <p:txBody>
          <a:bodyPr>
            <a:noAutofit/>
          </a:bodyPr>
          <a:lstStyle/>
          <a:p>
            <a:pPr>
              <a:defRPr sz="1200">
                <a:solidFill>
                  <a:srgbClr val="5A6780"/>
                </a:solidFill>
                <a:latin typeface="Arial"/>
                <a:ea typeface="Arial"/>
                <a:cs typeface="Arial"/>
              </a:defRPr>
            </a:pPr>
            <a:r>
              <a:rPr sz="1200">
                <a:solidFill>
                  <a:srgbClr val="5A6780"/>
                </a:solidFill>
                <a:latin typeface="Arial"/>
                <a:ea typeface="Arial"/>
                <a:cs typeface="Arial"/>
              </a:rPr>
              <a:t>lưu offset dấu T1 đầu tiên mỗi block</a:t>
            </a:r>
          </a:p>
        </p:txBody>
      </p:sp>
      <p:sp>
        <p:nvSpPr>
          <p:cNvPr id="17" name="Rectangle: Rounded Corners 16">
            <a:extLst>
              <a:ext uri="{FF2B5EF4-FFF2-40B4-BE49-F238E27FC236}">
                <a16:creationId xmlns:a16="http://schemas.microsoft.com/office/drawing/2014/main" id="{37A90634-2E13-46D4-B568-B9E6203DC77B}"/>
              </a:ext>
            </a:extLst>
          </p:cNvPr>
          <p:cNvSpPr>
            <a:spLocks noGrp="1"/>
          </p:cNvSpPr>
          <p:nvPr/>
        </p:nvSpPr>
        <p:spPr>
          <a:xfrm>
            <a:off x="514350" y="4467225"/>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18" name="Rectangle: Rounded Corners 17">
            <a:extLst>
              <a:ext uri="{FF2B5EF4-FFF2-40B4-BE49-F238E27FC236}">
                <a16:creationId xmlns:a16="http://schemas.microsoft.com/office/drawing/2014/main" id="{6E344028-5453-4536-A1C9-347897C4C420}"/>
              </a:ext>
            </a:extLst>
          </p:cNvPr>
          <p:cNvSpPr>
            <a:spLocks noGrp="1"/>
          </p:cNvSpPr>
          <p:nvPr/>
        </p:nvSpPr>
        <p:spPr>
          <a:xfrm>
            <a:off x="666750" y="4619625"/>
            <a:ext cx="361950" cy="361950"/>
          </a:xfrm>
          <a:prstGeom prst="roundRect">
            <a:avLst>
              <a:gd name="adj" fmla="val 21053"/>
            </a:avLst>
          </a:prstGeom>
          <a:solidFill>
            <a:srgbClr val="25A36F">
              <a:alpha val="8627"/>
            </a:srgbClr>
          </a:solidFill>
          <a:ln w="9525">
            <a:solidFill>
              <a:srgbClr val="25A36F"/>
            </a:solidFill>
          </a:ln>
        </p:spPr>
        <p:txBody>
          <a:bodyPr/>
          <a:lstStyle/>
          <a:p>
            <a:endParaRPr lang="en-US"/>
          </a:p>
        </p:txBody>
      </p:sp>
      <p:sp>
        <p:nvSpPr>
          <p:cNvPr id="19" name="Rectangle 18">
            <a:extLst>
              <a:ext uri="{FF2B5EF4-FFF2-40B4-BE49-F238E27FC236}">
                <a16:creationId xmlns:a16="http://schemas.microsoft.com/office/drawing/2014/main" id="{713A12DE-F5B2-4A97-AF67-43699D59F951}"/>
              </a:ext>
            </a:extLst>
          </p:cNvPr>
          <p:cNvSpPr>
            <a:spLocks noGrp="1"/>
          </p:cNvSpPr>
          <p:nvPr/>
        </p:nvSpPr>
        <p:spPr>
          <a:xfrm>
            <a:off x="1143000" y="4629150"/>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Patch</a:t>
            </a:r>
          </a:p>
        </p:txBody>
      </p:sp>
      <p:sp>
        <p:nvSpPr>
          <p:cNvPr id="20" name="Rectangle 19">
            <a:extLst>
              <a:ext uri="{FF2B5EF4-FFF2-40B4-BE49-F238E27FC236}">
                <a16:creationId xmlns:a16="http://schemas.microsoft.com/office/drawing/2014/main" id="{167D2489-3625-4B7A-B28E-A1AC6F434338}"/>
              </a:ext>
            </a:extLst>
          </p:cNvPr>
          <p:cNvSpPr>
            <a:spLocks noGrp="1"/>
          </p:cNvSpPr>
          <p:nvPr/>
        </p:nvSpPr>
        <p:spPr>
          <a:xfrm>
            <a:off x="1143000" y="4867275"/>
            <a:ext cx="1600200" cy="304800"/>
          </a:xfrm>
          <a:prstGeom prst="rect">
            <a:avLst/>
          </a:prstGeom>
          <a:noFill/>
          <a:ln w="0">
            <a:noFill/>
          </a:ln>
        </p:spPr>
        <p:txBody>
          <a:bodyPr>
            <a:noAutofit/>
          </a:bodyPr>
          <a:lstStyle/>
          <a:p>
            <a:pPr>
              <a:defRPr sz="1200">
                <a:solidFill>
                  <a:srgbClr val="5A6780"/>
                </a:solidFill>
                <a:latin typeface="Arial"/>
                <a:ea typeface="Arial"/>
                <a:cs typeface="Arial"/>
              </a:defRPr>
            </a:pPr>
            <a:r>
              <a:rPr sz="1200">
                <a:solidFill>
                  <a:srgbClr val="5A6780"/>
                </a:solidFill>
                <a:latin typeface="Arial"/>
                <a:ea typeface="Arial"/>
                <a:cs typeface="Arial"/>
              </a:rPr>
              <a:t>lật đúng bit dấu theo lịch khóa</a:t>
            </a:r>
          </a:p>
        </p:txBody>
      </p:sp>
      <p:sp>
        <p:nvSpPr>
          <p:cNvPr id="21" name="Rectangle 20">
            <a:extLst>
              <a:ext uri="{FF2B5EF4-FFF2-40B4-BE49-F238E27FC236}">
                <a16:creationId xmlns:a16="http://schemas.microsoft.com/office/drawing/2014/main" id="{455B5207-EF46-44A1-80D7-5DF2500D5CA5}"/>
              </a:ext>
            </a:extLst>
          </p:cNvPr>
          <p:cNvSpPr>
            <a:spLocks noGrp="1"/>
          </p:cNvSpPr>
          <p:nvPr/>
        </p:nvSpPr>
        <p:spPr>
          <a:xfrm>
            <a:off x="3048000" y="5600700"/>
            <a:ext cx="832485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9 — Native parse và decode vừa đủ để ghi offset. zkstego_inspect xuất cùng dữ liệu (NAL, slice, ứng viên) dạng JSON.</a:t>
            </a:r>
          </a:p>
        </p:txBody>
      </p:sp>
      <p:sp>
        <p:nvSpPr>
          <p:cNvPr id="22" name="Rectangle 21">
            <a:extLst>
              <a:ext uri="{FF2B5EF4-FFF2-40B4-BE49-F238E27FC236}">
                <a16:creationId xmlns:a16="http://schemas.microsoft.com/office/drawing/2014/main" id="{4DD149A6-5F52-4CE1-AF83-C47E436A9880}"/>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23" name="Rectangle 22">
            <a:extLst>
              <a:ext uri="{FF2B5EF4-FFF2-40B4-BE49-F238E27FC236}">
                <a16:creationId xmlns:a16="http://schemas.microsoft.com/office/drawing/2014/main" id="{BC750E75-463A-41F5-BE36-09A70F8A4284}"/>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09</a:t>
            </a:r>
          </a:p>
        </p:txBody>
      </p:sp>
    </p:spTree>
    <p:extLst>
      <p:ext uri="{BB962C8B-B14F-4D97-AF65-F5344CB8AC3E}">
        <p14:creationId xmlns:p14="http://schemas.microsoft.com/office/powerpoint/2010/main" val="1645539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5EED2D-0EC3-4732-8B77-C16733A87BE7}"/>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Một block CAVLC chứa những gì?</a:t>
            </a:r>
          </a:p>
        </p:txBody>
      </p:sp>
      <p:sp>
        <p:nvSpPr>
          <p:cNvPr id="2" name="Rectangle 1">
            <a:extLst>
              <a:ext uri="{FF2B5EF4-FFF2-40B4-BE49-F238E27FC236}">
                <a16:creationId xmlns:a16="http://schemas.microsoft.com/office/drawing/2014/main" id="{35FC35DA-21C8-4234-B8C1-1B6E3BC96CB4}"/>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Ví dụ này bắt đầu từ một coefficient block 4×4, sau đó trải nó thành năm phần mà decoder đọc lần lượt.</a:t>
            </a:r>
          </a:p>
        </p:txBody>
      </p:sp>
      <p:sp>
        <p:nvSpPr>
          <p:cNvPr id="3" name="Straight Connector 2">
            <a:extLst>
              <a:ext uri="{FF2B5EF4-FFF2-40B4-BE49-F238E27FC236}">
                <a16:creationId xmlns:a16="http://schemas.microsoft.com/office/drawing/2014/main" id="{0043729B-2838-4C20-980F-BF08E66215D5}"/>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27" name="Picture 26"/>
          <p:cNvPicPr>
            <a:picLocks noChangeAspect="1"/>
          </p:cNvPicPr>
          <p:nvPr/>
        </p:nvPicPr>
        <p:blipFill>
          <a:blip r:embed="rId3"/>
          <a:srcRect t="30919" b="30919"/>
          <a:stretch>
            <a:fillRect/>
          </a:stretch>
        </p:blipFill>
        <p:spPr>
          <a:xfrm>
            <a:off x="552450" y="1543050"/>
            <a:ext cx="11087100" cy="2381250"/>
          </a:xfrm>
          <a:prstGeom prst="rect">
            <a:avLst/>
          </a:prstGeom>
        </p:spPr>
      </p:pic>
      <p:sp>
        <p:nvSpPr>
          <p:cNvPr id="5" name="Straight Connector 4">
            <a:extLst>
              <a:ext uri="{FF2B5EF4-FFF2-40B4-BE49-F238E27FC236}">
                <a16:creationId xmlns:a16="http://schemas.microsoft.com/office/drawing/2014/main" id="{0F65BD0A-ED33-48D1-AFB4-20B6E97A49D2}"/>
              </a:ext>
            </a:extLst>
          </p:cNvPr>
          <p:cNvSpPr>
            <a:spLocks noGrp="1"/>
          </p:cNvSpPr>
          <p:nvPr/>
        </p:nvSpPr>
        <p:spPr>
          <a:xfrm>
            <a:off x="3409950" y="4067175"/>
            <a:ext cx="4533900" cy="0"/>
          </a:xfrm>
          <a:prstGeom prst="line">
            <a:avLst/>
          </a:prstGeom>
          <a:noFill/>
          <a:ln w="19050">
            <a:solidFill>
              <a:srgbClr val="2667D8"/>
            </a:solidFill>
          </a:ln>
        </p:spPr>
        <p:txBody>
          <a:bodyPr/>
          <a:lstStyle/>
          <a:p>
            <a:endParaRPr lang="en-US"/>
          </a:p>
        </p:txBody>
      </p:sp>
      <p:sp>
        <p:nvSpPr>
          <p:cNvPr id="6" name="Rectangle 5">
            <a:extLst>
              <a:ext uri="{FF2B5EF4-FFF2-40B4-BE49-F238E27FC236}">
                <a16:creationId xmlns:a16="http://schemas.microsoft.com/office/drawing/2014/main" id="{42778C37-9373-4A53-B7FE-09488B2408C4}"/>
              </a:ext>
            </a:extLst>
          </p:cNvPr>
          <p:cNvSpPr>
            <a:spLocks noGrp="1"/>
          </p:cNvSpPr>
          <p:nvPr/>
        </p:nvSpPr>
        <p:spPr>
          <a:xfrm>
            <a:off x="3238500" y="4191000"/>
            <a:ext cx="1466850" cy="228600"/>
          </a:xfrm>
          <a:prstGeom prst="rect">
            <a:avLst/>
          </a:prstGeom>
          <a:noFill/>
          <a:ln w="0">
            <a:noFill/>
          </a:ln>
        </p:spPr>
        <p:txBody>
          <a:bodyPr>
            <a:normAutofit fontScale="66667"/>
          </a:bodyPr>
          <a:lstStyle/>
          <a:p>
            <a:pPr>
              <a:defRPr sz="1350" b="1">
                <a:solidFill>
                  <a:srgbClr val="2667D8"/>
                </a:solidFill>
                <a:latin typeface="Arial"/>
                <a:ea typeface="Arial"/>
                <a:cs typeface="Arial"/>
              </a:defRPr>
            </a:pPr>
            <a:r>
              <a:rPr sz="1350" b="1">
                <a:solidFill>
                  <a:srgbClr val="2667D8"/>
                </a:solidFill>
                <a:latin typeface="Arial"/>
                <a:ea typeface="Arial"/>
                <a:cs typeface="Arial"/>
              </a:rPr>
              <a:t>1. coeff_token</a:t>
            </a:r>
          </a:p>
        </p:txBody>
      </p:sp>
      <p:sp>
        <p:nvSpPr>
          <p:cNvPr id="7" name="Rectangle 6">
            <a:extLst>
              <a:ext uri="{FF2B5EF4-FFF2-40B4-BE49-F238E27FC236}">
                <a16:creationId xmlns:a16="http://schemas.microsoft.com/office/drawing/2014/main" id="{841D22DC-1EEE-47D3-A97D-FAD3A8665922}"/>
              </a:ext>
            </a:extLst>
          </p:cNvPr>
          <p:cNvSpPr>
            <a:spLocks noGrp="1"/>
          </p:cNvSpPr>
          <p:nvPr/>
        </p:nvSpPr>
        <p:spPr>
          <a:xfrm>
            <a:off x="3238500" y="4486275"/>
            <a:ext cx="1466850" cy="400050"/>
          </a:xfrm>
          <a:prstGeom prst="rect">
            <a:avLst/>
          </a:prstGeom>
          <a:noFill/>
          <a:ln w="0">
            <a:noFill/>
          </a:ln>
        </p:spPr>
        <p:txBody>
          <a:bodyPr>
            <a:normAutofit fontScale="84375"/>
          </a:bodyPr>
          <a:lstStyle/>
          <a:p>
            <a:pPr>
              <a:defRPr sz="1200">
                <a:solidFill>
                  <a:srgbClr val="5A6780"/>
                </a:solidFill>
                <a:latin typeface="Arial"/>
                <a:ea typeface="Arial"/>
                <a:cs typeface="Arial"/>
              </a:defRPr>
            </a:pPr>
            <a:r>
              <a:rPr sz="1200">
                <a:solidFill>
                  <a:srgbClr val="5A6780"/>
                </a:solidFill>
                <a:latin typeface="Arial"/>
                <a:ea typeface="Arial"/>
                <a:cs typeface="Arial"/>
              </a:rPr>
              <a:t>Đếm coefficient ≠ 0</a:t>
            </a:r>
          </a:p>
          <a:p>
            <a:pPr>
              <a:defRPr sz="1200">
                <a:solidFill>
                  <a:srgbClr val="5A6780"/>
                </a:solidFill>
                <a:latin typeface="Arial"/>
                <a:ea typeface="Arial"/>
                <a:cs typeface="Arial"/>
              </a:defRPr>
            </a:pPr>
            <a:r>
              <a:rPr sz="1200">
                <a:solidFill>
                  <a:srgbClr val="5A6780"/>
                </a:solidFill>
                <a:latin typeface="Arial"/>
                <a:ea typeface="Arial"/>
                <a:cs typeface="Arial"/>
              </a:rPr>
              <a:t>và số trailing-one</a:t>
            </a:r>
          </a:p>
        </p:txBody>
      </p:sp>
      <p:sp>
        <p:nvSpPr>
          <p:cNvPr id="8" name="Straight Connector 7">
            <a:extLst>
              <a:ext uri="{FF2B5EF4-FFF2-40B4-BE49-F238E27FC236}">
                <a16:creationId xmlns:a16="http://schemas.microsoft.com/office/drawing/2014/main" id="{BC5B2797-6395-4F4C-874E-02DFBE80FCD5}"/>
              </a:ext>
            </a:extLst>
          </p:cNvPr>
          <p:cNvSpPr>
            <a:spLocks noGrp="1"/>
          </p:cNvSpPr>
          <p:nvPr/>
        </p:nvSpPr>
        <p:spPr>
          <a:xfrm flipV="1">
            <a:off x="4933950" y="4048123"/>
            <a:ext cx="1628775" cy="19052"/>
          </a:xfrm>
          <a:prstGeom prst="line">
            <a:avLst/>
          </a:prstGeom>
          <a:noFill/>
          <a:ln w="19050">
            <a:solidFill>
              <a:srgbClr val="F2994A"/>
            </a:solidFill>
          </a:ln>
        </p:spPr>
        <p:txBody>
          <a:bodyPr/>
          <a:lstStyle/>
          <a:p>
            <a:endParaRPr lang="en-US"/>
          </a:p>
        </p:txBody>
      </p:sp>
      <p:sp>
        <p:nvSpPr>
          <p:cNvPr id="9" name="Rectangle 8">
            <a:extLst>
              <a:ext uri="{FF2B5EF4-FFF2-40B4-BE49-F238E27FC236}">
                <a16:creationId xmlns:a16="http://schemas.microsoft.com/office/drawing/2014/main" id="{5ED77F19-2046-4AB9-A441-67CD1A02AF25}"/>
              </a:ext>
            </a:extLst>
          </p:cNvPr>
          <p:cNvSpPr>
            <a:spLocks noGrp="1"/>
          </p:cNvSpPr>
          <p:nvPr/>
        </p:nvSpPr>
        <p:spPr>
          <a:xfrm>
            <a:off x="4762500" y="4191000"/>
            <a:ext cx="1752600" cy="228600"/>
          </a:xfrm>
          <a:prstGeom prst="rect">
            <a:avLst/>
          </a:prstGeom>
          <a:noFill/>
          <a:ln w="0">
            <a:noFill/>
          </a:ln>
        </p:spPr>
        <p:txBody>
          <a:bodyPr>
            <a:normAutofit fontScale="66667"/>
          </a:bodyPr>
          <a:lstStyle/>
          <a:p>
            <a:pPr>
              <a:defRPr sz="1350" b="1">
                <a:solidFill>
                  <a:srgbClr val="F2994A"/>
                </a:solidFill>
                <a:latin typeface="Arial"/>
                <a:ea typeface="Arial"/>
                <a:cs typeface="Arial"/>
              </a:defRPr>
            </a:pPr>
            <a:r>
              <a:rPr sz="1350" b="1">
                <a:solidFill>
                  <a:srgbClr val="F2994A"/>
                </a:solidFill>
                <a:latin typeface="Arial"/>
                <a:ea typeface="Arial"/>
                <a:cs typeface="Arial"/>
              </a:rPr>
              <a:t>2. T1 signs</a:t>
            </a:r>
          </a:p>
        </p:txBody>
      </p:sp>
      <p:sp>
        <p:nvSpPr>
          <p:cNvPr id="10" name="Rectangle 9">
            <a:extLst>
              <a:ext uri="{FF2B5EF4-FFF2-40B4-BE49-F238E27FC236}">
                <a16:creationId xmlns:a16="http://schemas.microsoft.com/office/drawing/2014/main" id="{68D9E8C5-CAAB-4A54-B173-28686C59C0C8}"/>
              </a:ext>
            </a:extLst>
          </p:cNvPr>
          <p:cNvSpPr>
            <a:spLocks noGrp="1"/>
          </p:cNvSpPr>
          <p:nvPr/>
        </p:nvSpPr>
        <p:spPr>
          <a:xfrm>
            <a:off x="4762500" y="4486275"/>
            <a:ext cx="1752600" cy="400050"/>
          </a:xfrm>
          <a:prstGeom prst="rect">
            <a:avLst/>
          </a:prstGeom>
          <a:noFill/>
          <a:ln w="0">
            <a:noFill/>
          </a:ln>
        </p:spPr>
        <p:txBody>
          <a:bodyPr>
            <a:normAutofit fontScale="84375"/>
          </a:bodyPr>
          <a:lstStyle/>
          <a:p>
            <a:pPr>
              <a:defRPr sz="1200">
                <a:solidFill>
                  <a:srgbClr val="5A6780"/>
                </a:solidFill>
                <a:latin typeface="Arial"/>
                <a:ea typeface="Arial"/>
                <a:cs typeface="Arial"/>
              </a:defRPr>
            </a:pPr>
            <a:r>
              <a:rPr sz="1200">
                <a:solidFill>
                  <a:srgbClr val="5A6780"/>
                </a:solidFill>
                <a:latin typeface="Arial"/>
                <a:ea typeface="Arial"/>
                <a:cs typeface="Arial"/>
              </a:rPr>
              <a:t>Dấu của ±1</a:t>
            </a:r>
          </a:p>
          <a:p>
            <a:pPr>
              <a:defRPr sz="1200">
                <a:solidFill>
                  <a:srgbClr val="5A6780"/>
                </a:solidFill>
                <a:latin typeface="Arial"/>
                <a:ea typeface="Arial"/>
                <a:cs typeface="Arial"/>
              </a:defRPr>
            </a:pPr>
            <a:r>
              <a:rPr sz="1200">
                <a:solidFill>
                  <a:srgbClr val="5A6780"/>
                </a:solidFill>
                <a:latin typeface="Arial"/>
                <a:ea typeface="Arial"/>
                <a:cs typeface="Arial"/>
              </a:rPr>
              <a:t>Vị trí có thể nhúng</a:t>
            </a:r>
          </a:p>
        </p:txBody>
      </p:sp>
      <p:sp>
        <p:nvSpPr>
          <p:cNvPr id="11" name="Straight Connector 10">
            <a:extLst>
              <a:ext uri="{FF2B5EF4-FFF2-40B4-BE49-F238E27FC236}">
                <a16:creationId xmlns:a16="http://schemas.microsoft.com/office/drawing/2014/main" id="{47D76E01-649B-4F6C-8F3B-ABDFED7684E8}"/>
              </a:ext>
            </a:extLst>
          </p:cNvPr>
          <p:cNvSpPr>
            <a:spLocks noGrp="1"/>
          </p:cNvSpPr>
          <p:nvPr/>
        </p:nvSpPr>
        <p:spPr>
          <a:xfrm flipV="1">
            <a:off x="6734175" y="4067142"/>
            <a:ext cx="1581150" cy="33"/>
          </a:xfrm>
          <a:prstGeom prst="line">
            <a:avLst/>
          </a:prstGeom>
          <a:noFill/>
          <a:ln w="19050">
            <a:solidFill>
              <a:srgbClr val="7555D9"/>
            </a:solidFill>
          </a:ln>
        </p:spPr>
        <p:txBody>
          <a:bodyPr/>
          <a:lstStyle/>
          <a:p>
            <a:endParaRPr lang="en-US"/>
          </a:p>
        </p:txBody>
      </p:sp>
      <p:sp>
        <p:nvSpPr>
          <p:cNvPr id="12" name="Rectangle 11">
            <a:extLst>
              <a:ext uri="{FF2B5EF4-FFF2-40B4-BE49-F238E27FC236}">
                <a16:creationId xmlns:a16="http://schemas.microsoft.com/office/drawing/2014/main" id="{FA2C3E18-4457-4001-9112-17C6BE720F2A}"/>
              </a:ext>
            </a:extLst>
          </p:cNvPr>
          <p:cNvSpPr>
            <a:spLocks noGrp="1"/>
          </p:cNvSpPr>
          <p:nvPr/>
        </p:nvSpPr>
        <p:spPr>
          <a:xfrm>
            <a:off x="6562725" y="4191000"/>
            <a:ext cx="1381125" cy="228600"/>
          </a:xfrm>
          <a:prstGeom prst="rect">
            <a:avLst/>
          </a:prstGeom>
          <a:noFill/>
          <a:ln w="0">
            <a:noFill/>
          </a:ln>
        </p:spPr>
        <p:txBody>
          <a:bodyPr>
            <a:normAutofit fontScale="66667"/>
          </a:bodyPr>
          <a:lstStyle/>
          <a:p>
            <a:pPr>
              <a:defRPr sz="1350" b="1">
                <a:solidFill>
                  <a:srgbClr val="7555D9"/>
                </a:solidFill>
                <a:latin typeface="Arial"/>
                <a:ea typeface="Arial"/>
                <a:cs typeface="Arial"/>
              </a:defRPr>
            </a:pPr>
            <a:r>
              <a:rPr sz="1350" b="1">
                <a:solidFill>
                  <a:srgbClr val="7555D9"/>
                </a:solidFill>
                <a:latin typeface="Arial"/>
                <a:ea typeface="Arial"/>
                <a:cs typeface="Arial"/>
              </a:rPr>
              <a:t>3. levels</a:t>
            </a:r>
          </a:p>
        </p:txBody>
      </p:sp>
      <p:sp>
        <p:nvSpPr>
          <p:cNvPr id="13" name="Rectangle 12">
            <a:extLst>
              <a:ext uri="{FF2B5EF4-FFF2-40B4-BE49-F238E27FC236}">
                <a16:creationId xmlns:a16="http://schemas.microsoft.com/office/drawing/2014/main" id="{462AA194-4BED-47D4-8CE6-56EE2CC70CCE}"/>
              </a:ext>
            </a:extLst>
          </p:cNvPr>
          <p:cNvSpPr>
            <a:spLocks noGrp="1"/>
          </p:cNvSpPr>
          <p:nvPr/>
        </p:nvSpPr>
        <p:spPr>
          <a:xfrm>
            <a:off x="6562725" y="4486275"/>
            <a:ext cx="1381125" cy="400050"/>
          </a:xfrm>
          <a:prstGeom prst="rect">
            <a:avLst/>
          </a:prstGeom>
          <a:noFill/>
          <a:ln w="0">
            <a:noFill/>
          </a:ln>
        </p:spPr>
        <p:txBody>
          <a:bodyPr>
            <a:normAutofit fontScale="84375"/>
          </a:bodyPr>
          <a:lstStyle/>
          <a:p>
            <a:pPr>
              <a:defRPr sz="1200">
                <a:solidFill>
                  <a:srgbClr val="5A6780"/>
                </a:solidFill>
                <a:latin typeface="Arial"/>
                <a:ea typeface="Arial"/>
                <a:cs typeface="Arial"/>
              </a:defRPr>
            </a:pPr>
            <a:r>
              <a:rPr sz="1200">
                <a:solidFill>
                  <a:srgbClr val="5A6780"/>
                </a:solidFill>
                <a:latin typeface="Arial"/>
                <a:ea typeface="Arial"/>
                <a:cs typeface="Arial"/>
              </a:rPr>
              <a:t>Magnitude của các</a:t>
            </a:r>
          </a:p>
          <a:p>
            <a:pPr>
              <a:defRPr sz="1200">
                <a:solidFill>
                  <a:srgbClr val="5A6780"/>
                </a:solidFill>
                <a:latin typeface="Arial"/>
                <a:ea typeface="Arial"/>
                <a:cs typeface="Arial"/>
              </a:defRPr>
            </a:pPr>
            <a:r>
              <a:rPr sz="1200">
                <a:solidFill>
                  <a:srgbClr val="5A6780"/>
                </a:solidFill>
                <a:latin typeface="Arial"/>
                <a:ea typeface="Arial"/>
                <a:cs typeface="Arial"/>
              </a:rPr>
              <a:t>coefficient còn lại</a:t>
            </a:r>
          </a:p>
        </p:txBody>
      </p:sp>
      <p:sp>
        <p:nvSpPr>
          <p:cNvPr id="14" name="Straight Connector 13">
            <a:extLst>
              <a:ext uri="{FF2B5EF4-FFF2-40B4-BE49-F238E27FC236}">
                <a16:creationId xmlns:a16="http://schemas.microsoft.com/office/drawing/2014/main" id="{1123EF72-4630-4160-9DDE-755C15B37EF5}"/>
              </a:ext>
            </a:extLst>
          </p:cNvPr>
          <p:cNvSpPr>
            <a:spLocks noGrp="1"/>
          </p:cNvSpPr>
          <p:nvPr/>
        </p:nvSpPr>
        <p:spPr>
          <a:xfrm flipV="1">
            <a:off x="8181976" y="4067163"/>
            <a:ext cx="1752600" cy="10"/>
          </a:xfrm>
          <a:prstGeom prst="line">
            <a:avLst/>
          </a:prstGeom>
          <a:noFill/>
          <a:ln w="19050">
            <a:solidFill>
              <a:srgbClr val="16A4C7"/>
            </a:solidFill>
          </a:ln>
        </p:spPr>
        <p:txBody>
          <a:bodyPr/>
          <a:lstStyle/>
          <a:p>
            <a:endParaRPr lang="en-US"/>
          </a:p>
        </p:txBody>
      </p:sp>
      <p:sp>
        <p:nvSpPr>
          <p:cNvPr id="15" name="Rectangle 14">
            <a:extLst>
              <a:ext uri="{FF2B5EF4-FFF2-40B4-BE49-F238E27FC236}">
                <a16:creationId xmlns:a16="http://schemas.microsoft.com/office/drawing/2014/main" id="{E3E69AC3-1BA8-457E-B811-E9322A40FAAA}"/>
              </a:ext>
            </a:extLst>
          </p:cNvPr>
          <p:cNvSpPr>
            <a:spLocks noGrp="1"/>
          </p:cNvSpPr>
          <p:nvPr/>
        </p:nvSpPr>
        <p:spPr>
          <a:xfrm>
            <a:off x="8010525" y="4191000"/>
            <a:ext cx="1676400" cy="228600"/>
          </a:xfrm>
          <a:prstGeom prst="rect">
            <a:avLst/>
          </a:prstGeom>
          <a:noFill/>
          <a:ln w="0">
            <a:noFill/>
          </a:ln>
        </p:spPr>
        <p:txBody>
          <a:bodyPr>
            <a:normAutofit fontScale="66667"/>
          </a:bodyPr>
          <a:lstStyle/>
          <a:p>
            <a:pPr>
              <a:defRPr sz="1350" b="1">
                <a:solidFill>
                  <a:srgbClr val="16A4C7"/>
                </a:solidFill>
                <a:latin typeface="Arial"/>
                <a:ea typeface="Arial"/>
                <a:cs typeface="Arial"/>
              </a:defRPr>
            </a:pPr>
            <a:r>
              <a:rPr sz="1350" b="1">
                <a:solidFill>
                  <a:srgbClr val="16A4C7"/>
                </a:solidFill>
                <a:latin typeface="Arial"/>
                <a:ea typeface="Arial"/>
                <a:cs typeface="Arial"/>
              </a:rPr>
              <a:t>4. total_zeros</a:t>
            </a:r>
          </a:p>
        </p:txBody>
      </p:sp>
      <p:sp>
        <p:nvSpPr>
          <p:cNvPr id="16" name="Rectangle 15">
            <a:extLst>
              <a:ext uri="{FF2B5EF4-FFF2-40B4-BE49-F238E27FC236}">
                <a16:creationId xmlns:a16="http://schemas.microsoft.com/office/drawing/2014/main" id="{D73998E4-888C-4BF7-9AEF-6119DF9A592A}"/>
              </a:ext>
            </a:extLst>
          </p:cNvPr>
          <p:cNvSpPr>
            <a:spLocks noGrp="1"/>
          </p:cNvSpPr>
          <p:nvPr/>
        </p:nvSpPr>
        <p:spPr>
          <a:xfrm>
            <a:off x="8010525" y="4486275"/>
            <a:ext cx="1676400" cy="400050"/>
          </a:xfrm>
          <a:prstGeom prst="rect">
            <a:avLst/>
          </a:prstGeom>
          <a:noFill/>
          <a:ln w="0">
            <a:noFill/>
          </a:ln>
        </p:spPr>
        <p:txBody>
          <a:bodyPr>
            <a:normAutofit fontScale="84375"/>
          </a:bodyPr>
          <a:lstStyle/>
          <a:p>
            <a:pPr>
              <a:defRPr sz="1200">
                <a:solidFill>
                  <a:srgbClr val="5A6780"/>
                </a:solidFill>
                <a:latin typeface="Arial"/>
                <a:ea typeface="Arial"/>
                <a:cs typeface="Arial"/>
              </a:defRPr>
            </a:pPr>
            <a:r>
              <a:rPr sz="1200">
                <a:solidFill>
                  <a:srgbClr val="5A6780"/>
                </a:solidFill>
                <a:latin typeface="Arial"/>
                <a:ea typeface="Arial"/>
                <a:cs typeface="Arial"/>
              </a:rPr>
              <a:t>Đếm zero xen giữa</a:t>
            </a:r>
          </a:p>
          <a:p>
            <a:pPr>
              <a:defRPr sz="1200">
                <a:solidFill>
                  <a:srgbClr val="5A6780"/>
                </a:solidFill>
                <a:latin typeface="Arial"/>
                <a:ea typeface="Arial"/>
                <a:cs typeface="Arial"/>
              </a:defRPr>
            </a:pPr>
            <a:r>
              <a:rPr sz="1200">
                <a:solidFill>
                  <a:srgbClr val="5A6780"/>
                </a:solidFill>
                <a:latin typeface="Arial"/>
                <a:ea typeface="Arial"/>
                <a:cs typeface="Arial"/>
              </a:rPr>
              <a:t>các coefficient</a:t>
            </a:r>
          </a:p>
        </p:txBody>
      </p:sp>
      <p:sp>
        <p:nvSpPr>
          <p:cNvPr id="17" name="Straight Connector 16">
            <a:extLst>
              <a:ext uri="{FF2B5EF4-FFF2-40B4-BE49-F238E27FC236}">
                <a16:creationId xmlns:a16="http://schemas.microsoft.com/office/drawing/2014/main" id="{3118675A-931C-4E6B-9E7D-49B659AB6392}"/>
              </a:ext>
            </a:extLst>
          </p:cNvPr>
          <p:cNvSpPr>
            <a:spLocks noGrp="1"/>
          </p:cNvSpPr>
          <p:nvPr/>
        </p:nvSpPr>
        <p:spPr>
          <a:xfrm flipV="1">
            <a:off x="9934576" y="4048124"/>
            <a:ext cx="1828800" cy="19051"/>
          </a:xfrm>
          <a:prstGeom prst="line">
            <a:avLst/>
          </a:prstGeom>
          <a:noFill/>
          <a:ln w="19050">
            <a:solidFill>
              <a:srgbClr val="25A36F"/>
            </a:solidFill>
          </a:ln>
        </p:spPr>
        <p:txBody>
          <a:bodyPr/>
          <a:lstStyle/>
          <a:p>
            <a:endParaRPr lang="en-US"/>
          </a:p>
        </p:txBody>
      </p:sp>
      <p:sp>
        <p:nvSpPr>
          <p:cNvPr id="18" name="Rectangle 17">
            <a:extLst>
              <a:ext uri="{FF2B5EF4-FFF2-40B4-BE49-F238E27FC236}">
                <a16:creationId xmlns:a16="http://schemas.microsoft.com/office/drawing/2014/main" id="{EB7B55E7-9428-4379-B020-BC92C569F74E}"/>
              </a:ext>
            </a:extLst>
          </p:cNvPr>
          <p:cNvSpPr>
            <a:spLocks noGrp="1"/>
          </p:cNvSpPr>
          <p:nvPr/>
        </p:nvSpPr>
        <p:spPr>
          <a:xfrm>
            <a:off x="9763125" y="4191000"/>
            <a:ext cx="1562100" cy="228600"/>
          </a:xfrm>
          <a:prstGeom prst="rect">
            <a:avLst/>
          </a:prstGeom>
          <a:noFill/>
          <a:ln w="0">
            <a:noFill/>
          </a:ln>
        </p:spPr>
        <p:txBody>
          <a:bodyPr>
            <a:normAutofit fontScale="66667"/>
          </a:bodyPr>
          <a:lstStyle/>
          <a:p>
            <a:pPr>
              <a:defRPr sz="1350" b="1">
                <a:solidFill>
                  <a:srgbClr val="25A36F"/>
                </a:solidFill>
                <a:latin typeface="Arial"/>
                <a:ea typeface="Arial"/>
                <a:cs typeface="Arial"/>
              </a:defRPr>
            </a:pPr>
            <a:r>
              <a:rPr sz="1350" b="1">
                <a:solidFill>
                  <a:srgbClr val="25A36F"/>
                </a:solidFill>
                <a:latin typeface="Arial"/>
                <a:ea typeface="Arial"/>
                <a:cs typeface="Arial"/>
              </a:rPr>
              <a:t>5. run_before</a:t>
            </a:r>
          </a:p>
        </p:txBody>
      </p:sp>
      <p:sp>
        <p:nvSpPr>
          <p:cNvPr id="19" name="Rectangle 18">
            <a:extLst>
              <a:ext uri="{FF2B5EF4-FFF2-40B4-BE49-F238E27FC236}">
                <a16:creationId xmlns:a16="http://schemas.microsoft.com/office/drawing/2014/main" id="{2C2D2FE9-EE1D-48B4-AFB4-3714AA094805}"/>
              </a:ext>
            </a:extLst>
          </p:cNvPr>
          <p:cNvSpPr>
            <a:spLocks noGrp="1"/>
          </p:cNvSpPr>
          <p:nvPr/>
        </p:nvSpPr>
        <p:spPr>
          <a:xfrm>
            <a:off x="9763125" y="4486275"/>
            <a:ext cx="1562100" cy="400050"/>
          </a:xfrm>
          <a:prstGeom prst="rect">
            <a:avLst/>
          </a:prstGeom>
          <a:noFill/>
          <a:ln w="0">
            <a:noFill/>
          </a:ln>
        </p:spPr>
        <p:txBody>
          <a:bodyPr>
            <a:normAutofit fontScale="84375"/>
          </a:bodyPr>
          <a:lstStyle/>
          <a:p>
            <a:pPr>
              <a:defRPr sz="1200">
                <a:solidFill>
                  <a:srgbClr val="5A6780"/>
                </a:solidFill>
                <a:latin typeface="Arial"/>
                <a:ea typeface="Arial"/>
                <a:cs typeface="Arial"/>
              </a:defRPr>
            </a:pPr>
            <a:r>
              <a:rPr sz="1200">
                <a:solidFill>
                  <a:srgbClr val="5A6780"/>
                </a:solidFill>
                <a:latin typeface="Arial"/>
                <a:ea typeface="Arial"/>
                <a:cs typeface="Arial"/>
              </a:rPr>
              <a:t>Phân bổ zero trước</a:t>
            </a:r>
          </a:p>
          <a:p>
            <a:pPr>
              <a:defRPr sz="1200">
                <a:solidFill>
                  <a:srgbClr val="5A6780"/>
                </a:solidFill>
                <a:latin typeface="Arial"/>
                <a:ea typeface="Arial"/>
                <a:cs typeface="Arial"/>
              </a:defRPr>
            </a:pPr>
            <a:r>
              <a:rPr sz="1200">
                <a:solidFill>
                  <a:srgbClr val="5A6780"/>
                </a:solidFill>
                <a:latin typeface="Arial"/>
                <a:ea typeface="Arial"/>
                <a:cs typeface="Arial"/>
              </a:rPr>
              <a:t>từng coefficient</a:t>
            </a:r>
          </a:p>
        </p:txBody>
      </p:sp>
      <p:sp>
        <p:nvSpPr>
          <p:cNvPr id="20" name="Rectangle 19">
            <a:extLst>
              <a:ext uri="{FF2B5EF4-FFF2-40B4-BE49-F238E27FC236}">
                <a16:creationId xmlns:a16="http://schemas.microsoft.com/office/drawing/2014/main" id="{4D2B8B9C-727A-4280-A110-69DE36EC6AC7}"/>
              </a:ext>
            </a:extLst>
          </p:cNvPr>
          <p:cNvSpPr>
            <a:spLocks noGrp="1"/>
          </p:cNvSpPr>
          <p:nvPr/>
        </p:nvSpPr>
        <p:spPr>
          <a:xfrm>
            <a:off x="1200150" y="5086350"/>
            <a:ext cx="9791700" cy="219075"/>
          </a:xfrm>
          <a:prstGeom prst="rect">
            <a:avLst/>
          </a:prstGeom>
          <a:noFill/>
          <a:ln w="0">
            <a:noFill/>
          </a:ln>
        </p:spPr>
        <p:txBody>
          <a:bodyPr>
            <a:normAutofit fontScale="58772"/>
          </a:bodyPr>
          <a:lstStyle/>
          <a:p>
            <a:pPr>
              <a:defRPr sz="1425" b="1">
                <a:solidFill>
                  <a:srgbClr val="0B1B35"/>
                </a:solidFill>
                <a:latin typeface="Arial"/>
                <a:ea typeface="Arial"/>
                <a:cs typeface="Arial"/>
              </a:defRPr>
            </a:pPr>
            <a:r>
              <a:rPr sz="1425" b="1">
                <a:solidFill>
                  <a:srgbClr val="0B1B35"/>
                </a:solidFill>
                <a:latin typeface="Arial"/>
                <a:ea typeface="Arial"/>
                <a:cs typeface="Arial"/>
              </a:rPr>
              <a:t>Coefficient block ở bên trái là dữ liệu gốc. Năm vùng màu còn lại là các trường CAVLC decoder đọc theo thứ tự.</a:t>
            </a:r>
          </a:p>
        </p:txBody>
      </p:sp>
      <p:sp>
        <p:nvSpPr>
          <p:cNvPr id="21" name="Rectangle 20">
            <a:extLst>
              <a:ext uri="{FF2B5EF4-FFF2-40B4-BE49-F238E27FC236}">
                <a16:creationId xmlns:a16="http://schemas.microsoft.com/office/drawing/2014/main" id="{D5DDB45A-0A2F-460E-B328-CE5FD975B401}"/>
              </a:ext>
            </a:extLst>
          </p:cNvPr>
          <p:cNvSpPr>
            <a:spLocks noGrp="1"/>
          </p:cNvSpPr>
          <p:nvPr/>
        </p:nvSpPr>
        <p:spPr>
          <a:xfrm>
            <a:off x="1200150" y="5505450"/>
            <a:ext cx="97917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10 — Chỉ vùng cam T1 signs mang dấu ±1; native lấy dấu trailing-one đầu tiên của mỗi block làm ứng viên.</a:t>
            </a:r>
          </a:p>
        </p:txBody>
      </p:sp>
      <p:sp>
        <p:nvSpPr>
          <p:cNvPr id="22" name="Rectangle 21">
            <a:extLst>
              <a:ext uri="{FF2B5EF4-FFF2-40B4-BE49-F238E27FC236}">
                <a16:creationId xmlns:a16="http://schemas.microsoft.com/office/drawing/2014/main" id="{90725BEC-0399-469B-8FE0-BC97A8798CF3}"/>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23" name="Rectangle 22">
            <a:extLst>
              <a:ext uri="{FF2B5EF4-FFF2-40B4-BE49-F238E27FC236}">
                <a16:creationId xmlns:a16="http://schemas.microsoft.com/office/drawing/2014/main" id="{DC29F551-BD58-478A-AF16-112EEA271AFB}"/>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10</a:t>
            </a:r>
          </a:p>
        </p:txBody>
      </p:sp>
    </p:spTree>
    <p:extLst>
      <p:ext uri="{BB962C8B-B14F-4D97-AF65-F5344CB8AC3E}">
        <p14:creationId xmlns:p14="http://schemas.microsoft.com/office/powerpoint/2010/main" val="1983823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003F35-BF08-4911-B8D9-359FEFCF79B6}"/>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Vì sao đổi dấu T1 an toàn + chọn vị trí bằng khóa</a:t>
            </a:r>
          </a:p>
        </p:txBody>
      </p:sp>
      <p:sp>
        <p:nvSpPr>
          <p:cNvPr id="2" name="Rectangle 1">
            <a:extLst>
              <a:ext uri="{FF2B5EF4-FFF2-40B4-BE49-F238E27FC236}">
                <a16:creationId xmlns:a16="http://schemas.microsoft.com/office/drawing/2014/main" id="{0B8352EB-D9AC-4334-8210-DFAF3288A09B}"/>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Mỗi block góp một ứng viên; lật dấu không làm lệch stream. Vị trí nhúng do HMAC theo khóa con quyết định.</a:t>
            </a:r>
          </a:p>
        </p:txBody>
      </p:sp>
      <p:sp>
        <p:nvSpPr>
          <p:cNvPr id="3" name="Straight Connector 2">
            <a:extLst>
              <a:ext uri="{FF2B5EF4-FFF2-40B4-BE49-F238E27FC236}">
                <a16:creationId xmlns:a16="http://schemas.microsoft.com/office/drawing/2014/main" id="{EB88B296-CEF9-4386-82A9-2F4E8822FCA0}"/>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25" name="Picture 24"/>
          <p:cNvPicPr>
            <a:picLocks noChangeAspect="1"/>
          </p:cNvPicPr>
          <p:nvPr/>
        </p:nvPicPr>
        <p:blipFill>
          <a:blip r:embed="rId3"/>
          <a:stretch/>
        </p:blipFill>
        <p:spPr>
          <a:xfrm>
            <a:off x="4380832" y="1828800"/>
            <a:ext cx="5449636" cy="3067050"/>
          </a:xfrm>
          <a:prstGeom prst="rect">
            <a:avLst/>
          </a:prstGeom>
        </p:spPr>
      </p:pic>
      <p:sp>
        <p:nvSpPr>
          <p:cNvPr id="5" name="Rectangle: Rounded Corners 4">
            <a:extLst>
              <a:ext uri="{FF2B5EF4-FFF2-40B4-BE49-F238E27FC236}">
                <a16:creationId xmlns:a16="http://schemas.microsoft.com/office/drawing/2014/main" id="{F88C7A5D-47CE-4A23-984A-472C21CBBC6C}"/>
              </a:ext>
            </a:extLst>
          </p:cNvPr>
          <p:cNvSpPr>
            <a:spLocks noGrp="1"/>
          </p:cNvSpPr>
          <p:nvPr/>
        </p:nvSpPr>
        <p:spPr>
          <a:xfrm>
            <a:off x="533400" y="1543050"/>
            <a:ext cx="2533650" cy="742950"/>
          </a:xfrm>
          <a:prstGeom prst="roundRect">
            <a:avLst>
              <a:gd name="adj" fmla="val 10256"/>
            </a:avLst>
          </a:prstGeom>
          <a:solidFill>
            <a:srgbClr val="F5F8FC"/>
          </a:solidFill>
          <a:ln w="9525">
            <a:solidFill>
              <a:srgbClr val="D6DFEB"/>
            </a:solidFill>
          </a:ln>
        </p:spPr>
        <p:txBody>
          <a:bodyPr/>
          <a:lstStyle/>
          <a:p>
            <a:endParaRPr lang="en-US"/>
          </a:p>
        </p:txBody>
      </p:sp>
      <p:sp>
        <p:nvSpPr>
          <p:cNvPr id="6" name="Rectangle 5">
            <a:extLst>
              <a:ext uri="{FF2B5EF4-FFF2-40B4-BE49-F238E27FC236}">
                <a16:creationId xmlns:a16="http://schemas.microsoft.com/office/drawing/2014/main" id="{D7C89701-45AB-4323-AE21-C4B2AB7CE02B}"/>
              </a:ext>
            </a:extLst>
          </p:cNvPr>
          <p:cNvSpPr>
            <a:spLocks noGrp="1"/>
          </p:cNvSpPr>
          <p:nvPr/>
        </p:nvSpPr>
        <p:spPr>
          <a:xfrm>
            <a:off x="742950" y="1657350"/>
            <a:ext cx="2095500" cy="238125"/>
          </a:xfrm>
          <a:prstGeom prst="rect">
            <a:avLst/>
          </a:prstGeom>
          <a:noFill/>
          <a:ln w="0">
            <a:noFill/>
          </a:ln>
        </p:spPr>
        <p:txBody>
          <a:bodyPr>
            <a:normAutofit fontScale="71296"/>
          </a:bodyPr>
          <a:lstStyle/>
          <a:p>
            <a:pPr>
              <a:defRPr sz="1350" b="1">
                <a:solidFill>
                  <a:srgbClr val="2667D8"/>
                </a:solidFill>
                <a:latin typeface="Arial"/>
                <a:ea typeface="Arial"/>
                <a:cs typeface="Arial"/>
              </a:defRPr>
            </a:pPr>
            <a:r>
              <a:rPr sz="1350" b="1">
                <a:solidFill>
                  <a:srgbClr val="2667D8"/>
                </a:solidFill>
                <a:latin typeface="Arial"/>
                <a:ea typeface="Arial"/>
                <a:cs typeface="Arial"/>
              </a:rPr>
              <a:t>1. Đúng vùng hỗ trợ</a:t>
            </a:r>
          </a:p>
        </p:txBody>
      </p:sp>
      <p:sp>
        <p:nvSpPr>
          <p:cNvPr id="7" name="Rectangle 6">
            <a:extLst>
              <a:ext uri="{FF2B5EF4-FFF2-40B4-BE49-F238E27FC236}">
                <a16:creationId xmlns:a16="http://schemas.microsoft.com/office/drawing/2014/main" id="{4787F68D-9033-491D-9E14-70A85789DB7F}"/>
              </a:ext>
            </a:extLst>
          </p:cNvPr>
          <p:cNvSpPr>
            <a:spLocks noGrp="1"/>
          </p:cNvSpPr>
          <p:nvPr/>
        </p:nvSpPr>
        <p:spPr>
          <a:xfrm>
            <a:off x="742950" y="1981200"/>
            <a:ext cx="2095500" cy="228600"/>
          </a:xfrm>
          <a:prstGeom prst="rect">
            <a:avLst/>
          </a:prstGeom>
          <a:noFill/>
          <a:ln w="0">
            <a:noFill/>
          </a:ln>
        </p:spPr>
        <p:txBody>
          <a:bodyPr>
            <a:normAutofit fontScale="75000"/>
          </a:bodyPr>
          <a:lstStyle/>
          <a:p>
            <a:pPr>
              <a:defRPr sz="1200">
                <a:solidFill>
                  <a:srgbClr val="5A6780"/>
                </a:solidFill>
                <a:latin typeface="Arial"/>
                <a:ea typeface="Arial"/>
                <a:cs typeface="Arial"/>
              </a:defRPr>
            </a:pPr>
            <a:r>
              <a:rPr sz="1200">
                <a:solidFill>
                  <a:srgbClr val="5A6780"/>
                </a:solidFill>
                <a:latin typeface="Arial"/>
                <a:ea typeface="Arial"/>
                <a:cs typeface="Arial"/>
              </a:rPr>
              <a:t>Annex-B, IDR, CAVLC (Baseline)</a:t>
            </a:r>
          </a:p>
        </p:txBody>
      </p:sp>
      <p:sp>
        <p:nvSpPr>
          <p:cNvPr id="8" name="Rectangle: Rounded Corners 7">
            <a:extLst>
              <a:ext uri="{FF2B5EF4-FFF2-40B4-BE49-F238E27FC236}">
                <a16:creationId xmlns:a16="http://schemas.microsoft.com/office/drawing/2014/main" id="{005E245A-0447-4AD9-8EE2-B901296A34F9}"/>
              </a:ext>
            </a:extLst>
          </p:cNvPr>
          <p:cNvSpPr>
            <a:spLocks noGrp="1"/>
          </p:cNvSpPr>
          <p:nvPr/>
        </p:nvSpPr>
        <p:spPr>
          <a:xfrm>
            <a:off x="533400" y="2409825"/>
            <a:ext cx="2533650" cy="742950"/>
          </a:xfrm>
          <a:prstGeom prst="roundRect">
            <a:avLst>
              <a:gd name="adj" fmla="val 10256"/>
            </a:avLst>
          </a:prstGeom>
          <a:solidFill>
            <a:srgbClr val="F5F8FC"/>
          </a:solidFill>
          <a:ln w="9525">
            <a:solidFill>
              <a:srgbClr val="D6DFEB"/>
            </a:solidFill>
          </a:ln>
        </p:spPr>
        <p:txBody>
          <a:bodyPr/>
          <a:lstStyle/>
          <a:p>
            <a:endParaRPr lang="en-US"/>
          </a:p>
        </p:txBody>
      </p:sp>
      <p:sp>
        <p:nvSpPr>
          <p:cNvPr id="9" name="Rectangle 8">
            <a:extLst>
              <a:ext uri="{FF2B5EF4-FFF2-40B4-BE49-F238E27FC236}">
                <a16:creationId xmlns:a16="http://schemas.microsoft.com/office/drawing/2014/main" id="{BC718EAE-0B4F-4E2A-AB6B-D55090479E75}"/>
              </a:ext>
            </a:extLst>
          </p:cNvPr>
          <p:cNvSpPr>
            <a:spLocks noGrp="1"/>
          </p:cNvSpPr>
          <p:nvPr/>
        </p:nvSpPr>
        <p:spPr>
          <a:xfrm>
            <a:off x="742950" y="2524125"/>
            <a:ext cx="2095500" cy="238125"/>
          </a:xfrm>
          <a:prstGeom prst="rect">
            <a:avLst/>
          </a:prstGeom>
          <a:noFill/>
          <a:ln w="0">
            <a:noFill/>
          </a:ln>
        </p:spPr>
        <p:txBody>
          <a:bodyPr>
            <a:normAutofit fontScale="71296"/>
          </a:bodyPr>
          <a:lstStyle/>
          <a:p>
            <a:pPr>
              <a:defRPr sz="1350" b="1">
                <a:solidFill>
                  <a:srgbClr val="F2994A"/>
                </a:solidFill>
                <a:latin typeface="Arial"/>
                <a:ea typeface="Arial"/>
                <a:cs typeface="Arial"/>
              </a:defRPr>
            </a:pPr>
            <a:r>
              <a:rPr sz="1350" b="1">
                <a:solidFill>
                  <a:srgbClr val="F2994A"/>
                </a:solidFill>
                <a:latin typeface="Arial"/>
                <a:ea typeface="Arial"/>
                <a:cs typeface="Arial"/>
              </a:rPr>
              <a:t>2. Một ứng viên mỗi block</a:t>
            </a:r>
          </a:p>
        </p:txBody>
      </p:sp>
      <p:sp>
        <p:nvSpPr>
          <p:cNvPr id="10" name="Rectangle 9">
            <a:extLst>
              <a:ext uri="{FF2B5EF4-FFF2-40B4-BE49-F238E27FC236}">
                <a16:creationId xmlns:a16="http://schemas.microsoft.com/office/drawing/2014/main" id="{7D6E0CC4-BE73-423C-B5A6-DBF8AF941AA4}"/>
              </a:ext>
            </a:extLst>
          </p:cNvPr>
          <p:cNvSpPr>
            <a:spLocks noGrp="1"/>
          </p:cNvSpPr>
          <p:nvPr/>
        </p:nvSpPr>
        <p:spPr>
          <a:xfrm>
            <a:off x="742950" y="2847975"/>
            <a:ext cx="2095500" cy="228600"/>
          </a:xfrm>
          <a:prstGeom prst="rect">
            <a:avLst/>
          </a:prstGeom>
          <a:noFill/>
          <a:ln w="0">
            <a:noFill/>
          </a:ln>
        </p:spPr>
        <p:txBody>
          <a:bodyPr>
            <a:normAutofit fontScale="75000"/>
          </a:bodyPr>
          <a:lstStyle/>
          <a:p>
            <a:pPr>
              <a:defRPr sz="1200">
                <a:solidFill>
                  <a:srgbClr val="5A6780"/>
                </a:solidFill>
                <a:latin typeface="Arial"/>
                <a:ea typeface="Arial"/>
                <a:cs typeface="Arial"/>
              </a:defRPr>
            </a:pPr>
            <a:r>
              <a:rPr sz="1200">
                <a:solidFill>
                  <a:srgbClr val="5A6780"/>
                </a:solidFill>
                <a:latin typeface="Arial"/>
                <a:ea typeface="Arial"/>
                <a:cs typeface="Arial"/>
              </a:rPr>
              <a:t>Dấu trailing-one đầu tiên</a:t>
            </a:r>
          </a:p>
        </p:txBody>
      </p:sp>
      <p:sp>
        <p:nvSpPr>
          <p:cNvPr id="11" name="Rectangle: Rounded Corners 10">
            <a:extLst>
              <a:ext uri="{FF2B5EF4-FFF2-40B4-BE49-F238E27FC236}">
                <a16:creationId xmlns:a16="http://schemas.microsoft.com/office/drawing/2014/main" id="{7398C0EE-9372-4523-9FC9-3E16A6DB2B62}"/>
              </a:ext>
            </a:extLst>
          </p:cNvPr>
          <p:cNvSpPr>
            <a:spLocks noGrp="1"/>
          </p:cNvSpPr>
          <p:nvPr/>
        </p:nvSpPr>
        <p:spPr>
          <a:xfrm>
            <a:off x="533400" y="3276600"/>
            <a:ext cx="2533650" cy="742950"/>
          </a:xfrm>
          <a:prstGeom prst="roundRect">
            <a:avLst>
              <a:gd name="adj" fmla="val 10256"/>
            </a:avLst>
          </a:prstGeom>
          <a:solidFill>
            <a:srgbClr val="F5F8FC"/>
          </a:solidFill>
          <a:ln w="9525">
            <a:solidFill>
              <a:srgbClr val="D6DFEB"/>
            </a:solidFill>
          </a:ln>
        </p:spPr>
        <p:txBody>
          <a:bodyPr/>
          <a:lstStyle/>
          <a:p>
            <a:endParaRPr lang="en-US"/>
          </a:p>
        </p:txBody>
      </p:sp>
      <p:sp>
        <p:nvSpPr>
          <p:cNvPr id="12" name="Rectangle 11">
            <a:extLst>
              <a:ext uri="{FF2B5EF4-FFF2-40B4-BE49-F238E27FC236}">
                <a16:creationId xmlns:a16="http://schemas.microsoft.com/office/drawing/2014/main" id="{AA4B30CC-79D3-4EDD-9537-BBAF6BACB346}"/>
              </a:ext>
            </a:extLst>
          </p:cNvPr>
          <p:cNvSpPr>
            <a:spLocks noGrp="1"/>
          </p:cNvSpPr>
          <p:nvPr/>
        </p:nvSpPr>
        <p:spPr>
          <a:xfrm>
            <a:off x="742950" y="3390900"/>
            <a:ext cx="2095500" cy="238125"/>
          </a:xfrm>
          <a:prstGeom prst="rect">
            <a:avLst/>
          </a:prstGeom>
          <a:noFill/>
          <a:ln w="0">
            <a:noFill/>
          </a:ln>
        </p:spPr>
        <p:txBody>
          <a:bodyPr>
            <a:normAutofit fontScale="71296"/>
          </a:bodyPr>
          <a:lstStyle/>
          <a:p>
            <a:pPr>
              <a:defRPr sz="1350" b="1">
                <a:solidFill>
                  <a:srgbClr val="25A36F"/>
                </a:solidFill>
                <a:latin typeface="Arial"/>
                <a:ea typeface="Arial"/>
                <a:cs typeface="Arial"/>
              </a:defRPr>
            </a:pPr>
            <a:r>
              <a:rPr sz="1350" b="1">
                <a:solidFill>
                  <a:srgbClr val="25A36F"/>
                </a:solidFill>
                <a:latin typeface="Arial"/>
                <a:ea typeface="Arial"/>
                <a:cs typeface="Arial"/>
              </a:rPr>
              <a:t>3. Không lệch stream</a:t>
            </a:r>
          </a:p>
        </p:txBody>
      </p:sp>
      <p:sp>
        <p:nvSpPr>
          <p:cNvPr id="13" name="Rectangle 12">
            <a:extLst>
              <a:ext uri="{FF2B5EF4-FFF2-40B4-BE49-F238E27FC236}">
                <a16:creationId xmlns:a16="http://schemas.microsoft.com/office/drawing/2014/main" id="{32264DCE-6D69-4479-81D9-DD1C363AB049}"/>
              </a:ext>
            </a:extLst>
          </p:cNvPr>
          <p:cNvSpPr>
            <a:spLocks noGrp="1"/>
          </p:cNvSpPr>
          <p:nvPr/>
        </p:nvSpPr>
        <p:spPr>
          <a:xfrm>
            <a:off x="742950" y="3714750"/>
            <a:ext cx="2095500" cy="228600"/>
          </a:xfrm>
          <a:prstGeom prst="rect">
            <a:avLst/>
          </a:prstGeom>
          <a:noFill/>
          <a:ln w="0">
            <a:noFill/>
          </a:ln>
        </p:spPr>
        <p:txBody>
          <a:bodyPr>
            <a:normAutofit fontScale="75000"/>
          </a:bodyPr>
          <a:lstStyle/>
          <a:p>
            <a:pPr>
              <a:defRPr sz="1200">
                <a:solidFill>
                  <a:srgbClr val="5A6780"/>
                </a:solidFill>
                <a:latin typeface="Arial"/>
                <a:ea typeface="Arial"/>
                <a:cs typeface="Arial"/>
              </a:defRPr>
            </a:pPr>
            <a:r>
              <a:rPr sz="1200">
                <a:solidFill>
                  <a:srgbClr val="5A6780"/>
                </a:solidFill>
                <a:latin typeface="Arial"/>
                <a:ea typeface="Arial"/>
                <a:cs typeface="Arial"/>
              </a:rPr>
              <a:t>Giữ độ dài mã, nC, cú pháp sau</a:t>
            </a:r>
          </a:p>
        </p:txBody>
      </p:sp>
      <p:sp>
        <p:nvSpPr>
          <p:cNvPr id="14" name="Rectangle: Rounded Corners 13">
            <a:extLst>
              <a:ext uri="{FF2B5EF4-FFF2-40B4-BE49-F238E27FC236}">
                <a16:creationId xmlns:a16="http://schemas.microsoft.com/office/drawing/2014/main" id="{85B6DF5E-5F95-45F4-844E-873F84C3DEC7}"/>
              </a:ext>
            </a:extLst>
          </p:cNvPr>
          <p:cNvSpPr>
            <a:spLocks noGrp="1"/>
          </p:cNvSpPr>
          <p:nvPr/>
        </p:nvSpPr>
        <p:spPr>
          <a:xfrm>
            <a:off x="533400" y="4143375"/>
            <a:ext cx="2533650" cy="742950"/>
          </a:xfrm>
          <a:prstGeom prst="roundRect">
            <a:avLst>
              <a:gd name="adj" fmla="val 10256"/>
            </a:avLst>
          </a:prstGeom>
          <a:solidFill>
            <a:srgbClr val="F5F8FC"/>
          </a:solidFill>
          <a:ln w="9525">
            <a:solidFill>
              <a:srgbClr val="D6DFEB"/>
            </a:solidFill>
          </a:ln>
        </p:spPr>
        <p:txBody>
          <a:bodyPr/>
          <a:lstStyle/>
          <a:p>
            <a:endParaRPr lang="en-US"/>
          </a:p>
        </p:txBody>
      </p:sp>
      <p:sp>
        <p:nvSpPr>
          <p:cNvPr id="15" name="Rectangle 14">
            <a:extLst>
              <a:ext uri="{FF2B5EF4-FFF2-40B4-BE49-F238E27FC236}">
                <a16:creationId xmlns:a16="http://schemas.microsoft.com/office/drawing/2014/main" id="{0E86CE35-5E9F-4FE3-A7AE-F38D16F48ACF}"/>
              </a:ext>
            </a:extLst>
          </p:cNvPr>
          <p:cNvSpPr>
            <a:spLocks noGrp="1"/>
          </p:cNvSpPr>
          <p:nvPr/>
        </p:nvSpPr>
        <p:spPr>
          <a:xfrm>
            <a:off x="742950" y="4257675"/>
            <a:ext cx="2095500" cy="238125"/>
          </a:xfrm>
          <a:prstGeom prst="rect">
            <a:avLst/>
          </a:prstGeom>
          <a:noFill/>
          <a:ln w="0">
            <a:noFill/>
          </a:ln>
        </p:spPr>
        <p:txBody>
          <a:bodyPr>
            <a:normAutofit fontScale="71296"/>
          </a:bodyPr>
          <a:lstStyle/>
          <a:p>
            <a:pPr>
              <a:defRPr sz="1350" b="1">
                <a:solidFill>
                  <a:srgbClr val="16A4C7"/>
                </a:solidFill>
                <a:latin typeface="Arial"/>
                <a:ea typeface="Arial"/>
                <a:cs typeface="Arial"/>
              </a:defRPr>
            </a:pPr>
            <a:r>
              <a:rPr sz="1350" b="1">
                <a:solidFill>
                  <a:srgbClr val="16A4C7"/>
                </a:solidFill>
                <a:latin typeface="Arial"/>
                <a:ea typeface="Arial"/>
                <a:cs typeface="Arial"/>
              </a:rPr>
              <a:t>4. Vị trí do khóa</a:t>
            </a:r>
          </a:p>
        </p:txBody>
      </p:sp>
      <p:sp>
        <p:nvSpPr>
          <p:cNvPr id="16" name="Rectangle 15">
            <a:extLst>
              <a:ext uri="{FF2B5EF4-FFF2-40B4-BE49-F238E27FC236}">
                <a16:creationId xmlns:a16="http://schemas.microsoft.com/office/drawing/2014/main" id="{7F92A7A0-71FC-4FB0-8280-F230D565DCD2}"/>
              </a:ext>
            </a:extLst>
          </p:cNvPr>
          <p:cNvSpPr>
            <a:spLocks noGrp="1"/>
          </p:cNvSpPr>
          <p:nvPr/>
        </p:nvSpPr>
        <p:spPr>
          <a:xfrm>
            <a:off x="742950" y="4581525"/>
            <a:ext cx="2095500" cy="228600"/>
          </a:xfrm>
          <a:prstGeom prst="rect">
            <a:avLst/>
          </a:prstGeom>
          <a:noFill/>
          <a:ln w="0">
            <a:noFill/>
          </a:ln>
        </p:spPr>
        <p:txBody>
          <a:bodyPr>
            <a:normAutofit fontScale="75000"/>
          </a:bodyPr>
          <a:lstStyle/>
          <a:p>
            <a:pPr>
              <a:defRPr sz="1200">
                <a:solidFill>
                  <a:srgbClr val="5A6780"/>
                </a:solidFill>
                <a:latin typeface="Arial"/>
                <a:ea typeface="Arial"/>
                <a:cs typeface="Arial"/>
              </a:defRPr>
            </a:pPr>
            <a:r>
              <a:rPr sz="1200">
                <a:solidFill>
                  <a:srgbClr val="5A6780"/>
                </a:solidFill>
                <a:latin typeface="Arial"/>
                <a:ea typeface="Arial"/>
                <a:cs typeface="Arial"/>
              </a:rPr>
              <a:t>HMAC khóa con, ≤ 64 bit/IDR</a:t>
            </a:r>
          </a:p>
        </p:txBody>
      </p:sp>
      <p:sp>
        <p:nvSpPr>
          <p:cNvPr id="17" name="Rectangle 16">
            <a:extLst>
              <a:ext uri="{FF2B5EF4-FFF2-40B4-BE49-F238E27FC236}">
                <a16:creationId xmlns:a16="http://schemas.microsoft.com/office/drawing/2014/main" id="{6926114B-D223-40D8-A153-6A204E58CBE3}"/>
              </a:ext>
            </a:extLst>
          </p:cNvPr>
          <p:cNvSpPr>
            <a:spLocks noGrp="1"/>
          </p:cNvSpPr>
          <p:nvPr/>
        </p:nvSpPr>
        <p:spPr>
          <a:xfrm>
            <a:off x="3295650" y="5029200"/>
            <a:ext cx="76200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11 — Dấu tích: chỉ lật một bit dấu, độ dài mã giữ nguyên. Dấu X: sửa trường có độ dài thay đổi làm decoder đọc lệch phần sau.</a:t>
            </a:r>
          </a:p>
        </p:txBody>
      </p:sp>
      <p:sp>
        <p:nvSpPr>
          <p:cNvPr id="18" name="Rectangle: Rounded Corners 17">
            <a:extLst>
              <a:ext uri="{FF2B5EF4-FFF2-40B4-BE49-F238E27FC236}">
                <a16:creationId xmlns:a16="http://schemas.microsoft.com/office/drawing/2014/main" id="{C744EF29-CB17-41FD-B162-46656375D163}"/>
              </a:ext>
            </a:extLst>
          </p:cNvPr>
          <p:cNvSpPr>
            <a:spLocks noGrp="1"/>
          </p:cNvSpPr>
          <p:nvPr/>
        </p:nvSpPr>
        <p:spPr>
          <a:xfrm>
            <a:off x="1200150" y="5476875"/>
            <a:ext cx="9639300" cy="552450"/>
          </a:xfrm>
          <a:prstGeom prst="roundRect">
            <a:avLst>
              <a:gd name="adj" fmla="val 13793"/>
            </a:avLst>
          </a:prstGeom>
          <a:solidFill>
            <a:srgbClr val="FFF0F0"/>
          </a:solidFill>
          <a:ln w="9525">
            <a:solidFill>
              <a:srgbClr val="F1B6B6"/>
            </a:solidFill>
          </a:ln>
        </p:spPr>
        <p:txBody>
          <a:bodyPr/>
          <a:lstStyle/>
          <a:p>
            <a:endParaRPr lang="en-US"/>
          </a:p>
        </p:txBody>
      </p:sp>
      <p:sp>
        <p:nvSpPr>
          <p:cNvPr id="19" name="Rectangle 18">
            <a:extLst>
              <a:ext uri="{FF2B5EF4-FFF2-40B4-BE49-F238E27FC236}">
                <a16:creationId xmlns:a16="http://schemas.microsoft.com/office/drawing/2014/main" id="{1B73FB39-F3D0-43FE-A68E-5426DD1FE804}"/>
              </a:ext>
            </a:extLst>
          </p:cNvPr>
          <p:cNvSpPr>
            <a:spLocks noGrp="1"/>
          </p:cNvSpPr>
          <p:nvPr/>
        </p:nvSpPr>
        <p:spPr>
          <a:xfrm>
            <a:off x="1466850" y="5513832"/>
            <a:ext cx="9124950" cy="484632"/>
          </a:xfrm>
          <a:prstGeom prst="rect">
            <a:avLst/>
          </a:prstGeom>
          <a:noFill/>
          <a:ln w="0">
            <a:noFill/>
          </a:ln>
        </p:spPr>
        <p:txBody>
          <a:bodyPr>
            <a:normAutofit fontScale="80000"/>
          </a:bodyPr>
          <a:lstStyle/>
          <a:p>
            <a:pPr>
              <a:defRPr sz="1350" b="1">
                <a:solidFill>
                  <a:srgbClr val="A92B2B"/>
                </a:solidFill>
                <a:latin typeface="Arial"/>
                <a:ea typeface="Arial"/>
                <a:cs typeface="Arial"/>
              </a:defRPr>
            </a:pPr>
            <a:r>
              <a:rPr sz="1350" b="1">
                <a:solidFill>
                  <a:srgbClr val="A92B2B"/>
                </a:solidFill>
                <a:latin typeface="Arial"/>
                <a:ea typeface="Arial"/>
                <a:cs typeface="Arial"/>
              </a:rPr>
              <a:t>Không có bộ lọc vị trí hay quality gate: lật dấu T1 an toàn theo cấu tạo, test/demo xác nhận bằng strict decode FFmpeg.</a:t>
            </a:r>
          </a:p>
          <a:p>
            <a:pPr>
              <a:defRPr sz="1350" b="1">
                <a:solidFill>
                  <a:srgbClr val="A92B2B"/>
                </a:solidFill>
                <a:latin typeface="Arial"/>
                <a:ea typeface="Arial"/>
                <a:cs typeface="Arial"/>
              </a:defRPr>
            </a:pPr>
            <a:r>
              <a:rPr sz="1350" b="1">
                <a:solidFill>
                  <a:srgbClr val="A92B2B"/>
                </a:solidFill>
                <a:latin typeface="Arial"/>
                <a:ea typeface="Arial"/>
                <a:cs typeface="Arial"/>
              </a:rPr>
              <a:t>Lịch: score = HMAC-SHA256(schedule_key, "nal:mb:cat:blk:bitoff"), sắp xếp tăng dần, mỗi IDR lấy tối đa 64 bit (mặc định).</a:t>
            </a:r>
          </a:p>
        </p:txBody>
      </p:sp>
      <p:sp>
        <p:nvSpPr>
          <p:cNvPr id="20" name="Rectangle 19">
            <a:extLst>
              <a:ext uri="{FF2B5EF4-FFF2-40B4-BE49-F238E27FC236}">
                <a16:creationId xmlns:a16="http://schemas.microsoft.com/office/drawing/2014/main" id="{529D0CC5-B641-43E0-AFBC-74A15010133F}"/>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21" name="Rectangle 20">
            <a:extLst>
              <a:ext uri="{FF2B5EF4-FFF2-40B4-BE49-F238E27FC236}">
                <a16:creationId xmlns:a16="http://schemas.microsoft.com/office/drawing/2014/main" id="{24C16F2D-E1DF-4DC6-9A91-8B51CC2DECD2}"/>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11</a:t>
            </a:r>
          </a:p>
        </p:txBody>
      </p:sp>
    </p:spTree>
    <p:extLst>
      <p:ext uri="{BB962C8B-B14F-4D97-AF65-F5344CB8AC3E}">
        <p14:creationId xmlns:p14="http://schemas.microsoft.com/office/powerpoint/2010/main" val="595347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9324E49-F0FC-4D68-A00B-778B81F0512C}"/>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Nhúng một bit khung vào dấu T1</a:t>
            </a:r>
          </a:p>
        </p:txBody>
      </p:sp>
      <p:sp>
        <p:nvSpPr>
          <p:cNvPr id="2" name="Rectangle 1">
            <a:extLst>
              <a:ext uri="{FF2B5EF4-FFF2-40B4-BE49-F238E27FC236}">
                <a16:creationId xmlns:a16="http://schemas.microsoft.com/office/drawing/2014/main" id="{91C2B77D-E7E2-46B2-A0D9-D21C6601B131}"/>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Quy ước dấu: cờ 0 = +1, cờ 1 = −1. Bit nhúng = bit khung XOR bit keystream; magnitude không đổi.</a:t>
            </a:r>
          </a:p>
        </p:txBody>
      </p:sp>
      <p:sp>
        <p:nvSpPr>
          <p:cNvPr id="3" name="Straight Connector 2">
            <a:extLst>
              <a:ext uri="{FF2B5EF4-FFF2-40B4-BE49-F238E27FC236}">
                <a16:creationId xmlns:a16="http://schemas.microsoft.com/office/drawing/2014/main" id="{3C426B13-D2C9-4021-9A23-2BBE9A2D3A4F}"/>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24" name="Picture 23"/>
          <p:cNvPicPr>
            <a:picLocks noChangeAspect="1"/>
          </p:cNvPicPr>
          <p:nvPr/>
        </p:nvPicPr>
        <p:blipFill>
          <a:blip r:embed="rId3"/>
          <a:stretch/>
        </p:blipFill>
        <p:spPr>
          <a:xfrm>
            <a:off x="3088735" y="1676400"/>
            <a:ext cx="6014531" cy="3381375"/>
          </a:xfrm>
          <a:prstGeom prst="rect">
            <a:avLst/>
          </a:prstGeom>
        </p:spPr>
      </p:pic>
      <p:sp>
        <p:nvSpPr>
          <p:cNvPr id="5" name="Rectangle: Rounded Corners 4">
            <a:extLst>
              <a:ext uri="{FF2B5EF4-FFF2-40B4-BE49-F238E27FC236}">
                <a16:creationId xmlns:a16="http://schemas.microsoft.com/office/drawing/2014/main" id="{26B07B36-47DE-41C8-B26B-7787E507A350}"/>
              </a:ext>
            </a:extLst>
          </p:cNvPr>
          <p:cNvSpPr>
            <a:spLocks noGrp="1"/>
          </p:cNvSpPr>
          <p:nvPr/>
        </p:nvSpPr>
        <p:spPr>
          <a:xfrm>
            <a:off x="1885950" y="5172075"/>
            <a:ext cx="2400300" cy="781050"/>
          </a:xfrm>
          <a:prstGeom prst="roundRect">
            <a:avLst>
              <a:gd name="adj" fmla="val 9756"/>
            </a:avLst>
          </a:prstGeom>
          <a:solidFill>
            <a:srgbClr val="FFFFFF"/>
          </a:solidFill>
          <a:ln w="9525">
            <a:solidFill>
              <a:srgbClr val="2667D8"/>
            </a:solidFill>
          </a:ln>
        </p:spPr>
        <p:txBody>
          <a:bodyPr/>
          <a:lstStyle/>
          <a:p>
            <a:endParaRPr lang="en-US"/>
          </a:p>
        </p:txBody>
      </p:sp>
      <p:sp>
        <p:nvSpPr>
          <p:cNvPr id="6" name="Rectangle 5">
            <a:extLst>
              <a:ext uri="{FF2B5EF4-FFF2-40B4-BE49-F238E27FC236}">
                <a16:creationId xmlns:a16="http://schemas.microsoft.com/office/drawing/2014/main" id="{96F80742-87FB-4FDD-A142-4F51B193855D}"/>
              </a:ext>
            </a:extLst>
          </p:cNvPr>
          <p:cNvSpPr>
            <a:spLocks noGrp="1"/>
          </p:cNvSpPr>
          <p:nvPr/>
        </p:nvSpPr>
        <p:spPr>
          <a:xfrm>
            <a:off x="2019300" y="5314950"/>
            <a:ext cx="2133600" cy="228600"/>
          </a:xfrm>
          <a:prstGeom prst="rect">
            <a:avLst/>
          </a:prstGeom>
          <a:noFill/>
          <a:ln w="0">
            <a:noFill/>
          </a:ln>
        </p:spPr>
        <p:txBody>
          <a:bodyPr>
            <a:normAutofit fontScale="63158"/>
          </a:bodyPr>
          <a:lstStyle/>
          <a:p>
            <a:pPr>
              <a:defRPr sz="1425" b="1">
                <a:solidFill>
                  <a:srgbClr val="2667D8"/>
                </a:solidFill>
                <a:latin typeface="Arial"/>
                <a:ea typeface="Arial"/>
                <a:cs typeface="Arial"/>
              </a:defRPr>
            </a:pPr>
            <a:r>
              <a:rPr sz="1425" b="1">
                <a:solidFill>
                  <a:srgbClr val="2667D8"/>
                </a:solidFill>
                <a:latin typeface="Arial"/>
                <a:ea typeface="Arial"/>
                <a:cs typeface="Arial"/>
              </a:rPr>
              <a:t>Bit khung đã làm trắng</a:t>
            </a:r>
          </a:p>
        </p:txBody>
      </p:sp>
      <p:sp>
        <p:nvSpPr>
          <p:cNvPr id="7" name="Rectangle 6">
            <a:extLst>
              <a:ext uri="{FF2B5EF4-FFF2-40B4-BE49-F238E27FC236}">
                <a16:creationId xmlns:a16="http://schemas.microsoft.com/office/drawing/2014/main" id="{5B0F6A43-1C25-4023-AA66-35078D16DFDB}"/>
              </a:ext>
            </a:extLst>
          </p:cNvPr>
          <p:cNvSpPr>
            <a:spLocks noGrp="1"/>
          </p:cNvSpPr>
          <p:nvPr/>
        </p:nvSpPr>
        <p:spPr>
          <a:xfrm>
            <a:off x="2019300" y="5619750"/>
            <a:ext cx="2133600" cy="209550"/>
          </a:xfrm>
          <a:prstGeom prst="rect">
            <a:avLst/>
          </a:prstGeom>
          <a:noFill/>
          <a:ln w="0">
            <a:noFill/>
          </a:ln>
        </p:spPr>
        <p:txBody>
          <a:bodyPr>
            <a:normAutofit fontScale="60784"/>
          </a:bodyPr>
          <a:lstStyle/>
          <a:p>
            <a:pPr>
              <a:defRPr sz="1275">
                <a:solidFill>
                  <a:srgbClr val="5A6780"/>
                </a:solidFill>
                <a:latin typeface="Arial"/>
                <a:ea typeface="Arial"/>
                <a:cs typeface="Arial"/>
              </a:defRPr>
            </a:pPr>
            <a:r>
              <a:rPr sz="1275">
                <a:solidFill>
                  <a:srgbClr val="5A6780"/>
                </a:solidFill>
                <a:latin typeface="Arial"/>
                <a:ea typeface="Arial"/>
                <a:cs typeface="Arial"/>
              </a:rPr>
              <a:t>ví dụ: e = f ⊕ k = 0</a:t>
            </a:r>
          </a:p>
        </p:txBody>
      </p:sp>
      <p:sp>
        <p:nvSpPr>
          <p:cNvPr id="8" name="Straight Connector 7">
            <a:extLst>
              <a:ext uri="{FF2B5EF4-FFF2-40B4-BE49-F238E27FC236}">
                <a16:creationId xmlns:a16="http://schemas.microsoft.com/office/drawing/2014/main" id="{E5893772-39C9-4CAF-94C3-B0043FA628E2}"/>
              </a:ext>
            </a:extLst>
          </p:cNvPr>
          <p:cNvSpPr>
            <a:spLocks noGrp="1"/>
          </p:cNvSpPr>
          <p:nvPr/>
        </p:nvSpPr>
        <p:spPr>
          <a:xfrm>
            <a:off x="4305300" y="5562600"/>
            <a:ext cx="266700" cy="0"/>
          </a:xfrm>
          <a:prstGeom prst="line">
            <a:avLst/>
          </a:prstGeom>
          <a:noFill/>
          <a:ln w="19050">
            <a:solidFill>
              <a:srgbClr val="D6DFEB"/>
            </a:solidFill>
          </a:ln>
        </p:spPr>
        <p:txBody>
          <a:bodyPr/>
          <a:lstStyle/>
          <a:p>
            <a:endParaRPr lang="en-US"/>
          </a:p>
        </p:txBody>
      </p:sp>
      <p:sp>
        <p:nvSpPr>
          <p:cNvPr id="9" name="Isosceles Triangle 8">
            <a:extLst>
              <a:ext uri="{FF2B5EF4-FFF2-40B4-BE49-F238E27FC236}">
                <a16:creationId xmlns:a16="http://schemas.microsoft.com/office/drawing/2014/main" id="{5B61E704-3325-46F4-BD92-C6BA81F5FEFC}"/>
              </a:ext>
            </a:extLst>
          </p:cNvPr>
          <p:cNvSpPr>
            <a:spLocks noGrp="1"/>
          </p:cNvSpPr>
          <p:nvPr/>
        </p:nvSpPr>
        <p:spPr>
          <a:xfrm>
            <a:off x="4514850" y="5486400"/>
            <a:ext cx="152400" cy="152400"/>
          </a:xfrm>
          <a:prstGeom prst="triangle">
            <a:avLst/>
          </a:prstGeom>
          <a:solidFill>
            <a:srgbClr val="D6DFEB"/>
          </a:solidFill>
          <a:ln w="0">
            <a:solidFill>
              <a:srgbClr val="D6DFEB"/>
            </a:solidFill>
          </a:ln>
        </p:spPr>
        <p:txBody>
          <a:bodyPr/>
          <a:lstStyle/>
          <a:p>
            <a:endParaRPr lang="en-US"/>
          </a:p>
        </p:txBody>
      </p:sp>
      <p:sp>
        <p:nvSpPr>
          <p:cNvPr id="10" name="Rectangle: Rounded Corners 9">
            <a:extLst>
              <a:ext uri="{FF2B5EF4-FFF2-40B4-BE49-F238E27FC236}">
                <a16:creationId xmlns:a16="http://schemas.microsoft.com/office/drawing/2014/main" id="{5D4014B3-66DF-4E78-9362-DA7D5E4324D2}"/>
              </a:ext>
            </a:extLst>
          </p:cNvPr>
          <p:cNvSpPr>
            <a:spLocks noGrp="1"/>
          </p:cNvSpPr>
          <p:nvPr/>
        </p:nvSpPr>
        <p:spPr>
          <a:xfrm>
            <a:off x="4724400" y="5172075"/>
            <a:ext cx="2400300" cy="781050"/>
          </a:xfrm>
          <a:prstGeom prst="roundRect">
            <a:avLst>
              <a:gd name="adj" fmla="val 9756"/>
            </a:avLst>
          </a:prstGeom>
          <a:solidFill>
            <a:srgbClr val="FFFFFF"/>
          </a:solidFill>
          <a:ln w="9525">
            <a:solidFill>
              <a:srgbClr val="F2994A"/>
            </a:solidFill>
          </a:ln>
        </p:spPr>
        <p:txBody>
          <a:bodyPr/>
          <a:lstStyle/>
          <a:p>
            <a:endParaRPr lang="en-US"/>
          </a:p>
        </p:txBody>
      </p:sp>
      <p:sp>
        <p:nvSpPr>
          <p:cNvPr id="11" name="Rectangle 10">
            <a:extLst>
              <a:ext uri="{FF2B5EF4-FFF2-40B4-BE49-F238E27FC236}">
                <a16:creationId xmlns:a16="http://schemas.microsoft.com/office/drawing/2014/main" id="{9B27FD73-8CFF-4C1C-914E-DCF2FBE91FCC}"/>
              </a:ext>
            </a:extLst>
          </p:cNvPr>
          <p:cNvSpPr>
            <a:spLocks noGrp="1"/>
          </p:cNvSpPr>
          <p:nvPr/>
        </p:nvSpPr>
        <p:spPr>
          <a:xfrm>
            <a:off x="4857750" y="5314950"/>
            <a:ext cx="2133600" cy="228600"/>
          </a:xfrm>
          <a:prstGeom prst="rect">
            <a:avLst/>
          </a:prstGeom>
          <a:noFill/>
          <a:ln w="0">
            <a:noFill/>
          </a:ln>
        </p:spPr>
        <p:txBody>
          <a:bodyPr>
            <a:normAutofit fontScale="63158"/>
          </a:bodyPr>
          <a:lstStyle/>
          <a:p>
            <a:pPr>
              <a:defRPr sz="1425" b="1">
                <a:solidFill>
                  <a:srgbClr val="F2994A"/>
                </a:solidFill>
                <a:latin typeface="Arial"/>
                <a:ea typeface="Arial"/>
                <a:cs typeface="Arial"/>
              </a:defRPr>
            </a:pPr>
            <a:r>
              <a:rPr sz="1425" b="1">
                <a:solidFill>
                  <a:srgbClr val="F2994A"/>
                </a:solidFill>
                <a:latin typeface="Arial"/>
                <a:ea typeface="Arial"/>
                <a:cs typeface="Arial"/>
              </a:rPr>
              <a:t>Vị trí theo lịch</a:t>
            </a:r>
          </a:p>
        </p:txBody>
      </p:sp>
      <p:sp>
        <p:nvSpPr>
          <p:cNvPr id="12" name="Rectangle 11">
            <a:extLst>
              <a:ext uri="{FF2B5EF4-FFF2-40B4-BE49-F238E27FC236}">
                <a16:creationId xmlns:a16="http://schemas.microsoft.com/office/drawing/2014/main" id="{EC3E4A48-2268-4337-8623-D147C847BDF5}"/>
              </a:ext>
            </a:extLst>
          </p:cNvPr>
          <p:cNvSpPr>
            <a:spLocks noGrp="1"/>
          </p:cNvSpPr>
          <p:nvPr/>
        </p:nvSpPr>
        <p:spPr>
          <a:xfrm>
            <a:off x="4857750" y="5619750"/>
            <a:ext cx="2133600" cy="209550"/>
          </a:xfrm>
          <a:prstGeom prst="rect">
            <a:avLst/>
          </a:prstGeom>
          <a:noFill/>
          <a:ln w="0">
            <a:noFill/>
          </a:ln>
        </p:spPr>
        <p:txBody>
          <a:bodyPr>
            <a:normAutofit fontScale="60784"/>
          </a:bodyPr>
          <a:lstStyle/>
          <a:p>
            <a:pPr>
              <a:defRPr sz="1275">
                <a:solidFill>
                  <a:srgbClr val="5A6780"/>
                </a:solidFill>
                <a:latin typeface="Arial"/>
                <a:ea typeface="Arial"/>
                <a:cs typeface="Arial"/>
              </a:defRPr>
            </a:pPr>
            <a:r>
              <a:rPr sz="1275">
                <a:solidFill>
                  <a:srgbClr val="5A6780"/>
                </a:solidFill>
                <a:latin typeface="Arial"/>
                <a:ea typeface="Arial"/>
                <a:cs typeface="Arial"/>
              </a:rPr>
              <a:t>ứng viên có score HMAC thứ i</a:t>
            </a:r>
          </a:p>
        </p:txBody>
      </p:sp>
      <p:sp>
        <p:nvSpPr>
          <p:cNvPr id="13" name="Straight Connector 12">
            <a:extLst>
              <a:ext uri="{FF2B5EF4-FFF2-40B4-BE49-F238E27FC236}">
                <a16:creationId xmlns:a16="http://schemas.microsoft.com/office/drawing/2014/main" id="{1097FAFC-7846-4096-8C81-EDA2063CAA45}"/>
              </a:ext>
            </a:extLst>
          </p:cNvPr>
          <p:cNvSpPr>
            <a:spLocks noGrp="1"/>
          </p:cNvSpPr>
          <p:nvPr/>
        </p:nvSpPr>
        <p:spPr>
          <a:xfrm>
            <a:off x="7143750" y="5562600"/>
            <a:ext cx="266700" cy="0"/>
          </a:xfrm>
          <a:prstGeom prst="line">
            <a:avLst/>
          </a:prstGeom>
          <a:noFill/>
          <a:ln w="19050">
            <a:solidFill>
              <a:srgbClr val="D6DFEB"/>
            </a:solidFill>
          </a:ln>
        </p:spPr>
        <p:txBody>
          <a:bodyPr/>
          <a:lstStyle/>
          <a:p>
            <a:endParaRPr lang="en-US"/>
          </a:p>
        </p:txBody>
      </p:sp>
      <p:sp>
        <p:nvSpPr>
          <p:cNvPr id="14" name="Isosceles Triangle 13">
            <a:extLst>
              <a:ext uri="{FF2B5EF4-FFF2-40B4-BE49-F238E27FC236}">
                <a16:creationId xmlns:a16="http://schemas.microsoft.com/office/drawing/2014/main" id="{2962683A-0B38-4D85-BFD7-F0AC80EB3746}"/>
              </a:ext>
            </a:extLst>
          </p:cNvPr>
          <p:cNvSpPr>
            <a:spLocks noGrp="1"/>
          </p:cNvSpPr>
          <p:nvPr/>
        </p:nvSpPr>
        <p:spPr>
          <a:xfrm>
            <a:off x="7353300" y="5486400"/>
            <a:ext cx="152400" cy="152400"/>
          </a:xfrm>
          <a:prstGeom prst="triangle">
            <a:avLst/>
          </a:prstGeom>
          <a:solidFill>
            <a:srgbClr val="D6DFEB"/>
          </a:solidFill>
          <a:ln w="0">
            <a:solidFill>
              <a:srgbClr val="D6DFEB"/>
            </a:solidFill>
          </a:ln>
        </p:spPr>
        <p:txBody>
          <a:bodyPr/>
          <a:lstStyle/>
          <a:p>
            <a:endParaRPr lang="en-US"/>
          </a:p>
        </p:txBody>
      </p:sp>
      <p:sp>
        <p:nvSpPr>
          <p:cNvPr id="15" name="Rectangle: Rounded Corners 14">
            <a:extLst>
              <a:ext uri="{FF2B5EF4-FFF2-40B4-BE49-F238E27FC236}">
                <a16:creationId xmlns:a16="http://schemas.microsoft.com/office/drawing/2014/main" id="{4966E96F-EC49-4C28-BC60-A5707235A72F}"/>
              </a:ext>
            </a:extLst>
          </p:cNvPr>
          <p:cNvSpPr>
            <a:spLocks noGrp="1"/>
          </p:cNvSpPr>
          <p:nvPr/>
        </p:nvSpPr>
        <p:spPr>
          <a:xfrm>
            <a:off x="7562850" y="5172075"/>
            <a:ext cx="2400300" cy="781050"/>
          </a:xfrm>
          <a:prstGeom prst="roundRect">
            <a:avLst>
              <a:gd name="adj" fmla="val 9756"/>
            </a:avLst>
          </a:prstGeom>
          <a:solidFill>
            <a:srgbClr val="FFFFFF"/>
          </a:solidFill>
          <a:ln w="9525">
            <a:solidFill>
              <a:srgbClr val="25A36F"/>
            </a:solidFill>
          </a:ln>
        </p:spPr>
        <p:txBody>
          <a:bodyPr/>
          <a:lstStyle/>
          <a:p>
            <a:endParaRPr lang="en-US"/>
          </a:p>
        </p:txBody>
      </p:sp>
      <p:sp>
        <p:nvSpPr>
          <p:cNvPr id="16" name="Rectangle 15">
            <a:extLst>
              <a:ext uri="{FF2B5EF4-FFF2-40B4-BE49-F238E27FC236}">
                <a16:creationId xmlns:a16="http://schemas.microsoft.com/office/drawing/2014/main" id="{8BE15111-2A0F-4863-9038-355F588DDCBE}"/>
              </a:ext>
            </a:extLst>
          </p:cNvPr>
          <p:cNvSpPr>
            <a:spLocks noGrp="1"/>
          </p:cNvSpPr>
          <p:nvPr/>
        </p:nvSpPr>
        <p:spPr>
          <a:xfrm>
            <a:off x="7696200" y="5314950"/>
            <a:ext cx="2133600" cy="228600"/>
          </a:xfrm>
          <a:prstGeom prst="rect">
            <a:avLst/>
          </a:prstGeom>
          <a:noFill/>
          <a:ln w="0">
            <a:noFill/>
          </a:ln>
        </p:spPr>
        <p:txBody>
          <a:bodyPr>
            <a:normAutofit fontScale="63158"/>
          </a:bodyPr>
          <a:lstStyle/>
          <a:p>
            <a:pPr>
              <a:defRPr sz="1425" b="1">
                <a:solidFill>
                  <a:srgbClr val="25A36F"/>
                </a:solidFill>
                <a:latin typeface="Arial"/>
                <a:ea typeface="Arial"/>
                <a:cs typeface="Arial"/>
              </a:defRPr>
            </a:pPr>
            <a:r>
              <a:rPr sz="1425" b="1">
                <a:solidFill>
                  <a:srgbClr val="25A36F"/>
                </a:solidFill>
                <a:latin typeface="Arial"/>
                <a:ea typeface="Arial"/>
                <a:cs typeface="Arial"/>
              </a:rPr>
              <a:t>Ghi dấu</a:t>
            </a:r>
          </a:p>
        </p:txBody>
      </p:sp>
      <p:sp>
        <p:nvSpPr>
          <p:cNvPr id="17" name="Rectangle 16">
            <a:extLst>
              <a:ext uri="{FF2B5EF4-FFF2-40B4-BE49-F238E27FC236}">
                <a16:creationId xmlns:a16="http://schemas.microsoft.com/office/drawing/2014/main" id="{A29EAB09-F643-49FD-B108-2B4DB14E2822}"/>
              </a:ext>
            </a:extLst>
          </p:cNvPr>
          <p:cNvSpPr>
            <a:spLocks noGrp="1"/>
          </p:cNvSpPr>
          <p:nvPr/>
        </p:nvSpPr>
        <p:spPr>
          <a:xfrm>
            <a:off x="7696200" y="5619750"/>
            <a:ext cx="2133600" cy="209550"/>
          </a:xfrm>
          <a:prstGeom prst="rect">
            <a:avLst/>
          </a:prstGeom>
          <a:noFill/>
          <a:ln w="0">
            <a:noFill/>
          </a:ln>
        </p:spPr>
        <p:txBody>
          <a:bodyPr>
            <a:normAutofit fontScale="60784"/>
          </a:bodyPr>
          <a:lstStyle/>
          <a:p>
            <a:pPr>
              <a:defRPr sz="1275">
                <a:solidFill>
                  <a:srgbClr val="5A6780"/>
                </a:solidFill>
                <a:latin typeface="Arial"/>
                <a:ea typeface="Arial"/>
                <a:cs typeface="Arial"/>
              </a:defRPr>
            </a:pPr>
            <a:r>
              <a:rPr sz="1275">
                <a:solidFill>
                  <a:srgbClr val="5A6780"/>
                </a:solidFill>
                <a:latin typeface="Arial"/>
                <a:ea typeface="Arial"/>
                <a:cs typeface="Arial"/>
              </a:rPr>
              <a:t>e = 0 ⇒ dấu +: −1 thành +1</a:t>
            </a:r>
          </a:p>
        </p:txBody>
      </p:sp>
      <p:sp>
        <p:nvSpPr>
          <p:cNvPr id="18" name="Rectangle 17">
            <a:extLst>
              <a:ext uri="{FF2B5EF4-FFF2-40B4-BE49-F238E27FC236}">
                <a16:creationId xmlns:a16="http://schemas.microsoft.com/office/drawing/2014/main" id="{A8D5C0BF-5513-48B6-91FC-DFAED4C7B1D4}"/>
              </a:ext>
            </a:extLst>
          </p:cNvPr>
          <p:cNvSpPr>
            <a:spLocks noGrp="1"/>
          </p:cNvSpPr>
          <p:nvPr/>
        </p:nvSpPr>
        <p:spPr>
          <a:xfrm>
            <a:off x="1619250" y="6067425"/>
            <a:ext cx="89535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12 — Bit nhúng 0 ⇒ dấu +: đổi −1 thành +1 (cờ dấu 1 → 0). Nếu dấu hiện tại đã đúng, bit giữ nguyên.</a:t>
            </a:r>
          </a:p>
        </p:txBody>
      </p:sp>
      <p:sp>
        <p:nvSpPr>
          <p:cNvPr id="19" name="Rectangle 18">
            <a:extLst>
              <a:ext uri="{FF2B5EF4-FFF2-40B4-BE49-F238E27FC236}">
                <a16:creationId xmlns:a16="http://schemas.microsoft.com/office/drawing/2014/main" id="{6E483C12-A338-4571-BC12-F71B5D735353}"/>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20" name="Rectangle 19">
            <a:extLst>
              <a:ext uri="{FF2B5EF4-FFF2-40B4-BE49-F238E27FC236}">
                <a16:creationId xmlns:a16="http://schemas.microsoft.com/office/drawing/2014/main" id="{E8B69C73-178F-42F3-BC4C-177A0BBC31CD}"/>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12</a:t>
            </a:r>
          </a:p>
        </p:txBody>
      </p:sp>
    </p:spTree>
    <p:extLst>
      <p:ext uri="{BB962C8B-B14F-4D97-AF65-F5344CB8AC3E}">
        <p14:creationId xmlns:p14="http://schemas.microsoft.com/office/powerpoint/2010/main" val="1046276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88B05B-036B-438D-A209-6E9DE5A47E2F}"/>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Sau khi patch: tạo lại stego H.264</a:t>
            </a:r>
          </a:p>
        </p:txBody>
      </p:sp>
      <p:sp>
        <p:nvSpPr>
          <p:cNvPr id="2" name="Rectangle 1">
            <a:extLst>
              <a:ext uri="{FF2B5EF4-FFF2-40B4-BE49-F238E27FC236}">
                <a16:creationId xmlns:a16="http://schemas.microsoft.com/office/drawing/2014/main" id="{D9524956-B84F-439D-BB2E-048AAF48877F}"/>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Writer lật bit trong RBSP tại offset đã ghi, rồi chèn lại emulation-prevention byte khi đóng gói NAL.</a:t>
            </a:r>
          </a:p>
        </p:txBody>
      </p:sp>
      <p:sp>
        <p:nvSpPr>
          <p:cNvPr id="3" name="Straight Connector 2">
            <a:extLst>
              <a:ext uri="{FF2B5EF4-FFF2-40B4-BE49-F238E27FC236}">
                <a16:creationId xmlns:a16="http://schemas.microsoft.com/office/drawing/2014/main" id="{C1CCF4D8-C809-4079-AB73-31482F3F7D84}"/>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12" name="Picture 11"/>
          <p:cNvPicPr>
            <a:picLocks noChangeAspect="1"/>
          </p:cNvPicPr>
          <p:nvPr/>
        </p:nvPicPr>
        <p:blipFill>
          <a:blip r:embed="rId3"/>
          <a:stretch/>
        </p:blipFill>
        <p:spPr>
          <a:xfrm>
            <a:off x="2990384" y="1666875"/>
            <a:ext cx="6211231" cy="3495675"/>
          </a:xfrm>
          <a:prstGeom prst="rect">
            <a:avLst/>
          </a:prstGeom>
        </p:spPr>
      </p:pic>
      <p:sp>
        <p:nvSpPr>
          <p:cNvPr id="5" name="Rectangle 4">
            <a:extLst>
              <a:ext uri="{FF2B5EF4-FFF2-40B4-BE49-F238E27FC236}">
                <a16:creationId xmlns:a16="http://schemas.microsoft.com/office/drawing/2014/main" id="{9535A5E7-1133-49D2-BA79-A945AC7F6680}"/>
              </a:ext>
            </a:extLst>
          </p:cNvPr>
          <p:cNvSpPr>
            <a:spLocks noGrp="1"/>
          </p:cNvSpPr>
          <p:nvPr/>
        </p:nvSpPr>
        <p:spPr>
          <a:xfrm>
            <a:off x="1628775" y="5343525"/>
            <a:ext cx="89535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14 — Block đã patch được ghi lại thành stego H.264. Độ dài bit RBSP không đổi; độ dài byte EBSP có thể lệch vài byte.</a:t>
            </a:r>
          </a:p>
        </p:txBody>
      </p:sp>
      <p:sp>
        <p:nvSpPr>
          <p:cNvPr id="6" name="Rectangle 5">
            <a:extLst>
              <a:ext uri="{FF2B5EF4-FFF2-40B4-BE49-F238E27FC236}">
                <a16:creationId xmlns:a16="http://schemas.microsoft.com/office/drawing/2014/main" id="{45458ADB-490C-4E8E-B840-AF7649904EEC}"/>
              </a:ext>
            </a:extLst>
          </p:cNvPr>
          <p:cNvSpPr>
            <a:spLocks noGrp="1"/>
          </p:cNvSpPr>
          <p:nvPr/>
        </p:nvSpPr>
        <p:spPr>
          <a:xfrm>
            <a:off x="1628775" y="5638800"/>
            <a:ext cx="8953500" cy="457200"/>
          </a:xfrm>
          <a:prstGeom prst="rect">
            <a:avLst/>
          </a:prstGeom>
          <a:noFill/>
          <a:ln w="0">
            <a:noFill/>
          </a:ln>
        </p:spPr>
        <p:txBody>
          <a:bodyPr>
            <a:normAutofit fontScale="75000"/>
          </a:bodyPr>
          <a:lstStyle/>
          <a:p>
            <a:pPr>
              <a:defRPr sz="1425">
                <a:solidFill>
                  <a:srgbClr val="5A6780"/>
                </a:solidFill>
                <a:latin typeface="Arial"/>
                <a:ea typeface="Arial"/>
                <a:cs typeface="Arial"/>
              </a:defRPr>
            </a:pPr>
            <a:r>
              <a:rPr sz="1425">
                <a:solidFill>
                  <a:srgbClr val="5A6780"/>
                </a:solidFill>
                <a:latin typeface="Arial"/>
                <a:ea typeface="Arial"/>
                <a:cs typeface="Arial"/>
              </a:rPr>
              <a:t>Không có quality gate trong đường nhúng. Test/demo kiểm strict decode FFmpeg, trích mù và từ chối sai khóa; PSNR chỉ được đo trong demo/benchmark.</a:t>
            </a:r>
          </a:p>
        </p:txBody>
      </p:sp>
      <p:sp>
        <p:nvSpPr>
          <p:cNvPr id="7" name="Rectangle 6">
            <a:extLst>
              <a:ext uri="{FF2B5EF4-FFF2-40B4-BE49-F238E27FC236}">
                <a16:creationId xmlns:a16="http://schemas.microsoft.com/office/drawing/2014/main" id="{1D14BFF4-FCEA-46D5-B75A-3FB6BE241701}"/>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8" name="Rectangle 7">
            <a:extLst>
              <a:ext uri="{FF2B5EF4-FFF2-40B4-BE49-F238E27FC236}">
                <a16:creationId xmlns:a16="http://schemas.microsoft.com/office/drawing/2014/main" id="{41D682FF-F0E0-4752-B6D0-4B34D81B5966}"/>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14</a:t>
            </a:r>
          </a:p>
        </p:txBody>
      </p:sp>
    </p:spTree>
    <p:extLst>
      <p:ext uri="{BB962C8B-B14F-4D97-AF65-F5344CB8AC3E}">
        <p14:creationId xmlns:p14="http://schemas.microsoft.com/office/powerpoint/2010/main" val="1125478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1053E4-8C52-4799-AA3F-D8472743B853}"/>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Trích xuất đi ngược chiều nhúng</a:t>
            </a:r>
          </a:p>
        </p:txBody>
      </p:sp>
      <p:sp>
        <p:nvSpPr>
          <p:cNvPr id="3" name="Straight Connector 2">
            <a:extLst>
              <a:ext uri="{FF2B5EF4-FFF2-40B4-BE49-F238E27FC236}">
                <a16:creationId xmlns:a16="http://schemas.microsoft.com/office/drawing/2014/main" id="{6AE9ECFD-573D-4985-9CE2-3B2142ABC9BF}"/>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12" name="Picture 11"/>
          <p:cNvPicPr>
            <a:picLocks noChangeAspect="1"/>
          </p:cNvPicPr>
          <p:nvPr/>
        </p:nvPicPr>
        <p:blipFill>
          <a:blip r:embed="rId3"/>
          <a:stretch/>
        </p:blipFill>
        <p:spPr>
          <a:xfrm>
            <a:off x="1851755" y="1350644"/>
            <a:ext cx="8490109" cy="4073191"/>
          </a:xfrm>
          <a:prstGeom prst="rect">
            <a:avLst/>
          </a:prstGeom>
        </p:spPr>
      </p:pic>
      <p:sp>
        <p:nvSpPr>
          <p:cNvPr id="5" name="Rectangle 4">
            <a:extLst>
              <a:ext uri="{FF2B5EF4-FFF2-40B4-BE49-F238E27FC236}">
                <a16:creationId xmlns:a16="http://schemas.microsoft.com/office/drawing/2014/main" id="{05096D94-2373-4626-85B0-8057AF01132F}"/>
              </a:ext>
            </a:extLst>
          </p:cNvPr>
          <p:cNvSpPr>
            <a:spLocks noGrp="1"/>
          </p:cNvSpPr>
          <p:nvPr/>
        </p:nvSpPr>
        <p:spPr>
          <a:xfrm>
            <a:off x="1714500" y="5467350"/>
            <a:ext cx="87630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15 — Trích mù chỉ cần stego H.264 và secret: không cần video gốc hay file vị trí đi kèm.</a:t>
            </a:r>
          </a:p>
        </p:txBody>
      </p:sp>
      <p:sp>
        <p:nvSpPr>
          <p:cNvPr id="6" name="Rectangle 5">
            <a:extLst>
              <a:ext uri="{FF2B5EF4-FFF2-40B4-BE49-F238E27FC236}">
                <a16:creationId xmlns:a16="http://schemas.microsoft.com/office/drawing/2014/main" id="{5DC9CEFE-D4FC-4516-80DE-7DCEC5AF6393}"/>
              </a:ext>
            </a:extLst>
          </p:cNvPr>
          <p:cNvSpPr>
            <a:spLocks noGrp="1"/>
          </p:cNvSpPr>
          <p:nvPr/>
        </p:nvSpPr>
        <p:spPr>
          <a:xfrm>
            <a:off x="1714500" y="5760720"/>
            <a:ext cx="8763000" cy="502920"/>
          </a:xfrm>
          <a:prstGeom prst="rect">
            <a:avLst/>
          </a:prstGeom>
          <a:noFill/>
          <a:ln w="0">
            <a:noFill/>
          </a:ln>
        </p:spPr>
        <p:txBody>
          <a:bodyPr>
            <a:normAutofit fontScale="80000"/>
          </a:bodyPr>
          <a:lstStyle/>
          <a:p>
            <a:pPr>
              <a:defRPr sz="1350">
                <a:solidFill>
                  <a:srgbClr val="5A6780"/>
                </a:solidFill>
                <a:latin typeface="Arial"/>
                <a:ea typeface="Arial"/>
                <a:cs typeface="Arial"/>
              </a:defRPr>
            </a:pPr>
            <a:r>
              <a:rPr sz="1350">
                <a:solidFill>
                  <a:srgbClr val="5A6780"/>
                </a:solidFill>
                <a:latin typeface="Arial"/>
                <a:ea typeface="Arial"/>
                <a:cs typeface="Arial"/>
              </a:rPr>
              <a:t>Parse lại IDR → dựng lại cùng lịch theo khóa → đọc bit → bỏ làm trắng → kiểm version 0x02 và độ dài → so tag HMAC hằng thời gian. Sai khóa hoặc bit bị sửa → từ chối.</a:t>
            </a:r>
          </a:p>
        </p:txBody>
      </p:sp>
      <p:sp>
        <p:nvSpPr>
          <p:cNvPr id="7" name="Rectangle 6">
            <a:extLst>
              <a:ext uri="{FF2B5EF4-FFF2-40B4-BE49-F238E27FC236}">
                <a16:creationId xmlns:a16="http://schemas.microsoft.com/office/drawing/2014/main" id="{8595B4D3-42CA-47B3-AB22-6615CFFB8D3E}"/>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8" name="Rectangle 7">
            <a:extLst>
              <a:ext uri="{FF2B5EF4-FFF2-40B4-BE49-F238E27FC236}">
                <a16:creationId xmlns:a16="http://schemas.microsoft.com/office/drawing/2014/main" id="{9463FAF4-CB3D-449B-A2B8-4ACCFBC1588E}"/>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15</a:t>
            </a:r>
          </a:p>
        </p:txBody>
      </p:sp>
    </p:spTree>
    <p:extLst>
      <p:ext uri="{BB962C8B-B14F-4D97-AF65-F5344CB8AC3E}">
        <p14:creationId xmlns:p14="http://schemas.microsoft.com/office/powerpoint/2010/main" val="2136298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439AF72-FCAC-4071-B541-518873460806}"/>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Payload trở lại thành bằng chứng Groth16</a:t>
            </a:r>
          </a:p>
        </p:txBody>
      </p:sp>
      <p:sp>
        <p:nvSpPr>
          <p:cNvPr id="2" name="Rectangle 1">
            <a:extLst>
              <a:ext uri="{FF2B5EF4-FFF2-40B4-BE49-F238E27FC236}">
                <a16:creationId xmlns:a16="http://schemas.microsoft.com/office/drawing/2014/main" id="{59CD1AE1-4D3A-48D2-9EBE-1905A0D17016}"/>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Sau trích mù, hệ thống tách message và proof. Verify Groth16 là bắt buộc: chỉ proof hợp lệ mới trả về message.</a:t>
            </a:r>
          </a:p>
        </p:txBody>
      </p:sp>
      <p:sp>
        <p:nvSpPr>
          <p:cNvPr id="3" name="Straight Connector 2">
            <a:extLst>
              <a:ext uri="{FF2B5EF4-FFF2-40B4-BE49-F238E27FC236}">
                <a16:creationId xmlns:a16="http://schemas.microsoft.com/office/drawing/2014/main" id="{BBC3B13B-8E32-46E8-9916-8DEB189BCFD5}"/>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pic>
        <p:nvPicPr>
          <p:cNvPr id="19" name="Picture 18"/>
          <p:cNvPicPr>
            <a:picLocks noChangeAspect="1"/>
          </p:cNvPicPr>
          <p:nvPr/>
        </p:nvPicPr>
        <p:blipFill>
          <a:blip r:embed="rId3"/>
          <a:stretch/>
        </p:blipFill>
        <p:spPr>
          <a:xfrm>
            <a:off x="3721805" y="1685925"/>
            <a:ext cx="6634340" cy="3733800"/>
          </a:xfrm>
          <a:prstGeom prst="rect">
            <a:avLst/>
          </a:prstGeom>
        </p:spPr>
      </p:pic>
      <p:sp>
        <p:nvSpPr>
          <p:cNvPr id="5" name="Rectangle: Rounded Corners 4">
            <a:extLst>
              <a:ext uri="{FF2B5EF4-FFF2-40B4-BE49-F238E27FC236}">
                <a16:creationId xmlns:a16="http://schemas.microsoft.com/office/drawing/2014/main" id="{2A4FD487-3B2F-4432-8966-205D8853EEC3}"/>
              </a:ext>
            </a:extLst>
          </p:cNvPr>
          <p:cNvSpPr>
            <a:spLocks noGrp="1"/>
          </p:cNvSpPr>
          <p:nvPr/>
        </p:nvSpPr>
        <p:spPr>
          <a:xfrm>
            <a:off x="552450" y="2171700"/>
            <a:ext cx="1981200" cy="1066800"/>
          </a:xfrm>
          <a:prstGeom prst="roundRect">
            <a:avLst>
              <a:gd name="adj" fmla="val 7143"/>
            </a:avLst>
          </a:prstGeom>
          <a:solidFill>
            <a:srgbClr val="FFFFFF"/>
          </a:solidFill>
          <a:ln w="9525">
            <a:solidFill>
              <a:srgbClr val="D6DFEB"/>
            </a:solidFill>
          </a:ln>
        </p:spPr>
        <p:txBody>
          <a:bodyPr/>
          <a:lstStyle/>
          <a:p>
            <a:endParaRPr lang="en-US"/>
          </a:p>
        </p:txBody>
      </p:sp>
      <p:sp>
        <p:nvSpPr>
          <p:cNvPr id="6" name="Rectangle: Rounded Corners 5">
            <a:extLst>
              <a:ext uri="{FF2B5EF4-FFF2-40B4-BE49-F238E27FC236}">
                <a16:creationId xmlns:a16="http://schemas.microsoft.com/office/drawing/2014/main" id="{04990BF7-03F9-4FC0-AA00-A98830122A09}"/>
              </a:ext>
            </a:extLst>
          </p:cNvPr>
          <p:cNvSpPr>
            <a:spLocks noGrp="1"/>
          </p:cNvSpPr>
          <p:nvPr/>
        </p:nvSpPr>
        <p:spPr>
          <a:xfrm>
            <a:off x="704850" y="2324100"/>
            <a:ext cx="361950" cy="361950"/>
          </a:xfrm>
          <a:prstGeom prst="roundRect">
            <a:avLst>
              <a:gd name="adj" fmla="val 21053"/>
            </a:avLst>
          </a:prstGeom>
          <a:solidFill>
            <a:srgbClr val="2667D8">
              <a:alpha val="8627"/>
            </a:srgbClr>
          </a:solidFill>
          <a:ln w="9525">
            <a:solidFill>
              <a:srgbClr val="2667D8"/>
            </a:solidFill>
          </a:ln>
        </p:spPr>
        <p:txBody>
          <a:bodyPr/>
          <a:lstStyle/>
          <a:p>
            <a:endParaRPr lang="en-US"/>
          </a:p>
        </p:txBody>
      </p:sp>
      <p:sp>
        <p:nvSpPr>
          <p:cNvPr id="7" name="Rectangle 6">
            <a:extLst>
              <a:ext uri="{FF2B5EF4-FFF2-40B4-BE49-F238E27FC236}">
                <a16:creationId xmlns:a16="http://schemas.microsoft.com/office/drawing/2014/main" id="{FF6A76C3-A962-4CA8-8422-F1B0974B6784}"/>
              </a:ext>
            </a:extLst>
          </p:cNvPr>
          <p:cNvSpPr>
            <a:spLocks noGrp="1"/>
          </p:cNvSpPr>
          <p:nvPr/>
        </p:nvSpPr>
        <p:spPr>
          <a:xfrm>
            <a:off x="1181100" y="2333625"/>
            <a:ext cx="120015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Payload blob</a:t>
            </a:r>
          </a:p>
        </p:txBody>
      </p:sp>
      <p:sp>
        <p:nvSpPr>
          <p:cNvPr id="8" name="Rectangle 7">
            <a:extLst>
              <a:ext uri="{FF2B5EF4-FFF2-40B4-BE49-F238E27FC236}">
                <a16:creationId xmlns:a16="http://schemas.microsoft.com/office/drawing/2014/main" id="{591A2FC8-9679-4DCE-BB0C-246CDEEBDB10}"/>
              </a:ext>
            </a:extLst>
          </p:cNvPr>
          <p:cNvSpPr>
            <a:spLocks noGrp="1"/>
          </p:cNvSpPr>
          <p:nvPr/>
        </p:nvSpPr>
        <p:spPr>
          <a:xfrm>
            <a:off x="742950" y="2800350"/>
            <a:ext cx="1600200" cy="304800"/>
          </a:xfrm>
          <a:prstGeom prst="rect">
            <a:avLst/>
          </a:prstGeom>
          <a:noFill/>
          <a:ln w="0">
            <a:noFill/>
          </a:ln>
        </p:spPr>
        <p:txBody>
          <a:bodyPr>
            <a:noAutofit/>
          </a:bodyPr>
          <a:lstStyle/>
          <a:p>
            <a:pPr>
              <a:defRPr sz="1350">
                <a:solidFill>
                  <a:srgbClr val="5A6780"/>
                </a:solidFill>
                <a:latin typeface="Arial"/>
                <a:ea typeface="Arial"/>
                <a:cs typeface="Arial"/>
              </a:defRPr>
            </a:pPr>
            <a:r>
              <a:rPr sz="1200">
                <a:solidFill>
                  <a:srgbClr val="5A6780"/>
                </a:solidFill>
                <a:latin typeface="Arial"/>
                <a:ea typeface="Arial"/>
                <a:cs typeface="Arial"/>
              </a:rPr>
              <a:t>len + message + proof 129 B</a:t>
            </a:r>
          </a:p>
        </p:txBody>
      </p:sp>
      <p:sp>
        <p:nvSpPr>
          <p:cNvPr id="9" name="Rectangle: Rounded Corners 8">
            <a:extLst>
              <a:ext uri="{FF2B5EF4-FFF2-40B4-BE49-F238E27FC236}">
                <a16:creationId xmlns:a16="http://schemas.microsoft.com/office/drawing/2014/main" id="{9C8EF325-5E0C-47C0-8F2D-7A9C22CBDC26}"/>
              </a:ext>
            </a:extLst>
          </p:cNvPr>
          <p:cNvSpPr>
            <a:spLocks noGrp="1"/>
          </p:cNvSpPr>
          <p:nvPr/>
        </p:nvSpPr>
        <p:spPr>
          <a:xfrm>
            <a:off x="552450" y="3590925"/>
            <a:ext cx="1981200" cy="1066800"/>
          </a:xfrm>
          <a:prstGeom prst="roundRect">
            <a:avLst>
              <a:gd name="adj" fmla="val 7143"/>
            </a:avLst>
          </a:prstGeom>
          <a:solidFill>
            <a:srgbClr val="FFFFFF"/>
          </a:solidFill>
          <a:ln w="9525">
            <a:solidFill>
              <a:srgbClr val="D6DFEB"/>
            </a:solidFill>
          </a:ln>
        </p:spPr>
        <p:txBody>
          <a:bodyPr/>
          <a:lstStyle/>
          <a:p>
            <a:endParaRPr lang="en-US"/>
          </a:p>
        </p:txBody>
      </p:sp>
      <p:sp>
        <p:nvSpPr>
          <p:cNvPr id="10" name="Rectangle: Rounded Corners 9">
            <a:extLst>
              <a:ext uri="{FF2B5EF4-FFF2-40B4-BE49-F238E27FC236}">
                <a16:creationId xmlns:a16="http://schemas.microsoft.com/office/drawing/2014/main" id="{EB3F1EC9-FDF5-49EF-B521-D0C813CDBCD4}"/>
              </a:ext>
            </a:extLst>
          </p:cNvPr>
          <p:cNvSpPr>
            <a:spLocks noGrp="1"/>
          </p:cNvSpPr>
          <p:nvPr/>
        </p:nvSpPr>
        <p:spPr>
          <a:xfrm>
            <a:off x="704850" y="3676650"/>
            <a:ext cx="361950" cy="361950"/>
          </a:xfrm>
          <a:prstGeom prst="roundRect">
            <a:avLst>
              <a:gd name="adj" fmla="val 21053"/>
            </a:avLst>
          </a:prstGeom>
          <a:solidFill>
            <a:srgbClr val="25A36F">
              <a:alpha val="8627"/>
            </a:srgbClr>
          </a:solidFill>
          <a:ln w="9525">
            <a:solidFill>
              <a:srgbClr val="25A36F"/>
            </a:solidFill>
          </a:ln>
        </p:spPr>
        <p:txBody>
          <a:bodyPr/>
          <a:lstStyle/>
          <a:p>
            <a:endParaRPr lang="en-US"/>
          </a:p>
        </p:txBody>
      </p:sp>
      <p:sp>
        <p:nvSpPr>
          <p:cNvPr id="11" name="Rectangle 10">
            <a:extLst>
              <a:ext uri="{FF2B5EF4-FFF2-40B4-BE49-F238E27FC236}">
                <a16:creationId xmlns:a16="http://schemas.microsoft.com/office/drawing/2014/main" id="{60ACBDF3-6088-4E6E-8AAC-9EA01394A7DF}"/>
              </a:ext>
            </a:extLst>
          </p:cNvPr>
          <p:cNvSpPr>
            <a:spLocks noGrp="1"/>
          </p:cNvSpPr>
          <p:nvPr/>
        </p:nvSpPr>
        <p:spPr>
          <a:xfrm>
            <a:off x="1181100" y="3686175"/>
            <a:ext cx="120015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Verifier</a:t>
            </a:r>
          </a:p>
        </p:txBody>
      </p:sp>
      <p:sp>
        <p:nvSpPr>
          <p:cNvPr id="12" name="Rectangle 11">
            <a:extLst>
              <a:ext uri="{FF2B5EF4-FFF2-40B4-BE49-F238E27FC236}">
                <a16:creationId xmlns:a16="http://schemas.microsoft.com/office/drawing/2014/main" id="{0934A3A3-C8CE-4CB4-BA9D-F86346D60656}"/>
              </a:ext>
            </a:extLst>
          </p:cNvPr>
          <p:cNvSpPr>
            <a:spLocks noGrp="1"/>
          </p:cNvSpPr>
          <p:nvPr/>
        </p:nvSpPr>
        <p:spPr>
          <a:xfrm>
            <a:off x="1035755" y="3981450"/>
            <a:ext cx="1463040" cy="304800"/>
          </a:xfrm>
          <a:prstGeom prst="rect">
            <a:avLst/>
          </a:prstGeom>
          <a:noFill/>
          <a:ln w="0">
            <a:noFill/>
          </a:ln>
        </p:spPr>
        <p:txBody>
          <a:bodyPr>
            <a:noAutofit/>
          </a:bodyPr>
          <a:lstStyle/>
          <a:p>
            <a:pPr>
              <a:defRPr sz="1350">
                <a:solidFill>
                  <a:srgbClr val="5A6780"/>
                </a:solidFill>
                <a:latin typeface="Arial"/>
                <a:ea typeface="Arial"/>
                <a:cs typeface="Arial"/>
              </a:defRPr>
            </a:pPr>
            <a:r>
              <a:rPr sz="1200">
                <a:solidFill>
                  <a:srgbClr val="5A6780"/>
                </a:solidFill>
                <a:latin typeface="Arial"/>
                <a:ea typeface="Arial"/>
                <a:cs typeface="Arial"/>
              </a:rPr>
              <a:t>public signals từ message + key</a:t>
            </a:r>
          </a:p>
        </p:txBody>
      </p:sp>
      <p:sp>
        <p:nvSpPr>
          <p:cNvPr id="13" name="Rectangle 12">
            <a:extLst>
              <a:ext uri="{FF2B5EF4-FFF2-40B4-BE49-F238E27FC236}">
                <a16:creationId xmlns:a16="http://schemas.microsoft.com/office/drawing/2014/main" id="{AF5C11DB-050D-4B23-8638-F00EAE641D7B}"/>
              </a:ext>
            </a:extLst>
          </p:cNvPr>
          <p:cNvSpPr>
            <a:spLocks noGrp="1"/>
          </p:cNvSpPr>
          <p:nvPr/>
        </p:nvSpPr>
        <p:spPr>
          <a:xfrm>
            <a:off x="2800350" y="5591175"/>
            <a:ext cx="847725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16 — commitment = SHA256(SHA256(message) ‖ secret); 63 321 constraint, 513 public input, mọi bit ràng buộc 0/1.</a:t>
            </a:r>
          </a:p>
        </p:txBody>
      </p:sp>
      <p:sp>
        <p:nvSpPr>
          <p:cNvPr id="20" name="Limit Text"/>
          <p:cNvSpPr>
            <a:spLocks noGrp="1"/>
          </p:cNvSpPr>
          <p:nvPr/>
        </p:nvSpPr>
        <p:spPr>
          <a:xfrm>
            <a:off x="2798064" y="5870448"/>
            <a:ext cx="8476488" cy="457200"/>
          </a:xfrm>
          <a:prstGeom prst="rect">
            <a:avLst/>
          </a:prstGeom>
          <a:noFill/>
          <a:ln w="0">
            <a:noFill/>
          </a:ln>
        </p:spPr>
        <p:txBody>
          <a:bodyPr>
            <a:normAutofit fontScale="90000"/>
          </a:bodyPr>
          <a:lstStyle/>
          <a:p>
            <a:pPr>
              <a:defRPr sz="1200">
                <a:solidFill>
                  <a:srgbClr val="5A6780"/>
                </a:solidFill>
                <a:latin typeface="Arial"/>
                <a:ea typeface="Arial"/>
                <a:cs typeface="Arial"/>
              </a:defRPr>
            </a:pPr>
            <a:r>
              <a:rPr sz="1200">
                <a:solidFill>
                  <a:srgbClr val="5A6780"/>
                </a:solidFill>
                <a:latin typeface="Arial"/>
                <a:ea typeface="Arial"/>
                <a:cs typeface="Arial"/>
              </a:rPr>
              <a:t xml:space="preserve">snarkjs </a:t>
            </a:r>
            <a:r>
              <a:rPr sz="1200">
                <a:solidFill>
                  <a:srgbClr val="5A6780"/>
                </a:solidFill>
                <a:latin typeface="Arial"/>
                <a:ea typeface="Arial"/>
                <a:cs typeface="Arial"/>
              </a:rPr>
              <a:t xml:space="preserve">chỉ được chấp nhận khi exit 0 và in "OK!". </a:t>
            </a:r>
            <a:r>
              <a:rPr sz="1200" b="1">
                <a:solidFill>
                  <a:srgbClr val="5A6780"/>
                </a:solidFill>
                <a:latin typeface="Arial"/>
                <a:ea typeface="Arial"/>
                <a:cs typeface="Arial"/>
              </a:rPr>
              <a:t xml:space="preserve">Giới hạn: </a:t>
            </a:r>
            <a:r>
              <a:rPr sz="1200">
                <a:solidFill>
                  <a:srgbClr val="5A6780"/>
                </a:solidFill>
                <a:latin typeface="Arial"/>
                <a:ea typeface="Arial"/>
                <a:cs typeface="Arial"/>
              </a:rPr>
              <a:t>proof chưa gắn với video (phát lại được dưới cùng khóa) và verifier phải giữ secret.</a:t>
            </a:r>
          </a:p>
        </p:txBody>
      </p:sp>
      <p:sp>
        <p:nvSpPr>
          <p:cNvPr id="14" name="Rectangle 13">
            <a:extLst>
              <a:ext uri="{FF2B5EF4-FFF2-40B4-BE49-F238E27FC236}">
                <a16:creationId xmlns:a16="http://schemas.microsoft.com/office/drawing/2014/main" id="{709F9CF9-2B7C-4687-8ACB-3D8E6046264A}"/>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15" name="Rectangle 14">
            <a:extLst>
              <a:ext uri="{FF2B5EF4-FFF2-40B4-BE49-F238E27FC236}">
                <a16:creationId xmlns:a16="http://schemas.microsoft.com/office/drawing/2014/main" id="{6D5AB9D3-D316-4390-B52D-8BCCC3CA0C11}"/>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16</a:t>
            </a:r>
          </a:p>
        </p:txBody>
      </p:sp>
    </p:spTree>
    <p:extLst>
      <p:ext uri="{BB962C8B-B14F-4D97-AF65-F5344CB8AC3E}">
        <p14:creationId xmlns:p14="http://schemas.microsoft.com/office/powerpoint/2010/main" val="1842785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5E35067-3568-4939-A6EC-A1D490E0BF76}"/>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Hai cách hệ thống chạy</a:t>
            </a:r>
          </a:p>
        </p:txBody>
      </p:sp>
      <p:sp>
        <p:nvSpPr>
          <p:cNvPr id="2" name="Rectangle 1">
            <a:extLst>
              <a:ext uri="{FF2B5EF4-FFF2-40B4-BE49-F238E27FC236}">
                <a16:creationId xmlns:a16="http://schemas.microsoft.com/office/drawing/2014/main" id="{32354D00-5EB9-4A78-ACDF-38B64DB394E2}"/>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Job HTTP và luồng WebSocket dùng chung native engine và cùng giao thức theo đoạn IDR; khác cách đưa dữ liệu vào và trả kết quả.</a:t>
            </a:r>
          </a:p>
        </p:txBody>
      </p:sp>
      <p:sp>
        <p:nvSpPr>
          <p:cNvPr id="3" name="Straight Connector 2">
            <a:extLst>
              <a:ext uri="{FF2B5EF4-FFF2-40B4-BE49-F238E27FC236}">
                <a16:creationId xmlns:a16="http://schemas.microsoft.com/office/drawing/2014/main" id="{03027005-1CA1-462B-BC5E-0F2F1D8CBF4F}"/>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sp>
        <p:nvSpPr>
          <p:cNvPr id="4" name="Rectangle: Rounded Corners 3">
            <a:extLst>
              <a:ext uri="{FF2B5EF4-FFF2-40B4-BE49-F238E27FC236}">
                <a16:creationId xmlns:a16="http://schemas.microsoft.com/office/drawing/2014/main" id="{3E47E13D-21D5-496B-930E-C6A352C971FE}"/>
              </a:ext>
            </a:extLst>
          </p:cNvPr>
          <p:cNvSpPr>
            <a:spLocks noGrp="1"/>
          </p:cNvSpPr>
          <p:nvPr/>
        </p:nvSpPr>
        <p:spPr>
          <a:xfrm>
            <a:off x="676275" y="2000250"/>
            <a:ext cx="4972050" cy="2143125"/>
          </a:xfrm>
          <a:prstGeom prst="roundRect">
            <a:avLst>
              <a:gd name="adj" fmla="val 3556"/>
            </a:avLst>
          </a:prstGeom>
          <a:solidFill>
            <a:srgbClr val="FFFFFF"/>
          </a:solidFill>
          <a:ln w="9525">
            <a:solidFill>
              <a:srgbClr val="D6DFEB"/>
            </a:solidFill>
          </a:ln>
        </p:spPr>
        <p:txBody>
          <a:bodyPr/>
          <a:lstStyle/>
          <a:p>
            <a:endParaRPr lang="en-US"/>
          </a:p>
        </p:txBody>
      </p:sp>
      <p:sp>
        <p:nvSpPr>
          <p:cNvPr id="5" name="Rectangle: Rounded Corners 4">
            <a:extLst>
              <a:ext uri="{FF2B5EF4-FFF2-40B4-BE49-F238E27FC236}">
                <a16:creationId xmlns:a16="http://schemas.microsoft.com/office/drawing/2014/main" id="{7F57D7C0-E52A-4E21-BF16-232C7F3FBF27}"/>
              </a:ext>
            </a:extLst>
          </p:cNvPr>
          <p:cNvSpPr>
            <a:spLocks noGrp="1"/>
          </p:cNvSpPr>
          <p:nvPr/>
        </p:nvSpPr>
        <p:spPr>
          <a:xfrm>
            <a:off x="828675" y="2152650"/>
            <a:ext cx="361950" cy="361950"/>
          </a:xfrm>
          <a:prstGeom prst="roundRect">
            <a:avLst>
              <a:gd name="adj" fmla="val 21053"/>
            </a:avLst>
          </a:prstGeom>
          <a:solidFill>
            <a:srgbClr val="2667D8">
              <a:alpha val="8627"/>
            </a:srgbClr>
          </a:solidFill>
          <a:ln w="9525">
            <a:solidFill>
              <a:srgbClr val="2667D8"/>
            </a:solidFill>
          </a:ln>
        </p:spPr>
        <p:txBody>
          <a:bodyPr/>
          <a:lstStyle/>
          <a:p>
            <a:endParaRPr lang="en-US"/>
          </a:p>
        </p:txBody>
      </p:sp>
      <p:sp>
        <p:nvSpPr>
          <p:cNvPr id="6" name="Rectangle 5">
            <a:extLst>
              <a:ext uri="{FF2B5EF4-FFF2-40B4-BE49-F238E27FC236}">
                <a16:creationId xmlns:a16="http://schemas.microsoft.com/office/drawing/2014/main" id="{EFECC663-4688-4F5E-B776-8CF9E88C423D}"/>
              </a:ext>
            </a:extLst>
          </p:cNvPr>
          <p:cNvSpPr>
            <a:spLocks noGrp="1"/>
          </p:cNvSpPr>
          <p:nvPr/>
        </p:nvSpPr>
        <p:spPr>
          <a:xfrm>
            <a:off x="1304925" y="2162175"/>
            <a:ext cx="41910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HTTP job</a:t>
            </a:r>
          </a:p>
        </p:txBody>
      </p:sp>
      <p:sp>
        <p:nvSpPr>
          <p:cNvPr id="7" name="Rectangle 6">
            <a:extLst>
              <a:ext uri="{FF2B5EF4-FFF2-40B4-BE49-F238E27FC236}">
                <a16:creationId xmlns:a16="http://schemas.microsoft.com/office/drawing/2014/main" id="{25BBE746-A68B-4704-A7D9-B8F530412625}"/>
              </a:ext>
            </a:extLst>
          </p:cNvPr>
          <p:cNvSpPr>
            <a:spLocks noGrp="1"/>
          </p:cNvSpPr>
          <p:nvPr/>
        </p:nvSpPr>
        <p:spPr>
          <a:xfrm>
            <a:off x="866775" y="2628900"/>
            <a:ext cx="4591050" cy="1381125"/>
          </a:xfrm>
          <a:prstGeom prst="rect">
            <a:avLst/>
          </a:prstGeom>
          <a:noFill/>
          <a:ln w="0">
            <a:noFill/>
          </a:ln>
        </p:spPr>
        <p:txBody>
          <a:bodyPr>
            <a:normAutofit/>
          </a:bodyPr>
          <a:lstStyle/>
          <a:p>
            <a:pPr>
              <a:defRPr sz="1350">
                <a:solidFill>
                  <a:srgbClr val="5A6780"/>
                </a:solidFill>
                <a:latin typeface="Arial"/>
                <a:ea typeface="Arial"/>
                <a:cs typeface="Arial"/>
              </a:defRPr>
            </a:pPr>
            <a:r>
              <a:rPr sz="1350">
                <a:solidFill>
                  <a:srgbClr val="5A6780"/>
                </a:solidFill>
                <a:latin typeface="Arial"/>
                <a:ea typeface="Arial"/>
                <a:cs typeface="Arial"/>
              </a:rPr>
              <a:t>Upload .h264 + message/key → hàng đợi job → native worker. Ba loại job: embed, extract, verify (succeeded chỉ khi proof đúng, ngược lại rejected) → tải artifact một lần.</a:t>
            </a:r>
          </a:p>
        </p:txBody>
      </p:sp>
      <p:sp>
        <p:nvSpPr>
          <p:cNvPr id="8" name="Rectangle: Rounded Corners 7">
            <a:extLst>
              <a:ext uri="{FF2B5EF4-FFF2-40B4-BE49-F238E27FC236}">
                <a16:creationId xmlns:a16="http://schemas.microsoft.com/office/drawing/2014/main" id="{3CF455BB-24B2-40FA-B365-FA24A26B9712}"/>
              </a:ext>
            </a:extLst>
          </p:cNvPr>
          <p:cNvSpPr>
            <a:spLocks noGrp="1"/>
          </p:cNvSpPr>
          <p:nvPr/>
        </p:nvSpPr>
        <p:spPr>
          <a:xfrm>
            <a:off x="6543675" y="2000250"/>
            <a:ext cx="4972050" cy="2143125"/>
          </a:xfrm>
          <a:prstGeom prst="roundRect">
            <a:avLst>
              <a:gd name="adj" fmla="val 3556"/>
            </a:avLst>
          </a:prstGeom>
          <a:solidFill>
            <a:srgbClr val="FFFFFF"/>
          </a:solidFill>
          <a:ln w="9525">
            <a:solidFill>
              <a:srgbClr val="D6DFEB"/>
            </a:solidFill>
          </a:ln>
        </p:spPr>
        <p:txBody>
          <a:bodyPr/>
          <a:lstStyle/>
          <a:p>
            <a:endParaRPr lang="en-US"/>
          </a:p>
        </p:txBody>
      </p:sp>
      <p:sp>
        <p:nvSpPr>
          <p:cNvPr id="9" name="Rectangle: Rounded Corners 8">
            <a:extLst>
              <a:ext uri="{FF2B5EF4-FFF2-40B4-BE49-F238E27FC236}">
                <a16:creationId xmlns:a16="http://schemas.microsoft.com/office/drawing/2014/main" id="{5B87C59F-A6C9-4669-A0B3-2ED0ED27E9C6}"/>
              </a:ext>
            </a:extLst>
          </p:cNvPr>
          <p:cNvSpPr>
            <a:spLocks noGrp="1"/>
          </p:cNvSpPr>
          <p:nvPr/>
        </p:nvSpPr>
        <p:spPr>
          <a:xfrm>
            <a:off x="6696075" y="2152650"/>
            <a:ext cx="361950" cy="361950"/>
          </a:xfrm>
          <a:prstGeom prst="roundRect">
            <a:avLst>
              <a:gd name="adj" fmla="val 21053"/>
            </a:avLst>
          </a:prstGeom>
          <a:solidFill>
            <a:srgbClr val="16A4C7">
              <a:alpha val="8627"/>
            </a:srgbClr>
          </a:solidFill>
          <a:ln w="9525">
            <a:solidFill>
              <a:srgbClr val="16A4C7"/>
            </a:solidFill>
          </a:ln>
        </p:spPr>
        <p:txBody>
          <a:bodyPr/>
          <a:lstStyle/>
          <a:p>
            <a:endParaRPr lang="en-US"/>
          </a:p>
        </p:txBody>
      </p:sp>
      <p:sp>
        <p:nvSpPr>
          <p:cNvPr id="10" name="Rectangle 9">
            <a:extLst>
              <a:ext uri="{FF2B5EF4-FFF2-40B4-BE49-F238E27FC236}">
                <a16:creationId xmlns:a16="http://schemas.microsoft.com/office/drawing/2014/main" id="{08B1D061-8C8B-441C-8C9D-FB21D1011C7F}"/>
              </a:ext>
            </a:extLst>
          </p:cNvPr>
          <p:cNvSpPr>
            <a:spLocks noGrp="1"/>
          </p:cNvSpPr>
          <p:nvPr/>
        </p:nvSpPr>
        <p:spPr>
          <a:xfrm>
            <a:off x="7172325" y="2162175"/>
            <a:ext cx="41910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WebSocket live</a:t>
            </a:r>
          </a:p>
        </p:txBody>
      </p:sp>
      <p:sp>
        <p:nvSpPr>
          <p:cNvPr id="11" name="Rectangle 10">
            <a:extLst>
              <a:ext uri="{FF2B5EF4-FFF2-40B4-BE49-F238E27FC236}">
                <a16:creationId xmlns:a16="http://schemas.microsoft.com/office/drawing/2014/main" id="{20432E0E-215A-47D7-954A-D8C8E929AC58}"/>
              </a:ext>
            </a:extLst>
          </p:cNvPr>
          <p:cNvSpPr>
            <a:spLocks noGrp="1"/>
          </p:cNvSpPr>
          <p:nvPr/>
        </p:nvSpPr>
        <p:spPr>
          <a:xfrm>
            <a:off x="6734175" y="2628900"/>
            <a:ext cx="4591050" cy="1381125"/>
          </a:xfrm>
          <a:prstGeom prst="rect">
            <a:avLst/>
          </a:prstGeom>
          <a:noFill/>
          <a:ln w="0">
            <a:noFill/>
          </a:ln>
        </p:spPr>
        <p:txBody>
          <a:bodyPr>
            <a:normAutofit/>
          </a:bodyPr>
          <a:lstStyle/>
          <a:p>
            <a:pPr>
              <a:defRPr sz="1350">
                <a:solidFill>
                  <a:srgbClr val="5A6780"/>
                </a:solidFill>
                <a:latin typeface="Arial"/>
                <a:ea typeface="Arial"/>
                <a:cs typeface="Arial"/>
              </a:defRPr>
            </a:pPr>
            <a:r>
              <a:rPr sz="1350">
                <a:solidFill>
                  <a:srgbClr val="5A6780"/>
                </a:solidFill>
                <a:latin typeface="Arial"/>
                <a:ea typeface="Arial"/>
                <a:cs typeface="Arial"/>
              </a:rPr>
              <a:t>Camera/FFmpeg gửi chunk Annex-B → adapter backpressure → native stdin/stdout → chunk stego hoặc payload JSON. Cùng giao thức đoạn IDR như file.</a:t>
            </a:r>
          </a:p>
        </p:txBody>
      </p:sp>
      <p:sp>
        <p:nvSpPr>
          <p:cNvPr id="12" name="Rectangle 11">
            <a:extLst>
              <a:ext uri="{FF2B5EF4-FFF2-40B4-BE49-F238E27FC236}">
                <a16:creationId xmlns:a16="http://schemas.microsoft.com/office/drawing/2014/main" id="{1F76FCCC-1966-45EC-93D3-B851247DE472}"/>
              </a:ext>
            </a:extLst>
          </p:cNvPr>
          <p:cNvSpPr>
            <a:spLocks noGrp="1"/>
          </p:cNvSpPr>
          <p:nvPr/>
        </p:nvSpPr>
        <p:spPr>
          <a:xfrm>
            <a:off x="2000250" y="4495800"/>
            <a:ext cx="819150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17 — Bearer token ≥ 32 ký tự, kiểm trước khi đọc body; sai 10 lần trong 60 s → 429. Hai đường dùng chung native engine.</a:t>
            </a:r>
          </a:p>
        </p:txBody>
      </p:sp>
      <p:sp>
        <p:nvSpPr>
          <p:cNvPr id="13" name="Rectangle: Rounded Corners 12">
            <a:extLst>
              <a:ext uri="{FF2B5EF4-FFF2-40B4-BE49-F238E27FC236}">
                <a16:creationId xmlns:a16="http://schemas.microsoft.com/office/drawing/2014/main" id="{281B12CD-3588-4AD3-A6D1-F37F5D497A0A}"/>
              </a:ext>
            </a:extLst>
          </p:cNvPr>
          <p:cNvSpPr>
            <a:spLocks noGrp="1"/>
          </p:cNvSpPr>
          <p:nvPr/>
        </p:nvSpPr>
        <p:spPr>
          <a:xfrm>
            <a:off x="2190750" y="4810125"/>
            <a:ext cx="7810500" cy="600075"/>
          </a:xfrm>
          <a:prstGeom prst="roundRect">
            <a:avLst>
              <a:gd name="adj" fmla="val 12698"/>
            </a:avLst>
          </a:prstGeom>
          <a:solidFill>
            <a:srgbClr val="F5F8FC"/>
          </a:solidFill>
          <a:ln w="9525">
            <a:solidFill>
              <a:srgbClr val="D6DFEB"/>
            </a:solidFill>
          </a:ln>
        </p:spPr>
        <p:txBody>
          <a:bodyPr/>
          <a:lstStyle/>
          <a:p>
            <a:endParaRPr lang="en-US"/>
          </a:p>
        </p:txBody>
      </p:sp>
      <p:sp>
        <p:nvSpPr>
          <p:cNvPr id="14" name="Rectangle 13">
            <a:extLst>
              <a:ext uri="{FF2B5EF4-FFF2-40B4-BE49-F238E27FC236}">
                <a16:creationId xmlns:a16="http://schemas.microsoft.com/office/drawing/2014/main" id="{7EF3FF02-7F88-4669-AA07-10DE9DD12787}"/>
              </a:ext>
            </a:extLst>
          </p:cNvPr>
          <p:cNvSpPr>
            <a:spLocks noGrp="1"/>
          </p:cNvSpPr>
          <p:nvPr/>
        </p:nvSpPr>
        <p:spPr>
          <a:xfrm>
            <a:off x="2457450" y="4991100"/>
            <a:ext cx="7286625" cy="228600"/>
          </a:xfrm>
          <a:prstGeom prst="rect">
            <a:avLst/>
          </a:prstGeom>
          <a:noFill/>
          <a:ln w="0">
            <a:noFill/>
          </a:ln>
        </p:spPr>
        <p:txBody>
          <a:bodyPr>
            <a:normAutofit fontScale="66667"/>
          </a:bodyPr>
          <a:lstStyle/>
          <a:p>
            <a:pPr>
              <a:defRPr sz="1350">
                <a:solidFill>
                  <a:srgbClr val="5A6780"/>
                </a:solidFill>
                <a:latin typeface="Arial"/>
                <a:ea typeface="Arial"/>
                <a:cs typeface="Arial"/>
              </a:defRPr>
            </a:pPr>
            <a:r>
              <a:rPr sz="1350">
                <a:solidFill>
                  <a:srgbClr val="5A6780"/>
                </a:solidFill>
                <a:latin typeface="Arial"/>
                <a:ea typeface="Arial"/>
                <a:cs typeface="Arial"/>
              </a:rPr>
              <a:t>Native không gọi prover trong vòng lặp camera: proof tạo trước; verify Groth16 chạy trong job verify hoặc ở bên nhận.</a:t>
            </a:r>
          </a:p>
        </p:txBody>
      </p:sp>
      <p:sp>
        <p:nvSpPr>
          <p:cNvPr id="15" name="Rectangle 14">
            <a:extLst>
              <a:ext uri="{FF2B5EF4-FFF2-40B4-BE49-F238E27FC236}">
                <a16:creationId xmlns:a16="http://schemas.microsoft.com/office/drawing/2014/main" id="{3BB9C338-777A-4D9E-9075-79498332E26D}"/>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16" name="Rectangle 15">
            <a:extLst>
              <a:ext uri="{FF2B5EF4-FFF2-40B4-BE49-F238E27FC236}">
                <a16:creationId xmlns:a16="http://schemas.microsoft.com/office/drawing/2014/main" id="{487132A8-04BE-477F-BFB7-72A56B3C8366}"/>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17</a:t>
            </a:r>
          </a:p>
        </p:txBody>
      </p:sp>
    </p:spTree>
    <p:extLst>
      <p:ext uri="{BB962C8B-B14F-4D97-AF65-F5344CB8AC3E}">
        <p14:creationId xmlns:p14="http://schemas.microsoft.com/office/powerpoint/2010/main" val="482220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9E3DE6D-8852-45A4-AAF0-E0DF35A426E2}"/>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Phạm vi kỹ thuật hiện tại</a:t>
            </a:r>
          </a:p>
        </p:txBody>
      </p:sp>
      <p:sp>
        <p:nvSpPr>
          <p:cNvPr id="3" name="Straight Connector 2">
            <a:extLst>
              <a:ext uri="{FF2B5EF4-FFF2-40B4-BE49-F238E27FC236}">
                <a16:creationId xmlns:a16="http://schemas.microsoft.com/office/drawing/2014/main" id="{3F22EA46-45A2-4DCF-B376-B6A6E974D06B}"/>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sp>
        <p:nvSpPr>
          <p:cNvPr id="4" name="Rectangle: Rounded Corners 3">
            <a:extLst>
              <a:ext uri="{FF2B5EF4-FFF2-40B4-BE49-F238E27FC236}">
                <a16:creationId xmlns:a16="http://schemas.microsoft.com/office/drawing/2014/main" id="{CF844E89-FF78-403E-A230-14CF5D21F8CC}"/>
              </a:ext>
            </a:extLst>
          </p:cNvPr>
          <p:cNvSpPr>
            <a:spLocks noGrp="1"/>
          </p:cNvSpPr>
          <p:nvPr/>
        </p:nvSpPr>
        <p:spPr>
          <a:xfrm>
            <a:off x="914400" y="1838325"/>
            <a:ext cx="10363200" cy="895350"/>
          </a:xfrm>
          <a:prstGeom prst="roundRect">
            <a:avLst>
              <a:gd name="adj" fmla="val 8511"/>
            </a:avLst>
          </a:prstGeom>
          <a:solidFill>
            <a:srgbClr val="25A36F">
              <a:alpha val="7059"/>
            </a:srgbClr>
          </a:solidFill>
          <a:ln w="9525">
            <a:solidFill>
              <a:srgbClr val="25A36F"/>
            </a:solidFill>
          </a:ln>
        </p:spPr>
        <p:txBody>
          <a:bodyPr/>
          <a:lstStyle/>
          <a:p>
            <a:endParaRPr lang="en-US"/>
          </a:p>
        </p:txBody>
      </p:sp>
      <p:sp>
        <p:nvSpPr>
          <p:cNvPr id="5" name="Rectangle 4">
            <a:extLst>
              <a:ext uri="{FF2B5EF4-FFF2-40B4-BE49-F238E27FC236}">
                <a16:creationId xmlns:a16="http://schemas.microsoft.com/office/drawing/2014/main" id="{C9294D25-0C29-4B16-B12F-3F20E9354B49}"/>
              </a:ext>
            </a:extLst>
          </p:cNvPr>
          <p:cNvSpPr>
            <a:spLocks noGrp="1"/>
          </p:cNvSpPr>
          <p:nvPr/>
        </p:nvSpPr>
        <p:spPr>
          <a:xfrm>
            <a:off x="1181100" y="2038350"/>
            <a:ext cx="1952625" cy="276225"/>
          </a:xfrm>
          <a:prstGeom prst="rect">
            <a:avLst/>
          </a:prstGeom>
          <a:noFill/>
          <a:ln w="0">
            <a:noFill/>
          </a:ln>
        </p:spPr>
        <p:txBody>
          <a:bodyPr>
            <a:normAutofit fontScale="67361"/>
          </a:bodyPr>
          <a:lstStyle/>
          <a:p>
            <a:pPr>
              <a:defRPr sz="1800" b="1">
                <a:solidFill>
                  <a:srgbClr val="25A36F"/>
                </a:solidFill>
                <a:latin typeface="Arial"/>
                <a:ea typeface="Arial"/>
                <a:cs typeface="Arial"/>
              </a:defRPr>
            </a:pPr>
            <a:r>
              <a:rPr sz="1800" b="1">
                <a:solidFill>
                  <a:srgbClr val="25A36F"/>
                </a:solidFill>
                <a:latin typeface="Arial"/>
                <a:ea typeface="Arial"/>
                <a:cs typeface="Arial"/>
              </a:rPr>
              <a:t>Đã xác nhận</a:t>
            </a:r>
          </a:p>
        </p:txBody>
      </p:sp>
      <p:sp>
        <p:nvSpPr>
          <p:cNvPr id="6" name="Rectangle 5">
            <a:extLst>
              <a:ext uri="{FF2B5EF4-FFF2-40B4-BE49-F238E27FC236}">
                <a16:creationId xmlns:a16="http://schemas.microsoft.com/office/drawing/2014/main" id="{E9563763-7339-474C-8766-B9AFBC381D84}"/>
              </a:ext>
            </a:extLst>
          </p:cNvPr>
          <p:cNvSpPr>
            <a:spLocks noGrp="1"/>
          </p:cNvSpPr>
          <p:nvPr/>
        </p:nvSpPr>
        <p:spPr>
          <a:xfrm>
            <a:off x="3381375" y="2000250"/>
            <a:ext cx="7543800" cy="552450"/>
          </a:xfrm>
          <a:prstGeom prst="rect">
            <a:avLst/>
          </a:prstGeom>
          <a:noFill/>
          <a:ln w="0">
            <a:noFill/>
          </a:ln>
        </p:spPr>
        <p:txBody>
          <a:bodyPr>
            <a:normAutofit fontScale="91667"/>
          </a:bodyPr>
          <a:lstStyle/>
          <a:p>
            <a:pPr>
              <a:defRPr sz="1650">
                <a:solidFill>
                  <a:srgbClr val="5A6780"/>
                </a:solidFill>
                <a:latin typeface="Arial"/>
                <a:ea typeface="Arial"/>
                <a:cs typeface="Arial"/>
              </a:defRPr>
            </a:pPr>
            <a:r>
              <a:rPr sz="1650">
                <a:solidFill>
                  <a:srgbClr val="5A6780"/>
                </a:solidFill>
                <a:latin typeface="Arial"/>
                <a:ea typeface="Arial"/>
                <a:cs typeface="Arial"/>
              </a:rPr>
              <a:t>Annex-B Baseline CAVLC, IDR, 1 slice/frame, giao thức v2, trích mù + Groth16 bắt buộc, strict decode; 126/126 test (03/10/2026, Windows)</a:t>
            </a:r>
          </a:p>
        </p:txBody>
      </p:sp>
      <p:sp>
        <p:nvSpPr>
          <p:cNvPr id="7" name="Rectangle: Rounded Corners 6">
            <a:extLst>
              <a:ext uri="{FF2B5EF4-FFF2-40B4-BE49-F238E27FC236}">
                <a16:creationId xmlns:a16="http://schemas.microsoft.com/office/drawing/2014/main" id="{7928F499-9846-47E1-8DA3-EBCCCAA66E99}"/>
              </a:ext>
            </a:extLst>
          </p:cNvPr>
          <p:cNvSpPr>
            <a:spLocks noGrp="1"/>
          </p:cNvSpPr>
          <p:nvPr/>
        </p:nvSpPr>
        <p:spPr>
          <a:xfrm>
            <a:off x="914400" y="3028950"/>
            <a:ext cx="10363200" cy="895350"/>
          </a:xfrm>
          <a:prstGeom prst="roundRect">
            <a:avLst>
              <a:gd name="adj" fmla="val 8511"/>
            </a:avLst>
          </a:prstGeom>
          <a:solidFill>
            <a:srgbClr val="F2994A">
              <a:alpha val="7059"/>
            </a:srgbClr>
          </a:solidFill>
          <a:ln w="9525">
            <a:solidFill>
              <a:srgbClr val="F2994A"/>
            </a:solidFill>
          </a:ln>
        </p:spPr>
        <p:txBody>
          <a:bodyPr/>
          <a:lstStyle/>
          <a:p>
            <a:endParaRPr lang="en-US"/>
          </a:p>
        </p:txBody>
      </p:sp>
      <p:sp>
        <p:nvSpPr>
          <p:cNvPr id="8" name="Rectangle 7">
            <a:extLst>
              <a:ext uri="{FF2B5EF4-FFF2-40B4-BE49-F238E27FC236}">
                <a16:creationId xmlns:a16="http://schemas.microsoft.com/office/drawing/2014/main" id="{3765F878-B995-47AD-AF8A-C992ADA484E7}"/>
              </a:ext>
            </a:extLst>
          </p:cNvPr>
          <p:cNvSpPr>
            <a:spLocks noGrp="1"/>
          </p:cNvSpPr>
          <p:nvPr/>
        </p:nvSpPr>
        <p:spPr>
          <a:xfrm>
            <a:off x="1181100" y="3228975"/>
            <a:ext cx="1952625" cy="276225"/>
          </a:xfrm>
          <a:prstGeom prst="rect">
            <a:avLst/>
          </a:prstGeom>
          <a:noFill/>
          <a:ln w="0">
            <a:noFill/>
          </a:ln>
        </p:spPr>
        <p:txBody>
          <a:bodyPr>
            <a:normAutofit fontScale="67361"/>
          </a:bodyPr>
          <a:lstStyle/>
          <a:p>
            <a:pPr>
              <a:defRPr sz="1800" b="1">
                <a:solidFill>
                  <a:srgbClr val="F2994A"/>
                </a:solidFill>
                <a:latin typeface="Arial"/>
                <a:ea typeface="Arial"/>
                <a:cs typeface="Arial"/>
              </a:defRPr>
            </a:pPr>
            <a:r>
              <a:rPr sz="1800" b="1">
                <a:solidFill>
                  <a:srgbClr val="F2994A"/>
                </a:solidFill>
                <a:latin typeface="Arial"/>
                <a:ea typeface="Arial"/>
                <a:cs typeface="Arial"/>
              </a:rPr>
              <a:t>Chưa khẳng định</a:t>
            </a:r>
          </a:p>
        </p:txBody>
      </p:sp>
      <p:sp>
        <p:nvSpPr>
          <p:cNvPr id="9" name="Rectangle 8">
            <a:extLst>
              <a:ext uri="{FF2B5EF4-FFF2-40B4-BE49-F238E27FC236}">
                <a16:creationId xmlns:a16="http://schemas.microsoft.com/office/drawing/2014/main" id="{2BF3EEED-EFF5-4409-8E5E-263657CD62F0}"/>
              </a:ext>
            </a:extLst>
          </p:cNvPr>
          <p:cNvSpPr>
            <a:spLocks noGrp="1"/>
          </p:cNvSpPr>
          <p:nvPr/>
        </p:nvSpPr>
        <p:spPr>
          <a:xfrm>
            <a:off x="3381375" y="3190875"/>
            <a:ext cx="7543800" cy="552450"/>
          </a:xfrm>
          <a:prstGeom prst="rect">
            <a:avLst/>
          </a:prstGeom>
          <a:noFill/>
          <a:ln w="0">
            <a:noFill/>
          </a:ln>
        </p:spPr>
        <p:txBody>
          <a:bodyPr>
            <a:normAutofit fontScale="91667"/>
          </a:bodyPr>
          <a:lstStyle/>
          <a:p>
            <a:pPr>
              <a:defRPr sz="1650">
                <a:solidFill>
                  <a:srgbClr val="5A6780"/>
                </a:solidFill>
                <a:latin typeface="Arial"/>
                <a:ea typeface="Arial"/>
                <a:cs typeface="Arial"/>
              </a:defRPr>
            </a:pPr>
            <a:r>
              <a:rPr sz="1650">
                <a:solidFill>
                  <a:srgbClr val="5A6780"/>
                </a:solidFill>
                <a:latin typeface="Arial"/>
                <a:ea typeface="Arial"/>
                <a:cs typeface="Arial"/>
              </a:rPr>
              <a:t>CABAC, P/B làm vật mang, mọi camera/độ phân giải, realtime 30 FPS (đo 7.608 FPS trước bản tăng tốc 02/10, chưa đo lại), gắn proof với video</a:t>
            </a:r>
          </a:p>
        </p:txBody>
      </p:sp>
      <p:sp>
        <p:nvSpPr>
          <p:cNvPr id="10" name="Rectangle: Rounded Corners 9">
            <a:extLst>
              <a:ext uri="{FF2B5EF4-FFF2-40B4-BE49-F238E27FC236}">
                <a16:creationId xmlns:a16="http://schemas.microsoft.com/office/drawing/2014/main" id="{0B795D1B-D47C-4519-9088-31B2EFFC4981}"/>
              </a:ext>
            </a:extLst>
          </p:cNvPr>
          <p:cNvSpPr>
            <a:spLocks noGrp="1"/>
          </p:cNvSpPr>
          <p:nvPr/>
        </p:nvSpPr>
        <p:spPr>
          <a:xfrm>
            <a:off x="914400" y="4219575"/>
            <a:ext cx="10363200" cy="895350"/>
          </a:xfrm>
          <a:prstGeom prst="roundRect">
            <a:avLst>
              <a:gd name="adj" fmla="val 8511"/>
            </a:avLst>
          </a:prstGeom>
          <a:solidFill>
            <a:srgbClr val="2667D8">
              <a:alpha val="7059"/>
            </a:srgbClr>
          </a:solidFill>
          <a:ln w="9525">
            <a:solidFill>
              <a:srgbClr val="2667D8"/>
            </a:solidFill>
          </a:ln>
        </p:spPr>
        <p:txBody>
          <a:bodyPr/>
          <a:lstStyle/>
          <a:p>
            <a:endParaRPr lang="en-US"/>
          </a:p>
        </p:txBody>
      </p:sp>
      <p:sp>
        <p:nvSpPr>
          <p:cNvPr id="11" name="Rectangle 10">
            <a:extLst>
              <a:ext uri="{FF2B5EF4-FFF2-40B4-BE49-F238E27FC236}">
                <a16:creationId xmlns:a16="http://schemas.microsoft.com/office/drawing/2014/main" id="{2A0BA284-80B0-441B-BAE3-BD87111114A5}"/>
              </a:ext>
            </a:extLst>
          </p:cNvPr>
          <p:cNvSpPr>
            <a:spLocks noGrp="1"/>
          </p:cNvSpPr>
          <p:nvPr/>
        </p:nvSpPr>
        <p:spPr>
          <a:xfrm>
            <a:off x="1181100" y="4419600"/>
            <a:ext cx="1952625" cy="276225"/>
          </a:xfrm>
          <a:prstGeom prst="rect">
            <a:avLst/>
          </a:prstGeom>
          <a:noFill/>
          <a:ln w="0">
            <a:noFill/>
          </a:ln>
        </p:spPr>
        <p:txBody>
          <a:bodyPr>
            <a:normAutofit fontScale="67361"/>
          </a:bodyPr>
          <a:lstStyle/>
          <a:p>
            <a:pPr>
              <a:defRPr sz="1800" b="1">
                <a:solidFill>
                  <a:srgbClr val="2667D8"/>
                </a:solidFill>
                <a:latin typeface="Arial"/>
                <a:ea typeface="Arial"/>
                <a:cs typeface="Arial"/>
              </a:defRPr>
            </a:pPr>
            <a:r>
              <a:rPr sz="1800" b="1">
                <a:solidFill>
                  <a:srgbClr val="2667D8"/>
                </a:solidFill>
                <a:latin typeface="Arial"/>
                <a:ea typeface="Arial"/>
                <a:cs typeface="Arial"/>
              </a:rPr>
              <a:t>Cách dùng đúng</a:t>
            </a:r>
          </a:p>
        </p:txBody>
      </p:sp>
      <p:sp>
        <p:nvSpPr>
          <p:cNvPr id="12" name="Rectangle 11">
            <a:extLst>
              <a:ext uri="{FF2B5EF4-FFF2-40B4-BE49-F238E27FC236}">
                <a16:creationId xmlns:a16="http://schemas.microsoft.com/office/drawing/2014/main" id="{71590AA7-BD9B-49E2-A046-617293DE7611}"/>
              </a:ext>
            </a:extLst>
          </p:cNvPr>
          <p:cNvSpPr>
            <a:spLocks noGrp="1"/>
          </p:cNvSpPr>
          <p:nvPr/>
        </p:nvSpPr>
        <p:spPr>
          <a:xfrm>
            <a:off x="3381375" y="4381500"/>
            <a:ext cx="7543800" cy="552450"/>
          </a:xfrm>
          <a:prstGeom prst="rect">
            <a:avLst/>
          </a:prstGeom>
          <a:noFill/>
          <a:ln w="0">
            <a:noFill/>
          </a:ln>
        </p:spPr>
        <p:txBody>
          <a:bodyPr>
            <a:normAutofit fontScale="91667"/>
          </a:bodyPr>
          <a:lstStyle/>
          <a:p>
            <a:pPr>
              <a:defRPr sz="1650">
                <a:solidFill>
                  <a:srgbClr val="5A6780"/>
                </a:solidFill>
                <a:latin typeface="Arial"/>
                <a:ea typeface="Arial"/>
                <a:cs typeface="Arial"/>
              </a:defRPr>
            </a:pPr>
            <a:r>
              <a:rPr sz="1650">
                <a:solidFill>
                  <a:srgbClr val="5A6780"/>
                </a:solidFill>
                <a:latin typeface="Arial"/>
                <a:ea typeface="Arial"/>
                <a:cs typeface="Arial"/>
              </a:rPr>
              <a:t>Encode qua FFmpeg về Baseline CAVLC Annex-B; hai đầu dùng cùng secret và cùng giới hạn bit/IDR; số liệu benchmark/camera cũ có trước v2</a:t>
            </a:r>
          </a:p>
        </p:txBody>
      </p:sp>
      <p:sp>
        <p:nvSpPr>
          <p:cNvPr id="13" name="Rectangle 12">
            <a:extLst>
              <a:ext uri="{FF2B5EF4-FFF2-40B4-BE49-F238E27FC236}">
                <a16:creationId xmlns:a16="http://schemas.microsoft.com/office/drawing/2014/main" id="{30695898-D4BF-457E-B255-6CA286889123}"/>
              </a:ext>
            </a:extLst>
          </p:cNvPr>
          <p:cNvSpPr>
            <a:spLocks noGrp="1"/>
          </p:cNvSpPr>
          <p:nvPr/>
        </p:nvSpPr>
        <p:spPr>
          <a:xfrm>
            <a:off x="1466850" y="5715000"/>
            <a:ext cx="9239250" cy="266700"/>
          </a:xfrm>
          <a:prstGeom prst="rect">
            <a:avLst/>
          </a:prstGeom>
          <a:noFill/>
          <a:ln w="0">
            <a:noFill/>
          </a:ln>
        </p:spPr>
        <p:txBody>
          <a:bodyPr>
            <a:normAutofit fontScale="69697"/>
          </a:bodyPr>
          <a:lstStyle/>
          <a:p>
            <a:pPr>
              <a:defRPr sz="1650" b="1">
                <a:solidFill>
                  <a:srgbClr val="0B1B35"/>
                </a:solidFill>
                <a:latin typeface="Arial"/>
                <a:ea typeface="Arial"/>
                <a:cs typeface="Arial"/>
              </a:defRPr>
            </a:pPr>
            <a:r>
              <a:rPr sz="1650" b="1">
                <a:solidFill>
                  <a:srgbClr val="0B1B35"/>
                </a:solidFill>
                <a:latin typeface="Arial"/>
                <a:ea typeface="Arial"/>
                <a:cs typeface="Arial"/>
              </a:rPr>
              <a:t>Kết luận: lật dấu T1 giữ stream hợp lệ, khóa chọn vị trí và xác thực khung, Groth16 kiểm chứng payload.</a:t>
            </a:r>
          </a:p>
        </p:txBody>
      </p:sp>
      <p:sp>
        <p:nvSpPr>
          <p:cNvPr id="14" name="Rectangle 13">
            <a:extLst>
              <a:ext uri="{FF2B5EF4-FFF2-40B4-BE49-F238E27FC236}">
                <a16:creationId xmlns:a16="http://schemas.microsoft.com/office/drawing/2014/main" id="{94105A04-AC15-467E-B9DF-B4E617D28842}"/>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15" name="Rectangle 14">
            <a:extLst>
              <a:ext uri="{FF2B5EF4-FFF2-40B4-BE49-F238E27FC236}">
                <a16:creationId xmlns:a16="http://schemas.microsoft.com/office/drawing/2014/main" id="{DEC1412A-BE55-45E7-B957-2C243E7A1A9F}"/>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18</a:t>
            </a:r>
          </a:p>
        </p:txBody>
      </p:sp>
    </p:spTree>
    <p:extLst>
      <p:ext uri="{BB962C8B-B14F-4D97-AF65-F5344CB8AC3E}">
        <p14:creationId xmlns:p14="http://schemas.microsoft.com/office/powerpoint/2010/main" val="375657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A9B85D8-3CCB-4E86-9838-79C1412BC6AA}"/>
              </a:ext>
            </a:extLst>
          </p:cNvPr>
          <p:cNvSpPr>
            <a:spLocks noGrp="1"/>
          </p:cNvSpPr>
          <p:nvPr/>
        </p:nvSpPr>
        <p:spPr>
          <a:xfrm>
            <a:off x="419100" y="352425"/>
            <a:ext cx="10572750" cy="523875"/>
          </a:xfrm>
          <a:prstGeom prst="rect">
            <a:avLst/>
          </a:prstGeom>
          <a:noFill/>
          <a:ln w="0">
            <a:noFill/>
          </a:ln>
        </p:spPr>
        <p:txBody>
          <a:bodyPr>
            <a:normAutofit/>
          </a:bodyPr>
          <a:lstStyle/>
          <a:p>
            <a:pPr>
              <a:defRPr sz="2700" b="1">
                <a:solidFill>
                  <a:srgbClr val="10213D"/>
                </a:solidFill>
                <a:latin typeface="Arial"/>
                <a:ea typeface="Arial"/>
                <a:cs typeface="Arial"/>
              </a:defRPr>
            </a:pPr>
            <a:r>
              <a:rPr sz="2700" b="1">
                <a:solidFill>
                  <a:srgbClr val="10213D"/>
                </a:solidFill>
                <a:latin typeface="Arial"/>
                <a:ea typeface="Arial"/>
                <a:cs typeface="Arial"/>
              </a:rPr>
              <a:t>Khóa và khung xác thực (giao thức v2)</a:t>
            </a:r>
          </a:p>
        </p:txBody>
      </p:sp>
      <p:sp>
        <p:nvSpPr>
          <p:cNvPr id="2" name="Rectangle 1">
            <a:extLst>
              <a:ext uri="{FF2B5EF4-FFF2-40B4-BE49-F238E27FC236}">
                <a16:creationId xmlns:a16="http://schemas.microsoft.com/office/drawing/2014/main" id="{183D9AFC-ECE3-4D23-9292-DBD1546DF259}"/>
              </a:ext>
            </a:extLst>
          </p:cNvPr>
          <p:cNvSpPr>
            <a:spLocks noGrp="1"/>
          </p:cNvSpPr>
          <p:nvPr/>
        </p:nvSpPr>
        <p:spPr>
          <a:xfrm>
            <a:off x="438150" y="933450"/>
            <a:ext cx="10668000" cy="257175"/>
          </a:xfrm>
          <a:prstGeom prst="rect">
            <a:avLst/>
          </a:prstGeom>
          <a:noFill/>
          <a:ln w="0">
            <a:noFill/>
          </a:ln>
        </p:spPr>
        <p:txBody>
          <a:bodyPr>
            <a:normAutofit fontScale="90625"/>
          </a:bodyPr>
          <a:lstStyle/>
          <a:p>
            <a:pPr>
              <a:defRPr sz="1200">
                <a:solidFill>
                  <a:srgbClr val="5A6780"/>
                </a:solidFill>
                <a:latin typeface="Arial"/>
                <a:ea typeface="Arial"/>
                <a:cs typeface="Arial"/>
              </a:defRPr>
            </a:pPr>
            <a:r>
              <a:rPr sz="1200">
                <a:solidFill>
                  <a:srgbClr val="5A6780"/>
                </a:solidFill>
                <a:latin typeface="Arial"/>
                <a:ea typeface="Arial"/>
                <a:cs typeface="Arial"/>
              </a:rPr>
              <a:t>Một secret 32 byte sinh ba khóa con bằng HKDF-SHA256. Khung mang version, độ dài, payload, tag HMAC rồi được làm trắng.</a:t>
            </a:r>
          </a:p>
        </p:txBody>
      </p:sp>
      <p:sp>
        <p:nvSpPr>
          <p:cNvPr id="3" name="Straight Connector 2">
            <a:extLst>
              <a:ext uri="{FF2B5EF4-FFF2-40B4-BE49-F238E27FC236}">
                <a16:creationId xmlns:a16="http://schemas.microsoft.com/office/drawing/2014/main" id="{6A183C27-E115-4E8A-BB66-A65D220047E2}"/>
              </a:ext>
            </a:extLst>
          </p:cNvPr>
          <p:cNvSpPr>
            <a:spLocks noGrp="1"/>
          </p:cNvSpPr>
          <p:nvPr/>
        </p:nvSpPr>
        <p:spPr>
          <a:xfrm>
            <a:off x="419100" y="1304925"/>
            <a:ext cx="11353800" cy="0"/>
          </a:xfrm>
          <a:prstGeom prst="line">
            <a:avLst/>
          </a:prstGeom>
          <a:noFill/>
          <a:ln w="9525">
            <a:solidFill>
              <a:srgbClr val="D6DFEB"/>
            </a:solidFill>
          </a:ln>
        </p:spPr>
        <p:txBody>
          <a:bodyPr/>
          <a:lstStyle/>
          <a:p>
            <a:endParaRPr lang="en-US"/>
          </a:p>
        </p:txBody>
      </p:sp>
      <p:sp>
        <p:nvSpPr>
          <p:cNvPr id="5" name="Rectangle: Rounded Corners 4">
            <a:extLst>
              <a:ext uri="{FF2B5EF4-FFF2-40B4-BE49-F238E27FC236}">
                <a16:creationId xmlns:a16="http://schemas.microsoft.com/office/drawing/2014/main" id="{2B6210EA-E5D4-4B08-B5A0-42296C4F7241}"/>
              </a:ext>
            </a:extLst>
          </p:cNvPr>
          <p:cNvSpPr>
            <a:spLocks noGrp="1"/>
          </p:cNvSpPr>
          <p:nvPr/>
        </p:nvSpPr>
        <p:spPr>
          <a:xfrm>
            <a:off x="514350" y="1581150"/>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6" name="Rectangle: Rounded Corners 5">
            <a:extLst>
              <a:ext uri="{FF2B5EF4-FFF2-40B4-BE49-F238E27FC236}">
                <a16:creationId xmlns:a16="http://schemas.microsoft.com/office/drawing/2014/main" id="{9611DD32-F85B-40BD-B881-5A6DF2E7D4F4}"/>
              </a:ext>
            </a:extLst>
          </p:cNvPr>
          <p:cNvSpPr>
            <a:spLocks noGrp="1"/>
          </p:cNvSpPr>
          <p:nvPr/>
        </p:nvSpPr>
        <p:spPr>
          <a:xfrm>
            <a:off x="666750" y="1733550"/>
            <a:ext cx="361950" cy="361950"/>
          </a:xfrm>
          <a:prstGeom prst="roundRect">
            <a:avLst>
              <a:gd name="adj" fmla="val 21053"/>
            </a:avLst>
          </a:prstGeom>
          <a:solidFill>
            <a:srgbClr val="2667D8">
              <a:alpha val="8627"/>
            </a:srgbClr>
          </a:solidFill>
          <a:ln w="9525">
            <a:solidFill>
              <a:srgbClr val="2667D8"/>
            </a:solidFill>
          </a:ln>
        </p:spPr>
        <p:txBody>
          <a:bodyPr/>
          <a:lstStyle/>
          <a:p>
            <a:endParaRPr lang="en-US"/>
          </a:p>
        </p:txBody>
      </p:sp>
      <p:sp>
        <p:nvSpPr>
          <p:cNvPr id="7" name="Rectangle 6">
            <a:extLst>
              <a:ext uri="{FF2B5EF4-FFF2-40B4-BE49-F238E27FC236}">
                <a16:creationId xmlns:a16="http://schemas.microsoft.com/office/drawing/2014/main" id="{43B2F69E-3C59-4EEA-B976-2844DC825547}"/>
              </a:ext>
            </a:extLst>
          </p:cNvPr>
          <p:cNvSpPr>
            <a:spLocks noGrp="1"/>
          </p:cNvSpPr>
          <p:nvPr/>
        </p:nvSpPr>
        <p:spPr>
          <a:xfrm>
            <a:off x="1143000" y="1743075"/>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HKDF khóa con</a:t>
            </a:r>
          </a:p>
        </p:txBody>
      </p:sp>
      <p:sp>
        <p:nvSpPr>
          <p:cNvPr id="8" name="Rectangle 7">
            <a:extLst>
              <a:ext uri="{FF2B5EF4-FFF2-40B4-BE49-F238E27FC236}">
                <a16:creationId xmlns:a16="http://schemas.microsoft.com/office/drawing/2014/main" id="{4B7C9B36-C4E7-4DEB-955C-37EE64D0ED35}"/>
              </a:ext>
            </a:extLst>
          </p:cNvPr>
          <p:cNvSpPr>
            <a:spLocks noGrp="1"/>
          </p:cNvSpPr>
          <p:nvPr/>
        </p:nvSpPr>
        <p:spPr>
          <a:xfrm>
            <a:off x="1143000" y="1974914"/>
            <a:ext cx="1600200" cy="304800"/>
          </a:xfrm>
          <a:prstGeom prst="rect">
            <a:avLst/>
          </a:prstGeom>
          <a:noFill/>
          <a:ln w="0">
            <a:noFill/>
          </a:ln>
        </p:spPr>
        <p:txBody>
          <a:bodyPr>
            <a:normAutofit fontScale="88991"/>
          </a:bodyPr>
          <a:lstStyle/>
          <a:p>
            <a:pPr>
              <a:defRPr sz="1200">
                <a:solidFill>
                  <a:srgbClr val="5A6780"/>
                </a:solidFill>
                <a:latin typeface="Arial"/>
                <a:ea typeface="Arial"/>
                <a:cs typeface="Arial"/>
              </a:defRPr>
            </a:pPr>
            <a:r>
              <a:rPr sz="1200">
                <a:solidFill>
                  <a:srgbClr val="5A6780"/>
                </a:solidFill>
                <a:latin typeface="Arial"/>
                <a:ea typeface="Arial"/>
                <a:cs typeface="Arial"/>
              </a:rPr>
              <a:t>secret → 3 khóa tách vai trò</a:t>
            </a:r>
          </a:p>
        </p:txBody>
      </p:sp>
      <p:sp>
        <p:nvSpPr>
          <p:cNvPr id="9" name="Rectangle: Rounded Corners 8">
            <a:extLst>
              <a:ext uri="{FF2B5EF4-FFF2-40B4-BE49-F238E27FC236}">
                <a16:creationId xmlns:a16="http://schemas.microsoft.com/office/drawing/2014/main" id="{DB8A1AF0-ECF6-4618-8293-0409677BA1C2}"/>
              </a:ext>
            </a:extLst>
          </p:cNvPr>
          <p:cNvSpPr>
            <a:spLocks noGrp="1"/>
          </p:cNvSpPr>
          <p:nvPr/>
        </p:nvSpPr>
        <p:spPr>
          <a:xfrm>
            <a:off x="514350" y="2543175"/>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10" name="Rectangle: Rounded Corners 9">
            <a:extLst>
              <a:ext uri="{FF2B5EF4-FFF2-40B4-BE49-F238E27FC236}">
                <a16:creationId xmlns:a16="http://schemas.microsoft.com/office/drawing/2014/main" id="{D0B570E4-0675-4051-8516-A5202230F238}"/>
              </a:ext>
            </a:extLst>
          </p:cNvPr>
          <p:cNvSpPr>
            <a:spLocks noGrp="1"/>
          </p:cNvSpPr>
          <p:nvPr/>
        </p:nvSpPr>
        <p:spPr>
          <a:xfrm>
            <a:off x="666750" y="2695575"/>
            <a:ext cx="361950" cy="361950"/>
          </a:xfrm>
          <a:prstGeom prst="roundRect">
            <a:avLst>
              <a:gd name="adj" fmla="val 21053"/>
            </a:avLst>
          </a:prstGeom>
          <a:solidFill>
            <a:srgbClr val="16A4C7">
              <a:alpha val="8627"/>
            </a:srgbClr>
          </a:solidFill>
          <a:ln w="9525">
            <a:solidFill>
              <a:srgbClr val="16A4C7"/>
            </a:solidFill>
          </a:ln>
        </p:spPr>
        <p:txBody>
          <a:bodyPr/>
          <a:lstStyle/>
          <a:p>
            <a:endParaRPr lang="en-US"/>
          </a:p>
        </p:txBody>
      </p:sp>
      <p:sp>
        <p:nvSpPr>
          <p:cNvPr id="11" name="Rectangle 10">
            <a:extLst>
              <a:ext uri="{FF2B5EF4-FFF2-40B4-BE49-F238E27FC236}">
                <a16:creationId xmlns:a16="http://schemas.microsoft.com/office/drawing/2014/main" id="{CAC00F4F-91B7-4B3F-AA2E-DF79EF25073A}"/>
              </a:ext>
            </a:extLst>
          </p:cNvPr>
          <p:cNvSpPr>
            <a:spLocks noGrp="1"/>
          </p:cNvSpPr>
          <p:nvPr/>
        </p:nvSpPr>
        <p:spPr>
          <a:xfrm>
            <a:off x="1143000" y="2705100"/>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Khung v2</a:t>
            </a:r>
          </a:p>
        </p:txBody>
      </p:sp>
      <p:sp>
        <p:nvSpPr>
          <p:cNvPr id="12" name="Rectangle 11">
            <a:extLst>
              <a:ext uri="{FF2B5EF4-FFF2-40B4-BE49-F238E27FC236}">
                <a16:creationId xmlns:a16="http://schemas.microsoft.com/office/drawing/2014/main" id="{1B70B37E-392F-4A9F-9609-8D36F8DE18AA}"/>
              </a:ext>
            </a:extLst>
          </p:cNvPr>
          <p:cNvSpPr>
            <a:spLocks noGrp="1"/>
          </p:cNvSpPr>
          <p:nvPr/>
        </p:nvSpPr>
        <p:spPr>
          <a:xfrm>
            <a:off x="1143000" y="2905125"/>
            <a:ext cx="1600200" cy="304800"/>
          </a:xfrm>
          <a:prstGeom prst="rect">
            <a:avLst/>
          </a:prstGeom>
          <a:noFill/>
          <a:ln w="0">
            <a:noFill/>
          </a:ln>
        </p:spPr>
        <p:txBody>
          <a:bodyPr>
            <a:noAutofit/>
          </a:bodyPr>
          <a:lstStyle/>
          <a:p>
            <a:pPr>
              <a:defRPr sz="1200">
                <a:solidFill>
                  <a:srgbClr val="5A6780"/>
                </a:solidFill>
                <a:latin typeface="Arial"/>
                <a:ea typeface="Arial"/>
                <a:cs typeface="Arial"/>
              </a:defRPr>
            </a:pPr>
            <a:r>
              <a:rPr sz="1200">
                <a:solidFill>
                  <a:srgbClr val="5A6780"/>
                </a:solidFill>
                <a:latin typeface="Arial"/>
                <a:ea typeface="Arial"/>
                <a:cs typeface="Arial"/>
              </a:rPr>
              <a:t>version, độ dài, payload, tag</a:t>
            </a:r>
          </a:p>
        </p:txBody>
      </p:sp>
      <p:sp>
        <p:nvSpPr>
          <p:cNvPr id="13" name="Rectangle: Rounded Corners 12">
            <a:extLst>
              <a:ext uri="{FF2B5EF4-FFF2-40B4-BE49-F238E27FC236}">
                <a16:creationId xmlns:a16="http://schemas.microsoft.com/office/drawing/2014/main" id="{37FDAC00-8AD9-4506-84F8-F79CE4C49539}"/>
              </a:ext>
            </a:extLst>
          </p:cNvPr>
          <p:cNvSpPr>
            <a:spLocks noGrp="1"/>
          </p:cNvSpPr>
          <p:nvPr/>
        </p:nvSpPr>
        <p:spPr>
          <a:xfrm>
            <a:off x="514350" y="3505200"/>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14" name="Rectangle: Rounded Corners 13">
            <a:extLst>
              <a:ext uri="{FF2B5EF4-FFF2-40B4-BE49-F238E27FC236}">
                <a16:creationId xmlns:a16="http://schemas.microsoft.com/office/drawing/2014/main" id="{C6D276A1-3642-492F-9BF9-BF584766990D}"/>
              </a:ext>
            </a:extLst>
          </p:cNvPr>
          <p:cNvSpPr>
            <a:spLocks noGrp="1"/>
          </p:cNvSpPr>
          <p:nvPr/>
        </p:nvSpPr>
        <p:spPr>
          <a:xfrm>
            <a:off x="666750" y="3657600"/>
            <a:ext cx="361950" cy="361950"/>
          </a:xfrm>
          <a:prstGeom prst="roundRect">
            <a:avLst>
              <a:gd name="adj" fmla="val 21053"/>
            </a:avLst>
          </a:prstGeom>
          <a:solidFill>
            <a:srgbClr val="F2994A">
              <a:alpha val="8627"/>
            </a:srgbClr>
          </a:solidFill>
          <a:ln w="9525">
            <a:solidFill>
              <a:srgbClr val="F2994A"/>
            </a:solidFill>
          </a:ln>
        </p:spPr>
        <p:txBody>
          <a:bodyPr/>
          <a:lstStyle/>
          <a:p>
            <a:endParaRPr lang="en-US"/>
          </a:p>
        </p:txBody>
      </p:sp>
      <p:sp>
        <p:nvSpPr>
          <p:cNvPr id="15" name="Rectangle 14">
            <a:extLst>
              <a:ext uri="{FF2B5EF4-FFF2-40B4-BE49-F238E27FC236}">
                <a16:creationId xmlns:a16="http://schemas.microsoft.com/office/drawing/2014/main" id="{7867E2CB-35E0-4EB6-A0EC-3856DBEF627D}"/>
              </a:ext>
            </a:extLst>
          </p:cNvPr>
          <p:cNvSpPr>
            <a:spLocks noGrp="1"/>
          </p:cNvSpPr>
          <p:nvPr/>
        </p:nvSpPr>
        <p:spPr>
          <a:xfrm>
            <a:off x="1143000" y="3667125"/>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Làm trắng</a:t>
            </a:r>
          </a:p>
        </p:txBody>
      </p:sp>
      <p:sp>
        <p:nvSpPr>
          <p:cNvPr id="16" name="Rectangle 15">
            <a:extLst>
              <a:ext uri="{FF2B5EF4-FFF2-40B4-BE49-F238E27FC236}">
                <a16:creationId xmlns:a16="http://schemas.microsoft.com/office/drawing/2014/main" id="{E9D187FA-7A0E-43A2-93DB-FEF468B1C800}"/>
              </a:ext>
            </a:extLst>
          </p:cNvPr>
          <p:cNvSpPr>
            <a:spLocks noGrp="1"/>
          </p:cNvSpPr>
          <p:nvPr/>
        </p:nvSpPr>
        <p:spPr>
          <a:xfrm>
            <a:off x="1143000" y="3880485"/>
            <a:ext cx="1600200" cy="304800"/>
          </a:xfrm>
          <a:prstGeom prst="rect">
            <a:avLst/>
          </a:prstGeom>
          <a:noFill/>
          <a:ln w="0">
            <a:noFill/>
          </a:ln>
        </p:spPr>
        <p:txBody>
          <a:bodyPr>
            <a:noAutofit/>
          </a:bodyPr>
          <a:lstStyle/>
          <a:p>
            <a:pPr>
              <a:defRPr sz="1200">
                <a:solidFill>
                  <a:srgbClr val="5A6780"/>
                </a:solidFill>
                <a:latin typeface="Arial"/>
                <a:ea typeface="Arial"/>
                <a:cs typeface="Arial"/>
              </a:defRPr>
            </a:pPr>
            <a:r>
              <a:rPr sz="1200">
                <a:solidFill>
                  <a:srgbClr val="5A6780"/>
                </a:solidFill>
                <a:latin typeface="Arial"/>
                <a:ea typeface="Arial"/>
                <a:cs typeface="Arial"/>
              </a:rPr>
              <a:t>bit nhúng = f XOR keystream</a:t>
            </a:r>
          </a:p>
        </p:txBody>
      </p:sp>
      <p:sp>
        <p:nvSpPr>
          <p:cNvPr id="17" name="Rectangle: Rounded Corners 16">
            <a:extLst>
              <a:ext uri="{FF2B5EF4-FFF2-40B4-BE49-F238E27FC236}">
                <a16:creationId xmlns:a16="http://schemas.microsoft.com/office/drawing/2014/main" id="{37A90634-2E13-46D4-B568-B9E6203DC77B}"/>
              </a:ext>
            </a:extLst>
          </p:cNvPr>
          <p:cNvSpPr>
            <a:spLocks noGrp="1"/>
          </p:cNvSpPr>
          <p:nvPr/>
        </p:nvSpPr>
        <p:spPr>
          <a:xfrm>
            <a:off x="514350" y="4467225"/>
            <a:ext cx="2381250" cy="857250"/>
          </a:xfrm>
          <a:prstGeom prst="roundRect">
            <a:avLst>
              <a:gd name="adj" fmla="val 8889"/>
            </a:avLst>
          </a:prstGeom>
          <a:solidFill>
            <a:srgbClr val="FFFFFF"/>
          </a:solidFill>
          <a:ln w="9525">
            <a:solidFill>
              <a:srgbClr val="D6DFEB"/>
            </a:solidFill>
          </a:ln>
        </p:spPr>
        <p:txBody>
          <a:bodyPr/>
          <a:lstStyle/>
          <a:p>
            <a:endParaRPr lang="en-US"/>
          </a:p>
        </p:txBody>
      </p:sp>
      <p:sp>
        <p:nvSpPr>
          <p:cNvPr id="18" name="Rectangle: Rounded Corners 17">
            <a:extLst>
              <a:ext uri="{FF2B5EF4-FFF2-40B4-BE49-F238E27FC236}">
                <a16:creationId xmlns:a16="http://schemas.microsoft.com/office/drawing/2014/main" id="{6E344028-5453-4536-A1C9-347897C4C420}"/>
              </a:ext>
            </a:extLst>
          </p:cNvPr>
          <p:cNvSpPr>
            <a:spLocks noGrp="1"/>
          </p:cNvSpPr>
          <p:nvPr/>
        </p:nvSpPr>
        <p:spPr>
          <a:xfrm>
            <a:off x="666750" y="4619625"/>
            <a:ext cx="361950" cy="361950"/>
          </a:xfrm>
          <a:prstGeom prst="roundRect">
            <a:avLst>
              <a:gd name="adj" fmla="val 21053"/>
            </a:avLst>
          </a:prstGeom>
          <a:solidFill>
            <a:srgbClr val="25A36F">
              <a:alpha val="8627"/>
            </a:srgbClr>
          </a:solidFill>
          <a:ln w="9525">
            <a:solidFill>
              <a:srgbClr val="25A36F"/>
            </a:solidFill>
          </a:ln>
        </p:spPr>
        <p:txBody>
          <a:bodyPr/>
          <a:lstStyle/>
          <a:p>
            <a:endParaRPr lang="en-US"/>
          </a:p>
        </p:txBody>
      </p:sp>
      <p:sp>
        <p:nvSpPr>
          <p:cNvPr id="19" name="Rectangle 18">
            <a:extLst>
              <a:ext uri="{FF2B5EF4-FFF2-40B4-BE49-F238E27FC236}">
                <a16:creationId xmlns:a16="http://schemas.microsoft.com/office/drawing/2014/main" id="{713A12DE-F5B2-4A97-AF67-43699D59F951}"/>
              </a:ext>
            </a:extLst>
          </p:cNvPr>
          <p:cNvSpPr>
            <a:spLocks noGrp="1"/>
          </p:cNvSpPr>
          <p:nvPr/>
        </p:nvSpPr>
        <p:spPr>
          <a:xfrm>
            <a:off x="1143000" y="4629150"/>
            <a:ext cx="1600200" cy="266700"/>
          </a:xfrm>
          <a:prstGeom prst="rect">
            <a:avLst/>
          </a:prstGeom>
          <a:noFill/>
          <a:ln w="0">
            <a:noFill/>
          </a:ln>
        </p:spPr>
        <p:txBody>
          <a:bodyPr>
            <a:normAutofit fontScale="69697"/>
          </a:bodyPr>
          <a:lstStyle/>
          <a:p>
            <a:pPr>
              <a:defRPr sz="1650" b="1">
                <a:solidFill>
                  <a:srgbClr val="10213D"/>
                </a:solidFill>
                <a:latin typeface="Arial"/>
                <a:ea typeface="Arial"/>
                <a:cs typeface="Arial"/>
              </a:defRPr>
            </a:pPr>
            <a:r>
              <a:rPr sz="1650" b="1">
                <a:solidFill>
                  <a:srgbClr val="10213D"/>
                </a:solidFill>
                <a:latin typeface="Arial"/>
                <a:ea typeface="Arial"/>
                <a:cs typeface="Arial"/>
              </a:rPr>
              <a:t>Sai khóa</a:t>
            </a:r>
          </a:p>
        </p:txBody>
      </p:sp>
      <p:sp>
        <p:nvSpPr>
          <p:cNvPr id="20" name="Rectangle 19">
            <a:extLst>
              <a:ext uri="{FF2B5EF4-FFF2-40B4-BE49-F238E27FC236}">
                <a16:creationId xmlns:a16="http://schemas.microsoft.com/office/drawing/2014/main" id="{167D2489-3625-4B7A-B28E-A1AC6F434338}"/>
              </a:ext>
            </a:extLst>
          </p:cNvPr>
          <p:cNvSpPr>
            <a:spLocks noGrp="1"/>
          </p:cNvSpPr>
          <p:nvPr/>
        </p:nvSpPr>
        <p:spPr>
          <a:xfrm>
            <a:off x="1143000" y="4867275"/>
            <a:ext cx="1600200" cy="304800"/>
          </a:xfrm>
          <a:prstGeom prst="rect">
            <a:avLst/>
          </a:prstGeom>
          <a:noFill/>
          <a:ln w="0">
            <a:noFill/>
          </a:ln>
        </p:spPr>
        <p:txBody>
          <a:bodyPr>
            <a:noAutofit/>
          </a:bodyPr>
          <a:lstStyle/>
          <a:p>
            <a:pPr>
              <a:defRPr sz="1200">
                <a:solidFill>
                  <a:srgbClr val="5A6780"/>
                </a:solidFill>
                <a:latin typeface="Arial"/>
                <a:ea typeface="Arial"/>
                <a:cs typeface="Arial"/>
              </a:defRPr>
            </a:pPr>
            <a:r>
              <a:rPr sz="1200">
                <a:solidFill>
                  <a:srgbClr val="5A6780"/>
                </a:solidFill>
                <a:latin typeface="Arial"/>
                <a:ea typeface="Arial"/>
                <a:cs typeface="Arial"/>
              </a:rPr>
              <a:t>version ngẫu nhiên → từ chối</a:t>
            </a:r>
          </a:p>
        </p:txBody>
      </p:sp>
      <p:sp>
        <p:nvSpPr>
          <p:cNvPr id="25" name="Diagram Secret"/>
          <p:cNvSpPr/>
          <p:nvPr/>
        </p:nvSpPr>
        <p:spPr>
          <a:xfrm>
            <a:off x="3246120" y="1874519"/>
            <a:ext cx="1325880" cy="411480"/>
          </a:xfrm>
          <a:prstGeom prst="roundRect">
            <a:avLst>
              <a:gd name="adj" fmla="val 20000"/>
            </a:avLst>
          </a:prstGeom>
          <a:solidFill>
            <a:srgbClr val="10213D"/>
          </a:solidFill>
          <a:ln w="0">
            <a:noFill/>
          </a:ln>
        </p:spPr>
        <p:txBody>
          <a:bodyPr wrap="square" lIns="64008" tIns="27432" rIns="64008" bIns="27432" anchor="ctr" rtlCol="0">
            <a:noAutofit/>
          </a:bodyPr>
          <a:lstStyle/>
          <a:p>
            <a:pPr algn="ctr"/>
            <a:r>
              <a:rPr lang="vi-VN" sz="1200" b="1">
                <a:solidFill>
                  <a:srgbClr val="FFFFFF"/>
                </a:solidFill>
                <a:latin typeface="Arial"/>
                <a:ea typeface="Arial"/>
                <a:cs typeface="Arial"/>
              </a:rPr>
              <a:t>secret 32 B</a:t>
            </a:r>
          </a:p>
        </p:txBody>
      </p:sp>
      <p:sp>
        <p:nvSpPr>
          <p:cNvPr id="26" name="Diagram HKDF"/>
          <p:cNvSpPr/>
          <p:nvPr/>
        </p:nvSpPr>
        <p:spPr>
          <a:xfrm>
            <a:off x="4617720" y="1874519"/>
            <a:ext cx="1645920" cy="411480"/>
          </a:xfrm>
          <a:prstGeom prst="rect">
            <a:avLst/>
          </a:prstGeom>
          <a:noFill/>
          <a:ln w="0">
            <a:noFill/>
          </a:ln>
        </p:spPr>
        <p:txBody>
          <a:bodyPr wrap="square" lIns="64008" tIns="27432" rIns="64008" bIns="27432" anchor="ctr" rtlCol="0">
            <a:noAutofit/>
          </a:bodyPr>
          <a:lstStyle/>
          <a:p>
            <a:pPr algn="ctr"/>
            <a:r>
              <a:rPr lang="vi-VN" sz="1100" b="1">
                <a:solidFill>
                  <a:srgbClr val="5A6780"/>
                </a:solidFill>
                <a:latin typeface="Arial"/>
                <a:ea typeface="Arial"/>
                <a:cs typeface="Arial"/>
              </a:rPr>
              <a:t>HKDF-SHA256 →</a:t>
            </a:r>
          </a:p>
        </p:txBody>
      </p:sp>
      <p:sp>
        <p:nvSpPr>
          <p:cNvPr id="27" name="Diagram Key 1"/>
          <p:cNvSpPr/>
          <p:nvPr/>
        </p:nvSpPr>
        <p:spPr>
          <a:xfrm>
            <a:off x="6309360" y="1517904"/>
            <a:ext cx="4937760" cy="329184"/>
          </a:xfrm>
          <a:prstGeom prst="roundRect">
            <a:avLst>
              <a:gd name="adj" fmla="val 30000"/>
            </a:avLst>
          </a:prstGeom>
          <a:solidFill>
            <a:srgbClr val="7555D9">
              <a:alpha val="12000"/>
            </a:srgbClr>
          </a:solidFill>
          <a:ln w="12700">
            <a:solidFill>
              <a:srgbClr val="7555D9"/>
            </a:solidFill>
          </a:ln>
        </p:spPr>
        <p:txBody>
          <a:bodyPr wrap="square" lIns="64008" tIns="27432" rIns="64008" bIns="27432" anchor="ctr" rtlCol="0">
            <a:noAutofit/>
          </a:bodyPr>
          <a:lstStyle/>
          <a:p>
            <a:pPr algn="l"/>
            <a:r>
              <a:rPr lang="vi-VN" sz="1100" b="1">
                <a:solidFill>
                  <a:srgbClr val="10213D"/>
                </a:solidFill>
                <a:latin typeface="Arial"/>
                <a:ea typeface="Arial"/>
                <a:cs typeface="Arial"/>
              </a:rPr>
              <a:t>schedule_key</a:t>
            </a:r>
            <a:r>
              <a:rPr lang="vi-VN" sz="1100">
                <a:solidFill>
                  <a:srgbClr val="5A6780"/>
                </a:solidFill>
                <a:latin typeface="Arial"/>
                <a:ea typeface="Arial"/>
                <a:cs typeface="Arial"/>
              </a:rPr>
              <a:t xml:space="preserve"> → lịch: chọn vị trí dấu T1 trong mỗi IDR</a:t>
            </a:r>
          </a:p>
        </p:txBody>
      </p:sp>
      <p:sp>
        <p:nvSpPr>
          <p:cNvPr id="28" name="Diagram Key 2"/>
          <p:cNvSpPr/>
          <p:nvPr/>
        </p:nvSpPr>
        <p:spPr>
          <a:xfrm>
            <a:off x="6309360" y="1911095"/>
            <a:ext cx="4937760" cy="329184"/>
          </a:xfrm>
          <a:prstGeom prst="roundRect">
            <a:avLst>
              <a:gd name="adj" fmla="val 30000"/>
            </a:avLst>
          </a:prstGeom>
          <a:solidFill>
            <a:srgbClr val="25A36F">
              <a:alpha val="12000"/>
            </a:srgbClr>
          </a:solidFill>
          <a:ln w="12700">
            <a:solidFill>
              <a:srgbClr val="25A36F"/>
            </a:solidFill>
          </a:ln>
        </p:spPr>
        <p:txBody>
          <a:bodyPr wrap="square" lIns="64008" tIns="27432" rIns="64008" bIns="27432" anchor="ctr" rtlCol="0">
            <a:noAutofit/>
          </a:bodyPr>
          <a:lstStyle/>
          <a:p>
            <a:pPr algn="l"/>
            <a:r>
              <a:rPr lang="vi-VN" sz="1100" b="1">
                <a:solidFill>
                  <a:srgbClr val="10213D"/>
                </a:solidFill>
                <a:latin typeface="Arial"/>
                <a:ea typeface="Arial"/>
                <a:cs typeface="Arial"/>
              </a:rPr>
              <a:t>frame_key</a:t>
            </a:r>
            <a:r>
              <a:rPr lang="vi-VN" sz="1100">
                <a:solidFill>
                  <a:srgbClr val="5A6780"/>
                </a:solidFill>
                <a:latin typeface="Arial"/>
                <a:ea typeface="Arial"/>
                <a:cs typeface="Arial"/>
              </a:rPr>
              <a:t xml:space="preserve"> → tag HMAC-SHA256 16 byte của khung</a:t>
            </a:r>
          </a:p>
        </p:txBody>
      </p:sp>
      <p:sp>
        <p:nvSpPr>
          <p:cNvPr id="29" name="Diagram Key 3"/>
          <p:cNvSpPr/>
          <p:nvPr/>
        </p:nvSpPr>
        <p:spPr>
          <a:xfrm>
            <a:off x="6309360" y="2304288"/>
            <a:ext cx="4937760" cy="329184"/>
          </a:xfrm>
          <a:prstGeom prst="roundRect">
            <a:avLst>
              <a:gd name="adj" fmla="val 30000"/>
            </a:avLst>
          </a:prstGeom>
          <a:solidFill>
            <a:srgbClr val="F2994A">
              <a:alpha val="12000"/>
            </a:srgbClr>
          </a:solidFill>
          <a:ln w="12700">
            <a:solidFill>
              <a:srgbClr val="F2994A"/>
            </a:solidFill>
          </a:ln>
        </p:spPr>
        <p:txBody>
          <a:bodyPr wrap="square" lIns="64008" tIns="27432" rIns="64008" bIns="27432" anchor="ctr" rtlCol="0">
            <a:noAutofit/>
          </a:bodyPr>
          <a:lstStyle/>
          <a:p>
            <a:pPr algn="l"/>
            <a:r>
              <a:rPr lang="vi-VN" sz="1100" b="1">
                <a:solidFill>
                  <a:srgbClr val="10213D"/>
                </a:solidFill>
                <a:latin typeface="Arial"/>
                <a:ea typeface="Arial"/>
                <a:cs typeface="Arial"/>
              </a:rPr>
              <a:t>whitening_key</a:t>
            </a:r>
            <a:r>
              <a:rPr lang="vi-VN" sz="1100">
                <a:solidFill>
                  <a:srgbClr val="5A6780"/>
                </a:solidFill>
                <a:latin typeface="Arial"/>
                <a:ea typeface="Arial"/>
                <a:cs typeface="Arial"/>
              </a:rPr>
              <a:t xml:space="preserve"> → keystream để làm trắng bit khung</a:t>
            </a:r>
          </a:p>
        </p:txBody>
      </p:sp>
      <p:sp>
        <p:nvSpPr>
          <p:cNvPr id="30" name="Diagram Frame Label"/>
          <p:cNvSpPr/>
          <p:nvPr/>
        </p:nvSpPr>
        <p:spPr>
          <a:xfrm>
            <a:off x="3246120" y="2798064"/>
            <a:ext cx="8001000" cy="256032"/>
          </a:xfrm>
          <a:prstGeom prst="rect">
            <a:avLst/>
          </a:prstGeom>
          <a:noFill/>
          <a:ln w="0">
            <a:noFill/>
          </a:ln>
        </p:spPr>
        <p:txBody>
          <a:bodyPr wrap="square" lIns="64008" tIns="27432" rIns="64008" bIns="27432" anchor="ctr" rtlCol="0">
            <a:noAutofit/>
          </a:bodyPr>
          <a:lstStyle/>
          <a:p>
            <a:pPr algn="l"/>
            <a:r>
              <a:rPr lang="vi-VN" sz="1050" b="1">
                <a:solidFill>
                  <a:srgbClr val="5A6780"/>
                </a:solidFill>
                <a:latin typeface="Arial"/>
                <a:ea typeface="Arial"/>
                <a:cs typeface="Arial"/>
              </a:rPr>
              <a:t>Khung v2 (f)  =  1 + 2 + payload + 16 byte</a:t>
            </a:r>
          </a:p>
        </p:txBody>
      </p:sp>
      <p:sp>
        <p:nvSpPr>
          <p:cNvPr id="31" name="Diagram Field 1"/>
          <p:cNvSpPr/>
          <p:nvPr/>
        </p:nvSpPr>
        <p:spPr>
          <a:xfrm>
            <a:off x="3246120" y="3072384"/>
            <a:ext cx="1005840" cy="530352"/>
          </a:xfrm>
          <a:prstGeom prst="rect">
            <a:avLst/>
          </a:prstGeom>
          <a:solidFill>
            <a:srgbClr val="7555D9">
              <a:alpha val="16000"/>
            </a:srgbClr>
          </a:solidFill>
          <a:ln w="12700">
            <a:solidFill>
              <a:srgbClr val="7555D9"/>
            </a:solidFill>
          </a:ln>
        </p:spPr>
        <p:txBody>
          <a:bodyPr wrap="square" lIns="64008" tIns="27432" rIns="64008" bIns="27432" anchor="ctr" rtlCol="0">
            <a:noAutofit/>
          </a:bodyPr>
          <a:lstStyle/>
          <a:p>
            <a:pPr algn="ctr"/>
            <a:r>
              <a:rPr lang="vi-VN" sz="1150" b="1">
                <a:solidFill>
                  <a:srgbClr val="10213D"/>
                </a:solidFill>
                <a:latin typeface="Arial"/>
                <a:ea typeface="Arial"/>
                <a:cs typeface="Arial"/>
              </a:rPr>
              <a:t>0x02</a:t>
            </a:r>
          </a:p>
          <a:p>
            <a:pPr algn="ctr"/>
            <a:r>
              <a:rPr lang="vi-VN" sz="950">
                <a:solidFill>
                  <a:srgbClr val="5A6780"/>
                </a:solidFill>
                <a:latin typeface="Arial"/>
                <a:ea typeface="Arial"/>
                <a:cs typeface="Arial"/>
              </a:rPr>
              <a:t>version</a:t>
            </a:r>
          </a:p>
        </p:txBody>
      </p:sp>
      <p:sp>
        <p:nvSpPr>
          <p:cNvPr id="32" name="Diagram Field 2"/>
          <p:cNvSpPr/>
          <p:nvPr/>
        </p:nvSpPr>
        <p:spPr>
          <a:xfrm>
            <a:off x="4251960" y="3072384"/>
            <a:ext cx="960120" cy="530352"/>
          </a:xfrm>
          <a:prstGeom prst="rect">
            <a:avLst/>
          </a:prstGeom>
          <a:solidFill>
            <a:srgbClr val="16A4C7">
              <a:alpha val="16000"/>
            </a:srgbClr>
          </a:solidFill>
          <a:ln w="12700">
            <a:solidFill>
              <a:srgbClr val="16A4C7"/>
            </a:solidFill>
          </a:ln>
        </p:spPr>
        <p:txBody>
          <a:bodyPr wrap="square" lIns="64008" tIns="27432" rIns="64008" bIns="27432" anchor="ctr" rtlCol="0">
            <a:noAutofit/>
          </a:bodyPr>
          <a:lstStyle/>
          <a:p>
            <a:pPr algn="ctr"/>
            <a:r>
              <a:rPr lang="vi-VN" sz="1150" b="1">
                <a:solidFill>
                  <a:srgbClr val="10213D"/>
                </a:solidFill>
                <a:latin typeface="Arial"/>
                <a:ea typeface="Arial"/>
                <a:cs typeface="Arial"/>
              </a:rPr>
              <a:t>len</a:t>
            </a:r>
          </a:p>
          <a:p>
            <a:pPr algn="ctr"/>
            <a:r>
              <a:rPr lang="vi-VN" sz="950">
                <a:solidFill>
                  <a:srgbClr val="5A6780"/>
                </a:solidFill>
                <a:latin typeface="Arial"/>
                <a:ea typeface="Arial"/>
                <a:cs typeface="Arial"/>
              </a:rPr>
              <a:t>2 byte</a:t>
            </a:r>
          </a:p>
        </p:txBody>
      </p:sp>
      <p:sp>
        <p:nvSpPr>
          <p:cNvPr id="33" name="Diagram Field 3"/>
          <p:cNvSpPr/>
          <p:nvPr/>
        </p:nvSpPr>
        <p:spPr>
          <a:xfrm>
            <a:off x="5212080" y="3072384"/>
            <a:ext cx="4709160" cy="530352"/>
          </a:xfrm>
          <a:prstGeom prst="rect">
            <a:avLst/>
          </a:prstGeom>
          <a:solidFill>
            <a:srgbClr val="F2994A">
              <a:alpha val="16000"/>
            </a:srgbClr>
          </a:solidFill>
          <a:ln w="12700">
            <a:solidFill>
              <a:srgbClr val="F2994A"/>
            </a:solidFill>
          </a:ln>
        </p:spPr>
        <p:txBody>
          <a:bodyPr wrap="square" lIns="64008" tIns="27432" rIns="64008" bIns="27432" anchor="ctr" rtlCol="0">
            <a:noAutofit/>
          </a:bodyPr>
          <a:lstStyle/>
          <a:p>
            <a:pPr algn="ctr"/>
            <a:r>
              <a:rPr lang="vi-VN" sz="1150" b="1">
                <a:solidFill>
                  <a:srgbClr val="10213D"/>
                </a:solidFill>
                <a:latin typeface="Arial"/>
                <a:ea typeface="Arial"/>
                <a:cs typeface="Arial"/>
              </a:rPr>
              <a:t>payload</a:t>
            </a:r>
          </a:p>
          <a:p>
            <a:pPr algn="ctr"/>
            <a:r>
              <a:rPr lang="vi-VN" sz="950">
                <a:solidFill>
                  <a:srgbClr val="5A6780"/>
                </a:solidFill>
                <a:latin typeface="Arial"/>
                <a:ea typeface="Arial"/>
                <a:cs typeface="Arial"/>
              </a:rPr>
              <a:t>[len 4B][message][proof 129 B]</a:t>
            </a:r>
          </a:p>
        </p:txBody>
      </p:sp>
      <p:sp>
        <p:nvSpPr>
          <p:cNvPr id="34" name="Diagram Field 4"/>
          <p:cNvSpPr/>
          <p:nvPr/>
        </p:nvSpPr>
        <p:spPr>
          <a:xfrm>
            <a:off x="9921240" y="3072384"/>
            <a:ext cx="1325880" cy="530352"/>
          </a:xfrm>
          <a:prstGeom prst="rect">
            <a:avLst/>
          </a:prstGeom>
          <a:solidFill>
            <a:srgbClr val="25A36F">
              <a:alpha val="16000"/>
            </a:srgbClr>
          </a:solidFill>
          <a:ln w="12700">
            <a:solidFill>
              <a:srgbClr val="25A36F"/>
            </a:solidFill>
          </a:ln>
        </p:spPr>
        <p:txBody>
          <a:bodyPr wrap="square" lIns="64008" tIns="27432" rIns="64008" bIns="27432" anchor="ctr" rtlCol="0">
            <a:noAutofit/>
          </a:bodyPr>
          <a:lstStyle/>
          <a:p>
            <a:pPr algn="ctr"/>
            <a:r>
              <a:rPr lang="vi-VN" sz="1150" b="1">
                <a:solidFill>
                  <a:srgbClr val="10213D"/>
                </a:solidFill>
                <a:latin typeface="Arial"/>
                <a:ea typeface="Arial"/>
                <a:cs typeface="Arial"/>
              </a:rPr>
              <a:t>tag</a:t>
            </a:r>
          </a:p>
          <a:p>
            <a:pPr algn="ctr"/>
            <a:r>
              <a:rPr lang="vi-VN" sz="950">
                <a:solidFill>
                  <a:srgbClr val="5A6780"/>
                </a:solidFill>
                <a:latin typeface="Arial"/>
                <a:ea typeface="Arial"/>
                <a:cs typeface="Arial"/>
              </a:rPr>
              <a:t>16 byte</a:t>
            </a:r>
          </a:p>
        </p:txBody>
      </p:sp>
      <p:sp>
        <p:nvSpPr>
          <p:cNvPr id="35" name="Diagram Keystream"/>
          <p:cNvSpPr/>
          <p:nvPr/>
        </p:nvSpPr>
        <p:spPr>
          <a:xfrm>
            <a:off x="3246120" y="3749039"/>
            <a:ext cx="8001000" cy="384048"/>
          </a:xfrm>
          <a:prstGeom prst="rect">
            <a:avLst/>
          </a:prstGeom>
          <a:solidFill>
            <a:srgbClr val="F3F5F9"/>
          </a:solidFill>
          <a:ln w="12700">
            <a:solidFill>
              <a:srgbClr val="8B96A8"/>
            </a:solidFill>
            <a:prstDash val="dash"/>
          </a:ln>
        </p:spPr>
        <p:txBody>
          <a:bodyPr wrap="square" lIns="64008" tIns="27432" rIns="64008" bIns="27432" anchor="ctr" rtlCol="0">
            <a:noAutofit/>
          </a:bodyPr>
          <a:lstStyle/>
          <a:p>
            <a:pPr algn="ctr"/>
            <a:r>
              <a:rPr lang="vi-VN" sz="1150" b="1">
                <a:solidFill>
                  <a:srgbClr val="10213D"/>
                </a:solidFill>
                <a:latin typeface="Arial"/>
                <a:ea typeface="Arial"/>
                <a:cs typeface="Arial"/>
              </a:rPr>
              <a:t xml:space="preserve">XOR  </a:t>
            </a:r>
            <a:r>
              <a:rPr lang="vi-VN" sz="1050">
                <a:solidFill>
                  <a:srgbClr val="5A6780"/>
                </a:solidFill>
                <a:latin typeface="Arial"/>
                <a:ea typeface="Arial"/>
                <a:cs typeface="Arial"/>
              </a:rPr>
              <a:t>keystream k = HMAC(whitening_key, 0) ‖ HMAC(whitening_key, 1) ‖ …</a:t>
            </a:r>
          </a:p>
        </p:txBody>
      </p:sp>
      <p:sp>
        <p:nvSpPr>
          <p:cNvPr id="36" name="Diagram Embedded"/>
          <p:cNvSpPr/>
          <p:nvPr/>
        </p:nvSpPr>
        <p:spPr>
          <a:xfrm>
            <a:off x="3246120" y="4261104"/>
            <a:ext cx="8001000" cy="411480"/>
          </a:xfrm>
          <a:prstGeom prst="rect">
            <a:avLst/>
          </a:prstGeom>
          <a:solidFill>
            <a:srgbClr val="10213D"/>
          </a:solidFill>
          <a:ln w="0">
            <a:noFill/>
          </a:ln>
        </p:spPr>
        <p:txBody>
          <a:bodyPr wrap="square" lIns="64008" tIns="27432" rIns="64008" bIns="27432" anchor="ctr" rtlCol="0">
            <a:noAutofit/>
          </a:bodyPr>
          <a:lstStyle/>
          <a:p>
            <a:pPr algn="ctr"/>
            <a:r>
              <a:rPr lang="vi-VN" sz="1100" b="1">
                <a:solidFill>
                  <a:srgbClr val="FFFFFF"/>
                </a:solidFill>
                <a:latin typeface="Arial"/>
                <a:ea typeface="Arial"/>
                <a:cs typeface="Arial"/>
              </a:rPr>
              <a:t>=  bit nhúng e (trông như ngẫu nhiên)  →  lịch HMAC từng IDR  →  dấu T1</a:t>
            </a:r>
          </a:p>
        </p:txBody>
      </p:sp>
      <p:sp>
        <p:nvSpPr>
          <p:cNvPr id="37" name="Diagram Reject"/>
          <p:cNvSpPr/>
          <p:nvPr/>
        </p:nvSpPr>
        <p:spPr>
          <a:xfrm>
            <a:off x="3246120" y="4818888"/>
            <a:ext cx="8001000" cy="457200"/>
          </a:xfrm>
          <a:prstGeom prst="roundRect">
            <a:avLst>
              <a:gd name="adj" fmla="val 14000"/>
            </a:avLst>
          </a:prstGeom>
          <a:solidFill>
            <a:srgbClr val="FFF0F0"/>
          </a:solidFill>
          <a:ln w="12700">
            <a:solidFill>
              <a:srgbClr val="F1B6B6"/>
            </a:solidFill>
          </a:ln>
        </p:spPr>
        <p:txBody>
          <a:bodyPr wrap="square" lIns="64008" tIns="27432" rIns="64008" bIns="27432" anchor="ctr" rtlCol="0">
            <a:noAutofit/>
          </a:bodyPr>
          <a:lstStyle/>
          <a:p>
            <a:pPr algn="ctr"/>
            <a:r>
              <a:rPr lang="vi-VN" sz="1050" b="1">
                <a:solidFill>
                  <a:srgbClr val="A92B2B"/>
                </a:solidFill>
                <a:latin typeface="Arial"/>
                <a:ea typeface="Arial"/>
                <a:cs typeface="Arial"/>
              </a:rPr>
              <a:t>Bên nhận: bỏ làm trắng → version ≠ 0x02, độ dài vượt giới hạn hoặc tag sai ⇒ từ chối (sai khóa, bit bị sửa)</a:t>
            </a:r>
          </a:p>
        </p:txBody>
      </p:sp>
      <p:sp>
        <p:nvSpPr>
          <p:cNvPr id="21" name="Rectangle 20">
            <a:extLst>
              <a:ext uri="{FF2B5EF4-FFF2-40B4-BE49-F238E27FC236}">
                <a16:creationId xmlns:a16="http://schemas.microsoft.com/office/drawing/2014/main" id="{455B5207-EF46-44A1-80D7-5DF2500D5CA5}"/>
              </a:ext>
            </a:extLst>
          </p:cNvPr>
          <p:cNvSpPr>
            <a:spLocks noGrp="1"/>
          </p:cNvSpPr>
          <p:nvPr/>
        </p:nvSpPr>
        <p:spPr>
          <a:xfrm>
            <a:off x="3048000" y="5600700"/>
            <a:ext cx="8324850" cy="228600"/>
          </a:xfrm>
          <a:prstGeom prst="rect">
            <a:avLst/>
          </a:prstGeom>
          <a:noFill/>
          <a:ln w="0">
            <a:noFill/>
          </a:ln>
        </p:spPr>
        <p:txBody>
          <a:bodyPr>
            <a:normAutofit fontScale="70588"/>
          </a:bodyPr>
          <a:lstStyle/>
          <a:p>
            <a:pPr>
              <a:defRPr sz="1275" i="1">
                <a:solidFill>
                  <a:srgbClr val="63728A"/>
                </a:solidFill>
                <a:latin typeface="Arial"/>
                <a:ea typeface="Arial"/>
                <a:cs typeface="Arial"/>
              </a:defRPr>
            </a:pPr>
            <a:r>
              <a:rPr sz="1275" i="1">
                <a:solidFill>
                  <a:srgbClr val="63728A"/>
                </a:solidFill>
                <a:latin typeface="Arial"/>
                <a:ea typeface="Arial"/>
                <a:cs typeface="Arial"/>
              </a:rPr>
              <a:t>Hình 13 — tag = HMAC-SHA256(frame_key, version ‖ len ‖ payload)[0:16]; bên nhận bỏ làm trắng, kiểm 0x02, độ dài, rồi so tag hằng thời gian.</a:t>
            </a:r>
          </a:p>
        </p:txBody>
      </p:sp>
      <p:sp>
        <p:nvSpPr>
          <p:cNvPr id="22" name="Rectangle 21">
            <a:extLst>
              <a:ext uri="{FF2B5EF4-FFF2-40B4-BE49-F238E27FC236}">
                <a16:creationId xmlns:a16="http://schemas.microsoft.com/office/drawing/2014/main" id="{4DD149A6-5F52-4CE1-AF83-C47E436A9880}"/>
              </a:ext>
            </a:extLst>
          </p:cNvPr>
          <p:cNvSpPr>
            <a:spLocks noGrp="1"/>
          </p:cNvSpPr>
          <p:nvPr/>
        </p:nvSpPr>
        <p:spPr>
          <a:xfrm>
            <a:off x="400050" y="6486525"/>
            <a:ext cx="3048000" cy="133350"/>
          </a:xfrm>
          <a:prstGeom prst="rect">
            <a:avLst/>
          </a:prstGeom>
          <a:noFill/>
          <a:ln w="0">
            <a:noFill/>
          </a:ln>
        </p:spPr>
        <p:txBody>
          <a:bodyPr>
            <a:normAutofit fontScale="30556"/>
          </a:bodyPr>
          <a:lstStyle/>
          <a:p>
            <a:pPr>
              <a:defRPr sz="900">
                <a:solidFill>
                  <a:srgbClr val="8B96A8"/>
                </a:solidFill>
                <a:latin typeface="Arial"/>
                <a:ea typeface="Arial"/>
                <a:cs typeface="Arial"/>
              </a:defRPr>
            </a:pPr>
            <a:r>
              <a:rPr sz="900">
                <a:solidFill>
                  <a:srgbClr val="8B96A8"/>
                </a:solidFill>
                <a:latin typeface="Arial"/>
                <a:ea typeface="Arial"/>
                <a:cs typeface="Arial"/>
              </a:rPr>
              <a:t>ZK-SNARK × Video Steganography</a:t>
            </a:r>
          </a:p>
        </p:txBody>
      </p:sp>
      <p:sp>
        <p:nvSpPr>
          <p:cNvPr id="23" name="Rectangle 22">
            <a:extLst>
              <a:ext uri="{FF2B5EF4-FFF2-40B4-BE49-F238E27FC236}">
                <a16:creationId xmlns:a16="http://schemas.microsoft.com/office/drawing/2014/main" id="{BC750E75-463A-41F5-BE36-09A70F8A4284}"/>
              </a:ext>
            </a:extLst>
          </p:cNvPr>
          <p:cNvSpPr>
            <a:spLocks noGrp="1"/>
          </p:cNvSpPr>
          <p:nvPr/>
        </p:nvSpPr>
        <p:spPr>
          <a:xfrm>
            <a:off x="11287125" y="6457950"/>
            <a:ext cx="476250" cy="133350"/>
          </a:xfrm>
          <a:prstGeom prst="rect">
            <a:avLst/>
          </a:prstGeom>
          <a:noFill/>
          <a:ln w="0">
            <a:noFill/>
          </a:ln>
        </p:spPr>
        <p:txBody>
          <a:bodyPr>
            <a:normAutofit fontScale="30556"/>
          </a:bodyPr>
          <a:lstStyle/>
          <a:p>
            <a:pPr>
              <a:defRPr sz="900" b="1">
                <a:solidFill>
                  <a:srgbClr val="8B96A8"/>
                </a:solidFill>
                <a:latin typeface="Arial"/>
                <a:ea typeface="Arial"/>
                <a:cs typeface="Arial"/>
              </a:defRPr>
            </a:pPr>
            <a:r>
              <a:rPr sz="900" b="1">
                <a:solidFill>
                  <a:srgbClr val="8B96A8"/>
                </a:solidFill>
                <a:latin typeface="Arial"/>
                <a:ea typeface="Arial"/>
                <a:cs typeface="Arial"/>
              </a:rPr>
              <a:t>13</a:t>
            </a:r>
          </a:p>
        </p:txBody>
      </p:sp>
    </p:spTree>
    <p:extLst>
      <p:ext uri="{BB962C8B-B14F-4D97-AF65-F5344CB8AC3E}">
        <p14:creationId xmlns:p14="http://schemas.microsoft.com/office/powerpoint/2010/main" val="164553993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4153</Words>
  <Application>Microsoft Office PowerPoint</Application>
  <DocSecurity>0</DocSecurity>
  <PresentationFormat>Widescreen</PresentationFormat>
  <Paragraphs>347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Nguyen An Khanh 20224439</cp:lastModifiedBy>
  <cp:revision>1</cp:revision>
  <dcterms:created xsi:type="dcterms:W3CDTF">2026-09-25T20:40:39Z</dcterms:created>
  <dcterms:modified xsi:type="dcterms:W3CDTF">2026-09-29T00:36:48Z</dcterms:modified>
</cp:coreProperties>
</file>